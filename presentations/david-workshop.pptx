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0:00-0:45 (workshop is 30 min total; plan below adds to about 30).</a:t>
            </a:r>
          </a:p>
          <a:p>
            <a:r>
              <a:t>Say what the room will get: sound first, then how it was built. Keep the intro short, don't read the slide.</a:t>
            </a:r>
          </a:p>
          <a:p>
            <a:r>
              <a:t>DEMO: have the KV260 powered, FC25 plugged in, and the bench audio on before the slide comes up.</a:t>
            </a:r>
          </a:p>
          <a:p>
            <a:r>
              <a:t>NOTE: title is still the working one. Final public title is not locked.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0:45-3:30.</a:t>
            </a:r>
          </a:p>
          <a:p>
            <a:r>
              <a:t>LIVE: play single notes, then a chord, then turn the four knobs (CC 93, 91, 71, 74). Let people hear it for a bit before talking.</a:t>
            </a:r>
          </a:p>
          <a:p>
            <a:r>
              <a:t>BACKUP: if no sound within about 15 seconds, say 'let me switch to the recording' and play the backup clip (embed it on this slide, or open it from the take-home folder). Don't debug live.</a:t>
            </a:r>
          </a:p>
          <a:p>
            <a:r>
              <a:t>RESUME: after either path say 'so that is what we're going to be taking apart' and move on.</a:t>
            </a:r>
          </a:p>
          <a:p>
            <a:r>
              <a:t>Success condition (visible): audible notes, and the regread terminal showing overrun count 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3:30-5:30.</a:t>
            </a:r>
          </a:p>
          <a:p>
            <a:r>
              <a:t>Walk the diagram left to right once. Linux side first (ALSA -&gt; C process), then the PL side (registers -&gt; HLS -&gt; I2S).</a:t>
            </a:r>
          </a:p>
          <a:p>
            <a:r>
              <a:t>Point: Linux never makes audio samples. It only keeps the state (which voices, which knob values). The PL makes one sample at a time at 48 kHz.</a:t>
            </a:r>
          </a:p>
          <a:p>
            <a:r>
              <a:t>Detail if asked: control loop runs every 3 ms; register page is 4 KiB; 'commit' register publishes a whole snapshot at once so the DSP never sees half an update.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5:30-8:00.</a:t>
            </a:r>
          </a:p>
          <a:p>
            <a:r>
              <a:t>Keep to three. 1) real-time: a new audio sample is needed every ~20.8 microseconds. 2) it is Linux AND FPGA together, so state has to cross between them safely. 3) it has to fit: it's a big design on the K26.</a:t>
            </a:r>
          </a:p>
          <a:p>
            <a:r>
              <a:t>Also mention the audio clock is different from the main PL clock, so audio samples cross a clock boundary (CDC). Don't go deep unless someone 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8:00-9:30.</a:t>
            </a:r>
          </a:p>
          <a:p>
            <a:r>
              <a:t>Be honest about scope: the synth itself is frozen and finished. What attendees reproduce is the METHOD (short spec, instruct Ross, inspect, build, test, revise), applied to a piece of the design. Take-home pack has the full spec, prompts and setup.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9:30-11:00. One slide only, don't linger.</a:t>
            </a:r>
          </a:p>
          <a:p>
            <a:r>
              <a:t>The KV260 is the starter kit for the K26 SOM. Numbers for K24 / Kria AI SOM are deliberately not on the slide: VERIFY official specs and names before release, as per Joe's spec.</a:t>
            </a:r>
          </a:p>
          <a:p>
            <a:r>
              <a:t>Short version: needed a big programmable fabric, Linux, and a Pmod header for the DAC. K24 is smaller, and the AI SOM is a different kind of device (CPU/GPU/NPU, no PL fabric for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11:00-12:30.</a:t>
            </a:r>
          </a:p>
          <a:p>
            <a:r>
              <a:t>Trade-offs to say out loud: the K26 is more than a synth strictly needs, we use most of it though. Audio clock comes out at about +19.3 ppm off ideal, accepted, doesn't matter for this demo. Pmod I2S2 is a cheap DAC, not studio quality.</a:t>
            </a:r>
          </a:p>
          <a:p>
            <a:r>
              <a:t>Don't claim it's the only possible choice.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12:30-14:00.</a:t>
            </a:r>
          </a:p>
          <a:p>
            <a:r>
              <a:t>Vivado = the full design (block design, synthesis, place and route, timing reports, bitstream). Vitis HLS = turns the C++ DSP into logic and gives cycle/timing estimates. Ross = sits in the middle and operates the tools and edits files when asked. Linux/EDF = the runtime.</a:t>
            </a:r>
          </a:p>
          <a:p>
            <a:r>
              <a:t>Be clear that HLS numbers are estimates and routed Vivado numbers are the real ones.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14:00-16:00.</a:t>
            </a:r>
          </a:p>
          <a:p>
            <a:r>
              <a:t>Use Ross's official wording once: 'AMD Ross spans software, silicon, and board design to dramatically accelerate embedded system design, optimization, debug, and deployment compared to typical development lifecycles. Unlike generic AI assistants, AMD Ross is built around AMD Embedded development environments, institutional AMD engineering knowledge, and expert-authored methodologies.' (AMD launch copy, 30 Sep 2026.)</a:t>
            </a:r>
          </a:p>
          <a:p>
            <a:r>
              <a:t>Don't turn that into numbers. We have no measured speed-up to claim, so don't.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16:00-18:00.</a:t>
            </a:r>
          </a:p>
          <a:p>
            <a:r>
              <a:t>One diagram only. The full multi-stage version (brainstorm, spec, plan, task, review) is in the take-home pack, not here.</a:t>
            </a:r>
          </a:p>
          <a:p>
            <a:r>
              <a:t>Say: the spec is the thing that stays still; the code is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18:00-23:00. This is the main live/guided part.</a:t>
            </a:r>
          </a:p>
          <a:p>
            <a:r>
              <a:t>CUE: show the instruction text on screen, then the result. If the live HLS run is too slow, use the PREBUILT CHECKPOINT (reports from the saved run) and say so.</a:t>
            </a:r>
          </a:p>
          <a:p>
            <a:r>
              <a:t>BACKUP: recording of the HLS run in the take-home folder; switch with 'this takes a few minutes, here's one I made earlier'.</a:t>
            </a:r>
          </a:p>
          <a:p>
            <a:r>
              <a:t>RESUME: land on the numbers table, then go to verification.</a:t>
            </a:r>
          </a:p>
          <a:p>
            <a:r>
              <a:t>CLAIMS: these numbers are for the single focused core, from HLS ESTIMATES, not the whole design. Whole accepted builds are about 1,800 cycles. Say that.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23:00-26:00.</a:t>
            </a:r>
          </a:p>
          <a:p>
            <a:r>
              <a:t>Separate the layers: HLS estimate vs routed Vivado vs hardware. The routed numbers are the ones that count.</a:t>
            </a:r>
          </a:p>
          <a:p>
            <a:r>
              <a:t>Optionally run 'regread 0xA0000000' live and show 0x53594e54 (SYNT).</a:t>
            </a:r>
          </a:p>
          <a:p>
            <a:r>
              <a:t>Don't say EDF built the FPGA design. It didn't; Vivado/Vitis 2025.2 did, EDF just packaged and boots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26:00-28:00. Read the four boxes quickly. One more time: Ross assists, the engineer decides. No time-saving claim made, because we have not measured a fair baseline.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28:00-30:00.</a:t>
            </a:r>
          </a:p>
          <a:p>
            <a:r>
              <a:t>TODO BEFORE RELEASE: add real QR codes and URLs for the take-home pack (full spec, prompts, setup, verification steps). Ross links below come from AMD's launch announcement.</a:t>
            </a:r>
          </a:p>
          <a:p>
            <a:r>
              <a:t>Invite questions; the frozen prototype stays playable at the bench afterwards.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1080.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6766560" cy="6858000"/>
          </a:xfrm>
          <a:prstGeom prst="rect">
            <a:avLst/>
          </a:prstGeom>
          <a:solidFill>
            <a:srgbClr val="0A1230">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5943600" cy="274320"/>
          </a:xfrm>
          <a:prstGeom prst="rect">
            <a:avLst/>
          </a:prstGeom>
          <a:noFill/>
        </p:spPr>
        <p:txBody>
          <a:bodyPr wrap="square" anchor="t" lIns="36576" rIns="36576" tIns="36576" bIns="36576">
            <a:spAutoFit/>
          </a:bodyPr>
          <a:lstStyle/>
          <a:p>
            <a:pPr algn="l"/>
            <a:r>
              <a:rPr sz="1200" b="1">
                <a:solidFill>
                  <a:srgbClr val="2DD4F0"/>
                </a:solidFill>
                <a:latin typeface="Arial"/>
              </a:rPr>
              <a:t>AMD ON WHEELS NZ  ·  2026  ·  WORKSHOP</a:t>
            </a:r>
          </a:p>
        </p:txBody>
      </p:sp>
      <p:sp>
        <p:nvSpPr>
          <p:cNvPr id="5" name="TextBox 4"/>
          <p:cNvSpPr txBox="1"/>
          <p:nvPr/>
        </p:nvSpPr>
        <p:spPr>
          <a:xfrm>
            <a:off x="548640" y="1920240"/>
            <a:ext cx="6035040" cy="1737360"/>
          </a:xfrm>
          <a:prstGeom prst="rect">
            <a:avLst/>
          </a:prstGeom>
          <a:noFill/>
        </p:spPr>
        <p:txBody>
          <a:bodyPr wrap="square" anchor="t" lIns="36576" rIns="36576" tIns="36576" bIns="36576">
            <a:spAutoFit/>
          </a:bodyPr>
          <a:lstStyle/>
          <a:p>
            <a:pPr algn="l"/>
            <a:r>
              <a:rPr sz="3800" b="1">
                <a:solidFill>
                  <a:srgbClr val="FFFFFF"/>
                </a:solidFill>
                <a:latin typeface="Arial"/>
              </a:rPr>
              <a:t>Agentic AI for HLS:</a:t>
            </a:r>
          </a:p>
          <a:p>
            <a:pPr algn="l">
              <a:spcBef>
                <a:spcPts val="1710"/>
              </a:spcBef>
            </a:pPr>
            <a:r>
              <a:rPr sz="3800" b="1">
                <a:solidFill>
                  <a:srgbClr val="FFFFFF"/>
                </a:solidFill>
                <a:latin typeface="Arial"/>
              </a:rPr>
              <a:t>a synthesizer on Kria</a:t>
            </a:r>
          </a:p>
        </p:txBody>
      </p:sp>
      <p:sp>
        <p:nvSpPr>
          <p:cNvPr id="6" name="TextBox 5"/>
          <p:cNvSpPr txBox="1"/>
          <p:nvPr/>
        </p:nvSpPr>
        <p:spPr>
          <a:xfrm>
            <a:off x="548640" y="3840480"/>
            <a:ext cx="5852160" cy="1280160"/>
          </a:xfrm>
          <a:prstGeom prst="rect">
            <a:avLst/>
          </a:prstGeom>
          <a:noFill/>
        </p:spPr>
        <p:txBody>
          <a:bodyPr wrap="square" anchor="t" lIns="36576" rIns="36576" tIns="36576" bIns="36576">
            <a:spAutoFit/>
          </a:bodyPr>
          <a:lstStyle/>
          <a:p>
            <a:pPr algn="l"/>
            <a:r>
              <a:rPr sz="1700" b="0">
                <a:solidFill>
                  <a:srgbClr val="FFFFFF"/>
                </a:solidFill>
                <a:latin typeface="Arial"/>
              </a:rPr>
              <a:t>You'll hear a 16-voice synth run on a KV260, then we go through how it got built with Ross and Vitis HLS, and what you can repeat yourself.</a:t>
            </a:r>
          </a:p>
        </p:txBody>
      </p:sp>
      <p:sp>
        <p:nvSpPr>
          <p:cNvPr id="7" name="TextBox 6"/>
          <p:cNvSpPr txBox="1"/>
          <p:nvPr/>
        </p:nvSpPr>
        <p:spPr>
          <a:xfrm>
            <a:off x="548640" y="6035040"/>
            <a:ext cx="5486400" cy="274320"/>
          </a:xfrm>
          <a:prstGeom prst="rect">
            <a:avLst/>
          </a:prstGeom>
          <a:noFill/>
        </p:spPr>
        <p:txBody>
          <a:bodyPr wrap="square" anchor="t" lIns="36576" rIns="36576" tIns="36576" bIns="36576">
            <a:spAutoFit/>
          </a:bodyPr>
          <a:lstStyle/>
          <a:p>
            <a:pPr algn="l"/>
            <a:r>
              <a:rPr sz="1200" b="0">
                <a:solidFill>
                  <a:srgbClr val="B4BEDC"/>
                </a:solidFill>
                <a:latin typeface="Arial"/>
              </a:rPr>
              <a:t>David Farrell, Field Application Engineer, Avnet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FINISHED DEMO</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Here it is working first, then we look at how</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2</a:t>
            </a:r>
          </a:p>
        </p:txBody>
      </p:sp>
      <p:sp>
        <p:nvSpPr>
          <p:cNvPr id="7" name="Rectangle 6"/>
          <p:cNvSpPr/>
          <p:nvPr/>
        </p:nvSpPr>
        <p:spPr>
          <a:xfrm>
            <a:off x="457200" y="2103120"/>
            <a:ext cx="7498079" cy="4023360"/>
          </a:xfrm>
          <a:prstGeom prst="rect">
            <a:avLst/>
          </a:prstGeom>
          <a:solidFill>
            <a:srgbClr val="05091C"/>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566160"/>
            <a:ext cx="7498079" cy="1097280"/>
          </a:xfrm>
          <a:prstGeom prst="rect">
            <a:avLst/>
          </a:prstGeom>
          <a:noFill/>
        </p:spPr>
        <p:txBody>
          <a:bodyPr wrap="square" anchor="t" lIns="36576" rIns="36576" tIns="36576" bIns="36576">
            <a:spAutoFit/>
          </a:bodyPr>
          <a:lstStyle/>
          <a:p>
            <a:pPr algn="ctr"/>
            <a:r>
              <a:rPr sz="2200" b="1">
                <a:solidFill>
                  <a:srgbClr val="B4BEDC"/>
                </a:solidFill>
                <a:latin typeface="Arial"/>
              </a:rPr>
              <a:t>LIVE DEMO</a:t>
            </a:r>
          </a:p>
          <a:p>
            <a:pPr algn="ctr">
              <a:spcBef>
                <a:spcPts val="990"/>
              </a:spcBef>
            </a:pPr>
            <a:r>
              <a:rPr sz="2200" b="1">
                <a:solidFill>
                  <a:srgbClr val="B4BEDC"/>
                </a:solidFill>
                <a:latin typeface="Arial"/>
              </a:rPr>
              <a:t>(drop backup recording in this frame)</a:t>
            </a:r>
          </a:p>
        </p:txBody>
      </p:sp>
      <p:sp>
        <p:nvSpPr>
          <p:cNvPr id="9" name="Rectangle 8"/>
          <p:cNvSpPr/>
          <p:nvPr/>
        </p:nvSpPr>
        <p:spPr>
          <a:xfrm>
            <a:off x="8229600" y="2103120"/>
            <a:ext cx="3520440" cy="182880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2240279"/>
            <a:ext cx="3246120" cy="457200"/>
          </a:xfrm>
          <a:prstGeom prst="rect">
            <a:avLst/>
          </a:prstGeom>
          <a:noFill/>
        </p:spPr>
        <p:txBody>
          <a:bodyPr wrap="square" anchor="t" lIns="36576" rIns="36576" tIns="36576" bIns="36576">
            <a:spAutoFit/>
          </a:bodyPr>
          <a:lstStyle/>
          <a:p>
            <a:pPr algn="l"/>
            <a:r>
              <a:rPr sz="1700" b="1">
                <a:solidFill>
                  <a:srgbClr val="FFFFFF"/>
                </a:solidFill>
                <a:latin typeface="Arial"/>
              </a:rPr>
              <a:t>What you should hear</a:t>
            </a:r>
          </a:p>
        </p:txBody>
      </p:sp>
      <p:sp>
        <p:nvSpPr>
          <p:cNvPr id="11" name="TextBox 10"/>
          <p:cNvSpPr txBox="1"/>
          <p:nvPr/>
        </p:nvSpPr>
        <p:spPr>
          <a:xfrm>
            <a:off x="8366760" y="2650489"/>
            <a:ext cx="3246120" cy="1188720"/>
          </a:xfrm>
          <a:prstGeom prst="rect">
            <a:avLst/>
          </a:prstGeom>
          <a:noFill/>
        </p:spPr>
        <p:txBody>
          <a:bodyPr wrap="square" anchor="t" lIns="36576" rIns="36576" tIns="36576" bIns="36576">
            <a:spAutoFit/>
          </a:bodyPr>
          <a:lstStyle/>
          <a:p>
            <a:pPr algn="l"/>
            <a:r>
              <a:rPr sz="1700" b="0">
                <a:solidFill>
                  <a:srgbClr val="B4BEDC"/>
                </a:solidFill>
                <a:latin typeface="Arial"/>
              </a:rPr>
              <a:t>Notes from the FC25 coming out of the Pmod DAC, chords up to ten notes, four controls that change the sound.</a:t>
            </a:r>
          </a:p>
        </p:txBody>
      </p:sp>
      <p:sp>
        <p:nvSpPr>
          <p:cNvPr id="12" name="Rectangle 11"/>
          <p:cNvSpPr/>
          <p:nvPr/>
        </p:nvSpPr>
        <p:spPr>
          <a:xfrm>
            <a:off x="8229600" y="4206240"/>
            <a:ext cx="3520440" cy="1920240"/>
          </a:xfrm>
          <a:prstGeom prst="rect">
            <a:avLst/>
          </a:prstGeom>
          <a:solidFill>
            <a:srgbClr val="121E4A"/>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4343400"/>
            <a:ext cx="3246120" cy="457200"/>
          </a:xfrm>
          <a:prstGeom prst="rect">
            <a:avLst/>
          </a:prstGeom>
          <a:noFill/>
        </p:spPr>
        <p:txBody>
          <a:bodyPr wrap="square" anchor="t" lIns="36576" rIns="36576" tIns="36576" bIns="36576">
            <a:spAutoFit/>
          </a:bodyPr>
          <a:lstStyle/>
          <a:p>
            <a:pPr algn="l"/>
            <a:r>
              <a:rPr sz="1700" b="1">
                <a:solidFill>
                  <a:srgbClr val="FFFFFF"/>
                </a:solidFill>
                <a:latin typeface="Arial"/>
              </a:rPr>
              <a:t>What to look for</a:t>
            </a:r>
          </a:p>
        </p:txBody>
      </p:sp>
      <p:sp>
        <p:nvSpPr>
          <p:cNvPr id="14" name="TextBox 13"/>
          <p:cNvSpPr txBox="1"/>
          <p:nvPr/>
        </p:nvSpPr>
        <p:spPr>
          <a:xfrm>
            <a:off x="8366760" y="4753610"/>
            <a:ext cx="3246120" cy="1280160"/>
          </a:xfrm>
          <a:prstGeom prst="rect">
            <a:avLst/>
          </a:prstGeom>
          <a:noFill/>
        </p:spPr>
        <p:txBody>
          <a:bodyPr wrap="square" anchor="t" lIns="36576" rIns="36576" tIns="36576" bIns="36576">
            <a:spAutoFit/>
          </a:bodyPr>
          <a:lstStyle/>
          <a:p>
            <a:pPr algn="l"/>
            <a:r>
              <a:rPr sz="1700" b="0">
                <a:solidFill>
                  <a:srgbClr val="B4BEDC"/>
                </a:solidFill>
                <a:latin typeface="Arial"/>
              </a:rPr>
              <a:t>Terminal showing the board is alive: identity register reads SYNT and the overrun count stays at 0.</a:t>
            </a:r>
          </a:p>
        </p:txBody>
      </p:sp>
      <p:sp>
        <p:nvSpPr>
          <p:cNvPr id="15" name="Rounded Rectangle 14"/>
          <p:cNvSpPr/>
          <p:nvPr/>
        </p:nvSpPr>
        <p:spPr>
          <a:xfrm>
            <a:off x="8366760" y="4078224"/>
            <a:ext cx="914400" cy="256032"/>
          </a:xfrm>
          <a:prstGeom prst="round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VERIFY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HOW IT WORKS</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A MIDI key press turns into audio in about five steps</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3</a:t>
            </a:r>
          </a:p>
        </p:txBody>
      </p:sp>
      <p:sp>
        <p:nvSpPr>
          <p:cNvPr id="7" name="Rectangle 6"/>
          <p:cNvSpPr/>
          <p:nvPr/>
        </p:nvSpPr>
        <p:spPr>
          <a:xfrm>
            <a:off x="457200" y="2468880"/>
            <a:ext cx="2057400" cy="210312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340864"/>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9" name="TextBox 8"/>
          <p:cNvSpPr txBox="1"/>
          <p:nvPr/>
        </p:nvSpPr>
        <p:spPr>
          <a:xfrm>
            <a:off x="594360" y="2606040"/>
            <a:ext cx="1783080" cy="457200"/>
          </a:xfrm>
          <a:prstGeom prst="rect">
            <a:avLst/>
          </a:prstGeom>
          <a:noFill/>
        </p:spPr>
        <p:txBody>
          <a:bodyPr wrap="square" anchor="t" lIns="36576" rIns="36576" tIns="36576" bIns="36576">
            <a:spAutoFit/>
          </a:bodyPr>
          <a:lstStyle/>
          <a:p>
            <a:pPr algn="l"/>
            <a:r>
              <a:rPr sz="1700" b="1">
                <a:solidFill>
                  <a:srgbClr val="FFFFFF"/>
                </a:solidFill>
                <a:latin typeface="Arial"/>
              </a:rPr>
              <a:t>FC25 keyboard</a:t>
            </a:r>
          </a:p>
        </p:txBody>
      </p:sp>
      <p:sp>
        <p:nvSpPr>
          <p:cNvPr id="10" name="TextBox 9"/>
          <p:cNvSpPr txBox="1"/>
          <p:nvPr/>
        </p:nvSpPr>
        <p:spPr>
          <a:xfrm>
            <a:off x="594360" y="3016250"/>
            <a:ext cx="1783080" cy="1463039"/>
          </a:xfrm>
          <a:prstGeom prst="rect">
            <a:avLst/>
          </a:prstGeom>
          <a:noFill/>
        </p:spPr>
        <p:txBody>
          <a:bodyPr wrap="square" anchor="t" lIns="36576" rIns="36576" tIns="36576" bIns="36576">
            <a:spAutoFit/>
          </a:bodyPr>
          <a:lstStyle/>
          <a:p>
            <a:pPr algn="l"/>
            <a:r>
              <a:rPr sz="1600" b="0">
                <a:solidFill>
                  <a:srgbClr val="B4BEDC"/>
                </a:solidFill>
                <a:latin typeface="Arial"/>
              </a:rPr>
              <a:t>MIDI over USB</a:t>
            </a:r>
          </a:p>
        </p:txBody>
      </p:sp>
      <p:cxnSp>
        <p:nvCxnSpPr>
          <p:cNvPr id="11" name="Connector 10"/>
          <p:cNvCxnSpPr/>
          <p:nvPr/>
        </p:nvCxnSpPr>
        <p:spPr>
          <a:xfrm>
            <a:off x="2514600" y="3520440"/>
            <a:ext cx="274320"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88920" y="2468880"/>
            <a:ext cx="2057400" cy="210312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26079" y="2340864"/>
            <a:ext cx="914400" cy="256032"/>
          </a:xfrm>
          <a:prstGeom prst="roundRect">
            <a:avLst/>
          </a:prstGeom>
          <a:solidFill>
            <a:srgbClr val="2DD4F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PLATFORM</a:t>
            </a:r>
          </a:p>
        </p:txBody>
      </p:sp>
      <p:sp>
        <p:nvSpPr>
          <p:cNvPr id="14" name="TextBox 13"/>
          <p:cNvSpPr txBox="1"/>
          <p:nvPr/>
        </p:nvSpPr>
        <p:spPr>
          <a:xfrm>
            <a:off x="2926079" y="2606040"/>
            <a:ext cx="1783080" cy="457200"/>
          </a:xfrm>
          <a:prstGeom prst="rect">
            <a:avLst/>
          </a:prstGeom>
          <a:noFill/>
        </p:spPr>
        <p:txBody>
          <a:bodyPr wrap="square" anchor="t" lIns="36576" rIns="36576" tIns="36576" bIns="36576">
            <a:spAutoFit/>
          </a:bodyPr>
          <a:lstStyle/>
          <a:p>
            <a:pPr algn="l"/>
            <a:r>
              <a:rPr sz="1700" b="1">
                <a:solidFill>
                  <a:srgbClr val="FFFFFF"/>
                </a:solidFill>
                <a:latin typeface="Arial"/>
              </a:rPr>
              <a:t>Linux + ALSA</a:t>
            </a:r>
          </a:p>
        </p:txBody>
      </p:sp>
      <p:sp>
        <p:nvSpPr>
          <p:cNvPr id="15" name="TextBox 14"/>
          <p:cNvSpPr txBox="1"/>
          <p:nvPr/>
        </p:nvSpPr>
        <p:spPr>
          <a:xfrm>
            <a:off x="2926079" y="3016250"/>
            <a:ext cx="1783080" cy="1463039"/>
          </a:xfrm>
          <a:prstGeom prst="rect">
            <a:avLst/>
          </a:prstGeom>
          <a:noFill/>
        </p:spPr>
        <p:txBody>
          <a:bodyPr wrap="square" anchor="t" lIns="36576" rIns="36576" tIns="36576" bIns="36576">
            <a:spAutoFit/>
          </a:bodyPr>
          <a:lstStyle/>
          <a:p>
            <a:pPr algn="l"/>
            <a:r>
              <a:rPr sz="1600" b="0">
                <a:solidFill>
                  <a:srgbClr val="B4BEDC"/>
                </a:solidFill>
                <a:latin typeface="Arial"/>
              </a:rPr>
              <a:t>C process, 3 ms loop, keeps voice + knob state</a:t>
            </a:r>
          </a:p>
        </p:txBody>
      </p:sp>
      <p:cxnSp>
        <p:nvCxnSpPr>
          <p:cNvPr id="16" name="Connector 15"/>
          <p:cNvCxnSpPr/>
          <p:nvPr/>
        </p:nvCxnSpPr>
        <p:spPr>
          <a:xfrm>
            <a:off x="4846320" y="3520440"/>
            <a:ext cx="274320"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120640" y="2468880"/>
            <a:ext cx="2057400" cy="210312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57800" y="2340864"/>
            <a:ext cx="914400" cy="256032"/>
          </a:xfrm>
          <a:prstGeom prst="roundRect">
            <a:avLst/>
          </a:prstGeom>
          <a:solidFill>
            <a:srgbClr val="2DD4F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PLATFORM</a:t>
            </a:r>
          </a:p>
        </p:txBody>
      </p:sp>
      <p:sp>
        <p:nvSpPr>
          <p:cNvPr id="19" name="TextBox 18"/>
          <p:cNvSpPr txBox="1"/>
          <p:nvPr/>
        </p:nvSpPr>
        <p:spPr>
          <a:xfrm>
            <a:off x="5257800" y="2606040"/>
            <a:ext cx="1783080" cy="457200"/>
          </a:xfrm>
          <a:prstGeom prst="rect">
            <a:avLst/>
          </a:prstGeom>
          <a:noFill/>
        </p:spPr>
        <p:txBody>
          <a:bodyPr wrap="square" anchor="t" lIns="36576" rIns="36576" tIns="36576" bIns="36576">
            <a:spAutoFit/>
          </a:bodyPr>
          <a:lstStyle/>
          <a:p>
            <a:pPr algn="l"/>
            <a:r>
              <a:rPr sz="1700" b="1">
                <a:solidFill>
                  <a:srgbClr val="FFFFFF"/>
                </a:solidFill>
                <a:latin typeface="Arial"/>
              </a:rPr>
              <a:t>AXI registers</a:t>
            </a:r>
          </a:p>
        </p:txBody>
      </p:sp>
      <p:sp>
        <p:nvSpPr>
          <p:cNvPr id="20" name="TextBox 19"/>
          <p:cNvSpPr txBox="1"/>
          <p:nvPr/>
        </p:nvSpPr>
        <p:spPr>
          <a:xfrm>
            <a:off x="5257800" y="3016250"/>
            <a:ext cx="1783080" cy="1463039"/>
          </a:xfrm>
          <a:prstGeom prst="rect">
            <a:avLst/>
          </a:prstGeom>
          <a:noFill/>
        </p:spPr>
        <p:txBody>
          <a:bodyPr wrap="square" anchor="t" lIns="36576" rIns="36576" tIns="36576" bIns="36576">
            <a:spAutoFit/>
          </a:bodyPr>
          <a:lstStyle/>
          <a:p>
            <a:pPr algn="l"/>
            <a:r>
              <a:rPr sz="1600" b="0">
                <a:solidFill>
                  <a:srgbClr val="B4BEDC"/>
                </a:solidFill>
                <a:latin typeface="Arial"/>
              </a:rPr>
              <a:t>shadow copy, then one commit</a:t>
            </a:r>
          </a:p>
        </p:txBody>
      </p:sp>
      <p:cxnSp>
        <p:nvCxnSpPr>
          <p:cNvPr id="21" name="Connector 20"/>
          <p:cNvCxnSpPr/>
          <p:nvPr/>
        </p:nvCxnSpPr>
        <p:spPr>
          <a:xfrm>
            <a:off x="7178040" y="3520440"/>
            <a:ext cx="274319"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452359" y="2468880"/>
            <a:ext cx="2057400" cy="2103120"/>
          </a:xfrm>
          <a:prstGeom prst="rect">
            <a:avLst/>
          </a:prstGeom>
          <a:solidFill>
            <a:srgbClr val="121E4A"/>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589519" y="2340864"/>
            <a:ext cx="914400" cy="256032"/>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TOOL</a:t>
            </a:r>
          </a:p>
        </p:txBody>
      </p:sp>
      <p:sp>
        <p:nvSpPr>
          <p:cNvPr id="24" name="TextBox 23"/>
          <p:cNvSpPr txBox="1"/>
          <p:nvPr/>
        </p:nvSpPr>
        <p:spPr>
          <a:xfrm>
            <a:off x="7589519" y="2606040"/>
            <a:ext cx="1783080" cy="457200"/>
          </a:xfrm>
          <a:prstGeom prst="rect">
            <a:avLst/>
          </a:prstGeom>
          <a:noFill/>
        </p:spPr>
        <p:txBody>
          <a:bodyPr wrap="square" anchor="t" lIns="36576" rIns="36576" tIns="36576" bIns="36576">
            <a:spAutoFit/>
          </a:bodyPr>
          <a:lstStyle/>
          <a:p>
            <a:pPr algn="l"/>
            <a:r>
              <a:rPr sz="1700" b="1">
                <a:solidFill>
                  <a:srgbClr val="FFFFFF"/>
                </a:solidFill>
                <a:latin typeface="Arial"/>
              </a:rPr>
              <a:t>HLS synth (PL)</a:t>
            </a:r>
          </a:p>
        </p:txBody>
      </p:sp>
      <p:sp>
        <p:nvSpPr>
          <p:cNvPr id="25" name="TextBox 24"/>
          <p:cNvSpPr txBox="1"/>
          <p:nvPr/>
        </p:nvSpPr>
        <p:spPr>
          <a:xfrm>
            <a:off x="7589519" y="3016250"/>
            <a:ext cx="1783080" cy="1463039"/>
          </a:xfrm>
          <a:prstGeom prst="rect">
            <a:avLst/>
          </a:prstGeom>
          <a:noFill/>
        </p:spPr>
        <p:txBody>
          <a:bodyPr wrap="square" anchor="t" lIns="36576" rIns="36576" tIns="36576" bIns="36576">
            <a:spAutoFit/>
          </a:bodyPr>
          <a:lstStyle/>
          <a:p>
            <a:pPr algn="l"/>
            <a:r>
              <a:rPr sz="1600" b="0">
                <a:solidFill>
                  <a:srgbClr val="B4BEDC"/>
                </a:solidFill>
                <a:latin typeface="Arial"/>
              </a:rPr>
              <a:t>one sample per call, 16 voices</a:t>
            </a:r>
          </a:p>
        </p:txBody>
      </p:sp>
      <p:cxnSp>
        <p:nvCxnSpPr>
          <p:cNvPr id="26" name="Connector 25"/>
          <p:cNvCxnSpPr/>
          <p:nvPr/>
        </p:nvCxnSpPr>
        <p:spPr>
          <a:xfrm>
            <a:off x="9509759" y="3520440"/>
            <a:ext cx="274321"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784080" y="2468880"/>
            <a:ext cx="2057400" cy="210312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921240" y="2340864"/>
            <a:ext cx="914400" cy="256032"/>
          </a:xfrm>
          <a:prstGeom prst="roundRect">
            <a:avLst/>
          </a:prstGeom>
          <a:solidFill>
            <a:srgbClr val="2DD4F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PLATFORM</a:t>
            </a:r>
          </a:p>
        </p:txBody>
      </p:sp>
      <p:sp>
        <p:nvSpPr>
          <p:cNvPr id="29" name="TextBox 28"/>
          <p:cNvSpPr txBox="1"/>
          <p:nvPr/>
        </p:nvSpPr>
        <p:spPr>
          <a:xfrm>
            <a:off x="9921240" y="2606040"/>
            <a:ext cx="1783080" cy="457200"/>
          </a:xfrm>
          <a:prstGeom prst="rect">
            <a:avLst/>
          </a:prstGeom>
          <a:noFill/>
        </p:spPr>
        <p:txBody>
          <a:bodyPr wrap="square" anchor="t" lIns="36576" rIns="36576" tIns="36576" bIns="36576">
            <a:spAutoFit/>
          </a:bodyPr>
          <a:lstStyle/>
          <a:p>
            <a:pPr algn="l"/>
            <a:r>
              <a:rPr sz="1700" b="1">
                <a:solidFill>
                  <a:srgbClr val="FFFFFF"/>
                </a:solidFill>
                <a:latin typeface="Arial"/>
              </a:rPr>
              <a:t>Pmod I2S2 DAC</a:t>
            </a:r>
          </a:p>
        </p:txBody>
      </p:sp>
      <p:sp>
        <p:nvSpPr>
          <p:cNvPr id="30" name="TextBox 29"/>
          <p:cNvSpPr txBox="1"/>
          <p:nvPr/>
        </p:nvSpPr>
        <p:spPr>
          <a:xfrm>
            <a:off x="9921240" y="3016250"/>
            <a:ext cx="1783080" cy="1463039"/>
          </a:xfrm>
          <a:prstGeom prst="rect">
            <a:avLst/>
          </a:prstGeom>
          <a:noFill/>
        </p:spPr>
        <p:txBody>
          <a:bodyPr wrap="square" anchor="t" lIns="36576" rIns="36576" tIns="36576" bIns="36576">
            <a:spAutoFit/>
          </a:bodyPr>
          <a:lstStyle/>
          <a:p>
            <a:pPr algn="l"/>
            <a:r>
              <a:rPr sz="1600" b="0">
                <a:solidFill>
                  <a:srgbClr val="B4BEDC"/>
                </a:solidFill>
                <a:latin typeface="Arial"/>
              </a:rPr>
              <a:t>24-bit audio, speakers</a:t>
            </a:r>
          </a:p>
        </p:txBody>
      </p:sp>
      <p:sp>
        <p:nvSpPr>
          <p:cNvPr id="31" name="TextBox 30"/>
          <p:cNvSpPr txBox="1"/>
          <p:nvPr/>
        </p:nvSpPr>
        <p:spPr>
          <a:xfrm>
            <a:off x="457200" y="5029200"/>
            <a:ext cx="11247120" cy="914400"/>
          </a:xfrm>
          <a:prstGeom prst="rect">
            <a:avLst/>
          </a:prstGeom>
          <a:noFill/>
        </p:spPr>
        <p:txBody>
          <a:bodyPr wrap="square" anchor="t" lIns="36576" rIns="36576" tIns="36576" bIns="36576">
            <a:spAutoFit/>
          </a:bodyPr>
          <a:lstStyle/>
          <a:p>
            <a:pPr algn="l"/>
            <a:r>
              <a:rPr sz="1800" b="0">
                <a:solidFill>
                  <a:srgbClr val="B4BEDC"/>
                </a:solidFill>
                <a:latin typeface="Arial"/>
              </a:rPr>
              <a:t>input  -&gt;  processing  -&gt;  output</a:t>
            </a:r>
          </a:p>
          <a:p>
            <a:pPr algn="l">
              <a:spcBef>
                <a:spcPts val="810"/>
              </a:spcBef>
            </a:pPr>
            <a:r>
              <a:rPr sz="1800" b="0">
                <a:solidFill>
                  <a:srgbClr val="B4BEDC"/>
                </a:solidFill>
                <a:latin typeface="Arial"/>
              </a:rPr>
              <a:t>Processing is split: Linux does the slow stuff (notes, knobs), programmable logic does the fast stuff (the actual sound).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WHY IT IS HARD</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Three things make this harder than it looks</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4</a:t>
            </a:r>
          </a:p>
        </p:txBody>
      </p:sp>
      <p:sp>
        <p:nvSpPr>
          <p:cNvPr id="7" name="Rectangle 6"/>
          <p:cNvSpPr/>
          <p:nvPr/>
        </p:nvSpPr>
        <p:spPr>
          <a:xfrm>
            <a:off x="457200" y="2194560"/>
            <a:ext cx="3657600" cy="356616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331720"/>
            <a:ext cx="3383280" cy="457200"/>
          </a:xfrm>
          <a:prstGeom prst="rect">
            <a:avLst/>
          </a:prstGeom>
          <a:noFill/>
        </p:spPr>
        <p:txBody>
          <a:bodyPr wrap="square" anchor="t" lIns="36576" rIns="36576" tIns="36576" bIns="36576">
            <a:spAutoFit/>
          </a:bodyPr>
          <a:lstStyle/>
          <a:p>
            <a:pPr algn="l"/>
            <a:r>
              <a:rPr sz="2200" b="1">
                <a:solidFill>
                  <a:srgbClr val="FFFFFF"/>
                </a:solidFill>
                <a:latin typeface="Arial"/>
              </a:rPr>
              <a:t>Real time</a:t>
            </a:r>
          </a:p>
        </p:txBody>
      </p:sp>
      <p:sp>
        <p:nvSpPr>
          <p:cNvPr id="9" name="TextBox 8"/>
          <p:cNvSpPr txBox="1"/>
          <p:nvPr/>
        </p:nvSpPr>
        <p:spPr>
          <a:xfrm>
            <a:off x="594360" y="2862580"/>
            <a:ext cx="3383280" cy="2926080"/>
          </a:xfrm>
          <a:prstGeom prst="rect">
            <a:avLst/>
          </a:prstGeom>
          <a:noFill/>
        </p:spPr>
        <p:txBody>
          <a:bodyPr wrap="square" anchor="t" lIns="36576" rIns="36576" tIns="36576" bIns="36576">
            <a:spAutoFit/>
          </a:bodyPr>
          <a:lstStyle/>
          <a:p>
            <a:pPr algn="l"/>
            <a:r>
              <a:rPr sz="1900" b="0">
                <a:solidFill>
                  <a:srgbClr val="B4BEDC"/>
                </a:solidFill>
                <a:latin typeface="Arial"/>
              </a:rPr>
              <a:t>48,000 samples a second, and each one needs a full 16-voice calculation plus reverb. One HLS call has to finish inside 2,000 cycles at 100 MHz. It takes 1,803 worst case, so not much slack.</a:t>
            </a:r>
          </a:p>
        </p:txBody>
      </p:sp>
      <p:sp>
        <p:nvSpPr>
          <p:cNvPr id="10" name="Rectangle 9"/>
          <p:cNvSpPr/>
          <p:nvPr/>
        </p:nvSpPr>
        <p:spPr>
          <a:xfrm>
            <a:off x="4270248" y="2194560"/>
            <a:ext cx="3657600" cy="3566160"/>
          </a:xfrm>
          <a:prstGeom prst="rect">
            <a:avLst/>
          </a:prstGeom>
          <a:solidFill>
            <a:srgbClr val="121E4A"/>
          </a:solidFill>
          <a:ln w="19050">
            <a:solidFill>
              <a:srgbClr val="F45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07408" y="2331720"/>
            <a:ext cx="3383280" cy="457200"/>
          </a:xfrm>
          <a:prstGeom prst="rect">
            <a:avLst/>
          </a:prstGeom>
          <a:noFill/>
        </p:spPr>
        <p:txBody>
          <a:bodyPr wrap="square" anchor="t" lIns="36576" rIns="36576" tIns="36576" bIns="36576">
            <a:spAutoFit/>
          </a:bodyPr>
          <a:lstStyle/>
          <a:p>
            <a:pPr algn="l"/>
            <a:r>
              <a:rPr sz="2200" b="1">
                <a:solidFill>
                  <a:srgbClr val="FFFFFF"/>
                </a:solidFill>
                <a:latin typeface="Arial"/>
              </a:rPr>
              <a:t>Linux meets FPGA</a:t>
            </a:r>
          </a:p>
        </p:txBody>
      </p:sp>
      <p:sp>
        <p:nvSpPr>
          <p:cNvPr id="12" name="TextBox 11"/>
          <p:cNvSpPr txBox="1"/>
          <p:nvPr/>
        </p:nvSpPr>
        <p:spPr>
          <a:xfrm>
            <a:off x="4407408" y="2862580"/>
            <a:ext cx="3383280" cy="2926080"/>
          </a:xfrm>
          <a:prstGeom prst="rect">
            <a:avLst/>
          </a:prstGeom>
          <a:noFill/>
        </p:spPr>
        <p:txBody>
          <a:bodyPr wrap="square" anchor="t" lIns="36576" rIns="36576" tIns="36576" bIns="36576">
            <a:spAutoFit/>
          </a:bodyPr>
          <a:lstStyle/>
          <a:p>
            <a:pPr algn="l"/>
            <a:r>
              <a:rPr sz="1900" b="0">
                <a:solidFill>
                  <a:srgbClr val="B4BEDC"/>
                </a:solidFill>
                <a:latin typeface="Arial"/>
              </a:rPr>
              <a:t>Software changes notes and knobs whenever it likes, the logic wants a steady picture. We need a copy-then-commit scheme so a sample never sees half an update.</a:t>
            </a:r>
          </a:p>
        </p:txBody>
      </p:sp>
      <p:sp>
        <p:nvSpPr>
          <p:cNvPr id="13" name="Rectangle 12"/>
          <p:cNvSpPr/>
          <p:nvPr/>
        </p:nvSpPr>
        <p:spPr>
          <a:xfrm>
            <a:off x="8074152" y="2194560"/>
            <a:ext cx="3657600" cy="356616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2331720"/>
            <a:ext cx="3383280" cy="457200"/>
          </a:xfrm>
          <a:prstGeom prst="rect">
            <a:avLst/>
          </a:prstGeom>
          <a:noFill/>
        </p:spPr>
        <p:txBody>
          <a:bodyPr wrap="square" anchor="t" lIns="36576" rIns="36576" tIns="36576" bIns="36576">
            <a:spAutoFit/>
          </a:bodyPr>
          <a:lstStyle/>
          <a:p>
            <a:pPr algn="l"/>
            <a:r>
              <a:rPr sz="2200" b="1">
                <a:solidFill>
                  <a:srgbClr val="FFFFFF"/>
                </a:solidFill>
                <a:latin typeface="Arial"/>
              </a:rPr>
              <a:t>Fitting and timing</a:t>
            </a:r>
          </a:p>
        </p:txBody>
      </p:sp>
      <p:sp>
        <p:nvSpPr>
          <p:cNvPr id="15" name="TextBox 14"/>
          <p:cNvSpPr txBox="1"/>
          <p:nvPr/>
        </p:nvSpPr>
        <p:spPr>
          <a:xfrm>
            <a:off x="8211312" y="2862580"/>
            <a:ext cx="3383280" cy="2926080"/>
          </a:xfrm>
          <a:prstGeom prst="rect">
            <a:avLst/>
          </a:prstGeom>
          <a:noFill/>
        </p:spPr>
        <p:txBody>
          <a:bodyPr wrap="square" anchor="t" lIns="36576" rIns="36576" tIns="36576" bIns="36576">
            <a:spAutoFit/>
          </a:bodyPr>
          <a:lstStyle/>
          <a:p>
            <a:pPr algn="l"/>
            <a:r>
              <a:rPr sz="1900" b="0">
                <a:solidFill>
                  <a:srgbClr val="B4BEDC"/>
                </a:solidFill>
                <a:latin typeface="Arial"/>
              </a:rPr>
              <a:t>Nearly full: about 81k of 117k LUTs and 398 of 1,248 DSPs. And audio data has to cross into its own clock domain without glitching.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WORKSHOP TARGET</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What you should be able to do by the end</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5</a:t>
            </a:r>
          </a:p>
        </p:txBody>
      </p:sp>
      <p:sp>
        <p:nvSpPr>
          <p:cNvPr id="7" name="Rectangle 6"/>
          <p:cNvSpPr/>
          <p:nvPr/>
        </p:nvSpPr>
        <p:spPr>
          <a:xfrm>
            <a:off x="457200" y="2194560"/>
            <a:ext cx="5486400" cy="356616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331720"/>
            <a:ext cx="5212080" cy="457200"/>
          </a:xfrm>
          <a:prstGeom prst="rect">
            <a:avLst/>
          </a:prstGeom>
          <a:noFill/>
        </p:spPr>
        <p:txBody>
          <a:bodyPr wrap="square" anchor="t" lIns="36576" rIns="36576" tIns="36576" bIns="36576">
            <a:spAutoFit/>
          </a:bodyPr>
          <a:lstStyle/>
          <a:p>
            <a:pPr algn="l"/>
            <a:r>
              <a:rPr sz="2200" b="1">
                <a:solidFill>
                  <a:srgbClr val="FFFFFF"/>
                </a:solidFill>
                <a:latin typeface="Arial"/>
              </a:rPr>
              <a:t>You can repeat</a:t>
            </a:r>
          </a:p>
        </p:txBody>
      </p:sp>
      <p:sp>
        <p:nvSpPr>
          <p:cNvPr id="9" name="TextBox 8"/>
          <p:cNvSpPr txBox="1"/>
          <p:nvPr/>
        </p:nvSpPr>
        <p:spPr>
          <a:xfrm>
            <a:off x="594360" y="2862580"/>
            <a:ext cx="5212080" cy="2926080"/>
          </a:xfrm>
          <a:prstGeom prst="rect">
            <a:avLst/>
          </a:prstGeom>
          <a:noFill/>
        </p:spPr>
        <p:txBody>
          <a:bodyPr wrap="square" anchor="t" lIns="36576" rIns="36576" tIns="36576" bIns="36576">
            <a:spAutoFit/>
          </a:bodyPr>
          <a:lstStyle/>
          <a:p>
            <a:pPr algn="l"/>
            <a:r>
              <a:rPr sz="2000" b="0">
                <a:solidFill>
                  <a:srgbClr val="B4BEDC"/>
                </a:solidFill>
                <a:latin typeface="Arial"/>
              </a:rPr>
              <a:t>Write a short spec for a DSP block, get Ross to produce Vitis HLS for it, run C simulation and the HLS reports, and decide yourself if the result is good enough.</a:t>
            </a:r>
          </a:p>
        </p:txBody>
      </p:sp>
      <p:sp>
        <p:nvSpPr>
          <p:cNvPr id="10" name="Rectangle 9"/>
          <p:cNvSpPr/>
          <p:nvPr/>
        </p:nvSpPr>
        <p:spPr>
          <a:xfrm>
            <a:off x="6245352" y="2194560"/>
            <a:ext cx="5486400" cy="3566160"/>
          </a:xfrm>
          <a:prstGeom prst="rect">
            <a:avLst/>
          </a:prstGeom>
          <a:solidFill>
            <a:srgbClr val="121E4A"/>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2331720"/>
            <a:ext cx="5212080" cy="457200"/>
          </a:xfrm>
          <a:prstGeom prst="rect">
            <a:avLst/>
          </a:prstGeom>
          <a:noFill/>
        </p:spPr>
        <p:txBody>
          <a:bodyPr wrap="square" anchor="t" lIns="36576" rIns="36576" tIns="36576" bIns="36576">
            <a:spAutoFit/>
          </a:bodyPr>
          <a:lstStyle/>
          <a:p>
            <a:pPr algn="l"/>
            <a:r>
              <a:rPr sz="2200" b="1">
                <a:solidFill>
                  <a:srgbClr val="FFFFFF"/>
                </a:solidFill>
                <a:latin typeface="Arial"/>
              </a:rPr>
              <a:t>How you know it worked</a:t>
            </a:r>
          </a:p>
        </p:txBody>
      </p:sp>
      <p:sp>
        <p:nvSpPr>
          <p:cNvPr id="12" name="TextBox 11"/>
          <p:cNvSpPr txBox="1"/>
          <p:nvPr/>
        </p:nvSpPr>
        <p:spPr>
          <a:xfrm>
            <a:off x="6382512" y="2862580"/>
            <a:ext cx="5212080" cy="2926080"/>
          </a:xfrm>
          <a:prstGeom prst="rect">
            <a:avLst/>
          </a:prstGeom>
          <a:noFill/>
        </p:spPr>
        <p:txBody>
          <a:bodyPr wrap="square" anchor="t" lIns="36576" rIns="36576" tIns="36576" bIns="36576">
            <a:spAutoFit/>
          </a:bodyPr>
          <a:lstStyle/>
          <a:p>
            <a:pPr algn="l"/>
            <a:r>
              <a:rPr sz="2000" b="0">
                <a:solidFill>
                  <a:srgbClr val="B4BEDC"/>
                </a:solidFill>
                <a:latin typeface="Arial"/>
              </a:rPr>
              <a:t>C sim passes, co-sim passes, the HLS report meets the timing and cycle target, and in the full design the routed timing is met and you can hear the sound.</a:t>
            </a:r>
          </a:p>
        </p:txBody>
      </p:sp>
      <p:sp>
        <p:nvSpPr>
          <p:cNvPr id="13" name="Rounded Rectangle 12"/>
          <p:cNvSpPr/>
          <p:nvPr/>
        </p:nvSpPr>
        <p:spPr>
          <a:xfrm>
            <a:off x="6382512" y="2066543"/>
            <a:ext cx="914400" cy="256032"/>
          </a:xfrm>
          <a:prstGeom prst="round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VERIFY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PLATFORM COMPARISON</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Only a few AMD options were really in the running</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6</a:t>
            </a:r>
          </a:p>
        </p:txBody>
      </p:sp>
      <p:graphicFrame>
        <p:nvGraphicFramePr>
          <p:cNvPr id="7" name="Table 6"/>
          <p:cNvGraphicFramePr>
            <a:graphicFrameLocks noGrp="1"/>
          </p:cNvGraphicFramePr>
          <p:nvPr/>
        </p:nvGraphicFramePr>
        <p:xfrm>
          <a:off x="457200" y="2103120"/>
          <a:ext cx="11247120" cy="3840480"/>
        </p:xfrm>
        <a:graphic>
          <a:graphicData uri="http://schemas.openxmlformats.org/drawingml/2006/table">
            <a:tbl>
              <a:tblPr firstRow="1" bandRow="1">
                <a:tableStyleId>{5C22544A-7EE6-4342-B048-85BDC9FD1C3A}</a:tableStyleId>
              </a:tblPr>
              <a:tblGrid>
                <a:gridCol w="2377440"/>
                <a:gridCol w="3108960"/>
                <a:gridCol w="2926080"/>
                <a:gridCol w="2834640"/>
              </a:tblGrid>
              <a:tr h="640080">
                <a:tc>
                  <a:txBody>
                    <a:bodyPr/>
                    <a:lstStyle/>
                    <a:p>
                      <a:r>
                        <a:rPr sz="1600" b="1">
                          <a:solidFill>
                            <a:srgbClr val="0A1230"/>
                          </a:solidFill>
                          <a:latin typeface="Arial"/>
                        </a:rPr>
                        <a:t>Criterion</a:t>
                      </a:r>
                    </a:p>
                  </a:txBody>
                  <a:tcPr>
                    <a:solidFill>
                      <a:srgbClr val="2DD4F0"/>
                    </a:solidFill>
                  </a:tcPr>
                </a:tc>
                <a:tc>
                  <a:txBody>
                    <a:bodyPr/>
                    <a:lstStyle/>
                    <a:p>
                      <a:r>
                        <a:rPr sz="1600" b="1">
                          <a:solidFill>
                            <a:srgbClr val="0A1230"/>
                          </a:solidFill>
                          <a:latin typeface="Arial"/>
                        </a:rPr>
                        <a:t>Kria K26 (KV260 kit)</a:t>
                      </a:r>
                    </a:p>
                  </a:txBody>
                  <a:tcPr>
                    <a:solidFill>
                      <a:srgbClr val="2DD4F0"/>
                    </a:solidFill>
                  </a:tcPr>
                </a:tc>
                <a:tc>
                  <a:txBody>
                    <a:bodyPr/>
                    <a:lstStyle/>
                    <a:p>
                      <a:r>
                        <a:rPr sz="1600" b="1">
                          <a:solidFill>
                            <a:srgbClr val="0A1230"/>
                          </a:solidFill>
                          <a:latin typeface="Arial"/>
                        </a:rPr>
                        <a:t>Kria K24 (KD240 kit)</a:t>
                      </a:r>
                    </a:p>
                  </a:txBody>
                  <a:tcPr>
                    <a:solidFill>
                      <a:srgbClr val="2DD4F0"/>
                    </a:solidFill>
                  </a:tcPr>
                </a:tc>
                <a:tc>
                  <a:txBody>
                    <a:bodyPr/>
                    <a:lstStyle/>
                    <a:p>
                      <a:r>
                        <a:rPr sz="1600" b="1">
                          <a:solidFill>
                            <a:srgbClr val="0A1230"/>
                          </a:solidFill>
                          <a:latin typeface="Arial"/>
                        </a:rPr>
                        <a:t>Kria AI SOM</a:t>
                      </a:r>
                    </a:p>
                  </a:txBody>
                  <a:tcPr>
                    <a:solidFill>
                      <a:srgbClr val="2DD4F0"/>
                    </a:solidFill>
                  </a:tcPr>
                </a:tc>
              </a:tr>
              <a:tr h="640080">
                <a:tc>
                  <a:txBody>
                    <a:bodyPr/>
                    <a:lstStyle/>
                    <a:p>
                      <a:r>
                        <a:rPr sz="1600" b="1">
                          <a:solidFill>
                            <a:srgbClr val="FFFFFF"/>
                          </a:solidFill>
                          <a:latin typeface="Arial"/>
                        </a:rPr>
                        <a:t>Programmable logic</a:t>
                      </a:r>
                    </a:p>
                  </a:txBody>
                  <a:tcPr>
                    <a:solidFill>
                      <a:srgbClr val="121E4A"/>
                    </a:solidFill>
                  </a:tcPr>
                </a:tc>
                <a:tc>
                  <a:txBody>
                    <a:bodyPr/>
                    <a:lstStyle/>
                    <a:p>
                      <a:r>
                        <a:rPr sz="1600" b="0">
                          <a:solidFill>
                            <a:srgbClr val="FFFFFF"/>
                          </a:solidFill>
                          <a:latin typeface="Arial"/>
                        </a:rPr>
                        <a:t>Large, MPSoC with fabric</a:t>
                      </a:r>
                    </a:p>
                  </a:txBody>
                  <a:tcPr>
                    <a:solidFill>
                      <a:srgbClr val="1A2A66"/>
                    </a:solidFill>
                  </a:tcPr>
                </a:tc>
                <a:tc>
                  <a:txBody>
                    <a:bodyPr/>
                    <a:lstStyle/>
                    <a:p>
                      <a:r>
                        <a:rPr sz="1600" b="0">
                          <a:solidFill>
                            <a:srgbClr val="FFFFFF"/>
                          </a:solidFill>
                          <a:latin typeface="Arial"/>
                        </a:rPr>
                        <a:t>Smaller fabric (check)</a:t>
                      </a:r>
                    </a:p>
                  </a:txBody>
                  <a:tcPr>
                    <a:solidFill>
                      <a:srgbClr val="121E4A"/>
                    </a:solidFill>
                  </a:tcPr>
                </a:tc>
                <a:tc>
                  <a:txBody>
                    <a:bodyPr/>
                    <a:lstStyle/>
                    <a:p>
                      <a:r>
                        <a:rPr sz="1600" b="0">
                          <a:solidFill>
                            <a:srgbClr val="FFFFFF"/>
                          </a:solidFill>
                          <a:latin typeface="Arial"/>
                        </a:rPr>
                        <a:t>Not what it is for</a:t>
                      </a:r>
                    </a:p>
                  </a:txBody>
                  <a:tcPr>
                    <a:solidFill>
                      <a:srgbClr val="121E4A"/>
                    </a:solidFill>
                  </a:tcPr>
                </a:tc>
              </a:tr>
              <a:tr h="640080">
                <a:tc>
                  <a:txBody>
                    <a:bodyPr/>
                    <a:lstStyle/>
                    <a:p>
                      <a:r>
                        <a:rPr sz="1600" b="1">
                          <a:solidFill>
                            <a:srgbClr val="FFFFFF"/>
                          </a:solidFill>
                          <a:latin typeface="Arial"/>
                        </a:rPr>
                        <a:t>Runs Linux + ARM cores</a:t>
                      </a:r>
                    </a:p>
                  </a:txBody>
                  <a:tcPr>
                    <a:solidFill>
                      <a:srgbClr val="121E4A"/>
                    </a:solidFill>
                  </a:tcPr>
                </a:tc>
                <a:tc>
                  <a:txBody>
                    <a:bodyPr/>
                    <a:lstStyle/>
                    <a:p>
                      <a:r>
                        <a:rPr sz="1600" b="0">
                          <a:solidFill>
                            <a:srgbClr val="FFFFFF"/>
                          </a:solidFill>
                          <a:latin typeface="Arial"/>
                        </a:rPr>
                        <a:t>Yes</a:t>
                      </a:r>
                    </a:p>
                  </a:txBody>
                  <a:tcPr>
                    <a:solidFill>
                      <a:srgbClr val="1A2A66"/>
                    </a:solidFill>
                  </a:tcPr>
                </a:tc>
                <a:tc>
                  <a:txBody>
                    <a:bodyPr/>
                    <a:lstStyle/>
                    <a:p>
                      <a:r>
                        <a:rPr sz="1600" b="0">
                          <a:solidFill>
                            <a:srgbClr val="FFFFFF"/>
                          </a:solidFill>
                          <a:latin typeface="Arial"/>
                        </a:rPr>
                        <a:t>Yes</a:t>
                      </a:r>
                    </a:p>
                  </a:txBody>
                  <a:tcPr>
                    <a:solidFill>
                      <a:srgbClr val="121E4A"/>
                    </a:solidFill>
                  </a:tcPr>
                </a:tc>
                <a:tc>
                  <a:txBody>
                    <a:bodyPr/>
                    <a:lstStyle/>
                    <a:p>
                      <a:r>
                        <a:rPr sz="1600" b="0">
                          <a:solidFill>
                            <a:srgbClr val="FFFFFF"/>
                          </a:solidFill>
                          <a:latin typeface="Arial"/>
                        </a:rPr>
                        <a:t>Yes (x86)</a:t>
                      </a:r>
                    </a:p>
                  </a:txBody>
                  <a:tcPr>
                    <a:solidFill>
                      <a:srgbClr val="121E4A"/>
                    </a:solidFill>
                  </a:tcPr>
                </a:tc>
              </a:tr>
              <a:tr h="640080">
                <a:tc>
                  <a:txBody>
                    <a:bodyPr/>
                    <a:lstStyle/>
                    <a:p>
                      <a:r>
                        <a:rPr sz="1600" b="1">
                          <a:solidFill>
                            <a:srgbClr val="FFFFFF"/>
                          </a:solidFill>
                          <a:latin typeface="Arial"/>
                        </a:rPr>
                        <a:t>Easy audio output</a:t>
                      </a:r>
                    </a:p>
                  </a:txBody>
                  <a:tcPr>
                    <a:solidFill>
                      <a:srgbClr val="121E4A"/>
                    </a:solidFill>
                  </a:tcPr>
                </a:tc>
                <a:tc>
                  <a:txBody>
                    <a:bodyPr/>
                    <a:lstStyle/>
                    <a:p>
                      <a:r>
                        <a:rPr sz="1600" b="0">
                          <a:solidFill>
                            <a:srgbClr val="FFFFFF"/>
                          </a:solidFill>
                          <a:latin typeface="Arial"/>
                        </a:rPr>
                        <a:t>Pmod header on the kit</a:t>
                      </a:r>
                    </a:p>
                  </a:txBody>
                  <a:tcPr>
                    <a:solidFill>
                      <a:srgbClr val="1A2A66"/>
                    </a:solidFill>
                  </a:tcPr>
                </a:tc>
                <a:tc>
                  <a:txBody>
                    <a:bodyPr/>
                    <a:lstStyle/>
                    <a:p>
                      <a:r>
                        <a:rPr sz="1600" b="0">
                          <a:solidFill>
                            <a:srgbClr val="FFFFFF"/>
                          </a:solidFill>
                          <a:latin typeface="Arial"/>
                        </a:rPr>
                        <a:t>Different kit I/O</a:t>
                      </a:r>
                    </a:p>
                  </a:txBody>
                  <a:tcPr>
                    <a:solidFill>
                      <a:srgbClr val="121E4A"/>
                    </a:solidFill>
                  </a:tcPr>
                </a:tc>
                <a:tc>
                  <a:txBody>
                    <a:bodyPr/>
                    <a:lstStyle/>
                    <a:p>
                      <a:r>
                        <a:rPr sz="1600" b="0">
                          <a:solidFill>
                            <a:srgbClr val="FFFFFF"/>
                          </a:solidFill>
                          <a:latin typeface="Arial"/>
                        </a:rPr>
                        <a:t>Different kit I/O</a:t>
                      </a:r>
                    </a:p>
                  </a:txBody>
                  <a:tcPr>
                    <a:solidFill>
                      <a:srgbClr val="121E4A"/>
                    </a:solidFill>
                  </a:tcPr>
                </a:tc>
              </a:tr>
              <a:tr h="640080">
                <a:tc>
                  <a:txBody>
                    <a:bodyPr/>
                    <a:lstStyle/>
                    <a:p>
                      <a:r>
                        <a:rPr sz="1600" b="1">
                          <a:solidFill>
                            <a:srgbClr val="FFFFFF"/>
                          </a:solidFill>
                          <a:latin typeface="Arial"/>
                        </a:rPr>
                        <a:t>Dev support</a:t>
                      </a:r>
                    </a:p>
                  </a:txBody>
                  <a:tcPr>
                    <a:solidFill>
                      <a:srgbClr val="121E4A"/>
                    </a:solidFill>
                  </a:tcPr>
                </a:tc>
                <a:tc>
                  <a:txBody>
                    <a:bodyPr/>
                    <a:lstStyle/>
                    <a:p>
                      <a:r>
                        <a:rPr sz="1600" b="0">
                          <a:solidFill>
                            <a:srgbClr val="FFFFFF"/>
                          </a:solidFill>
                          <a:latin typeface="Arial"/>
                        </a:rPr>
                        <a:t>Starter kit, EDF/Ubuntu, Vivado + Vitis</a:t>
                      </a:r>
                    </a:p>
                  </a:txBody>
                  <a:tcPr>
                    <a:solidFill>
                      <a:srgbClr val="1A2A66"/>
                    </a:solidFill>
                  </a:tcPr>
                </a:tc>
                <a:tc>
                  <a:txBody>
                    <a:bodyPr/>
                    <a:lstStyle/>
                    <a:p>
                      <a:r>
                        <a:rPr sz="1600" b="0">
                          <a:solidFill>
                            <a:srgbClr val="FFFFFF"/>
                          </a:solidFill>
                          <a:latin typeface="Arial"/>
                        </a:rPr>
                        <a:t>Starter kit, same tools</a:t>
                      </a:r>
                    </a:p>
                  </a:txBody>
                  <a:tcPr>
                    <a:solidFill>
                      <a:srgbClr val="121E4A"/>
                    </a:solidFill>
                  </a:tcPr>
                </a:tc>
                <a:tc>
                  <a:txBody>
                    <a:bodyPr/>
                    <a:lstStyle/>
                    <a:p>
                      <a:r>
                        <a:rPr sz="1600" b="0">
                          <a:solidFill>
                            <a:srgbClr val="FFFFFF"/>
                          </a:solidFill>
                          <a:latin typeface="Arial"/>
                        </a:rPr>
                        <a:t>New, still ramping</a:t>
                      </a:r>
                    </a:p>
                  </a:txBody>
                  <a:tcPr>
                    <a:solidFill>
                      <a:srgbClr val="121E4A"/>
                    </a:solidFill>
                  </a:tcPr>
                </a:tc>
              </a:tr>
              <a:tr h="640080">
                <a:tc>
                  <a:txBody>
                    <a:bodyPr/>
                    <a:lstStyle/>
                    <a:p>
                      <a:r>
                        <a:rPr sz="1600" b="1">
                          <a:solidFill>
                            <a:srgbClr val="FFFFFF"/>
                          </a:solidFill>
                          <a:latin typeface="Arial"/>
                        </a:rPr>
                        <a:t>Fits this design</a:t>
                      </a:r>
                    </a:p>
                  </a:txBody>
                  <a:tcPr>
                    <a:solidFill>
                      <a:srgbClr val="121E4A"/>
                    </a:solidFill>
                  </a:tcPr>
                </a:tc>
                <a:tc>
                  <a:txBody>
                    <a:bodyPr/>
                    <a:lstStyle/>
                    <a:p>
                      <a:r>
                        <a:rPr sz="1600" b="0">
                          <a:solidFill>
                            <a:srgbClr val="FFFFFF"/>
                          </a:solidFill>
                          <a:latin typeface="Arial"/>
                        </a:rPr>
                        <a:t>Yes (81k LUTs used)</a:t>
                      </a:r>
                    </a:p>
                  </a:txBody>
                  <a:tcPr>
                    <a:solidFill>
                      <a:srgbClr val="1A2A66"/>
                    </a:solidFill>
                  </a:tcPr>
                </a:tc>
                <a:tc>
                  <a:txBody>
                    <a:bodyPr/>
                    <a:lstStyle/>
                    <a:p>
                      <a:r>
                        <a:rPr sz="1600" b="0">
                          <a:solidFill>
                            <a:srgbClr val="FFFFFF"/>
                          </a:solidFill>
                          <a:latin typeface="Arial"/>
                        </a:rPr>
                        <a:t>Needs checking</a:t>
                      </a:r>
                    </a:p>
                  </a:txBody>
                  <a:tcPr>
                    <a:solidFill>
                      <a:srgbClr val="121E4A"/>
                    </a:solidFill>
                  </a:tcPr>
                </a:tc>
                <a:tc>
                  <a:txBody>
                    <a:bodyPr/>
                    <a:lstStyle/>
                    <a:p>
                      <a:r>
                        <a:rPr sz="1600" b="0">
                          <a:solidFill>
                            <a:srgbClr val="FFFFFF"/>
                          </a:solidFill>
                          <a:latin typeface="Arial"/>
                        </a:rPr>
                        <a:t>No fabric to fit it in</a:t>
                      </a:r>
                    </a:p>
                  </a:txBody>
                  <a:tcPr>
                    <a:solidFill>
                      <a:srgbClr val="121E4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PLATFORM DECISION</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KV260 it is: enough fabric, Linux, and a header for the DAC</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7</a:t>
            </a:r>
          </a:p>
        </p:txBody>
      </p:sp>
      <p:sp>
        <p:nvSpPr>
          <p:cNvPr id="7" name="Rectangle 6"/>
          <p:cNvSpPr/>
          <p:nvPr/>
        </p:nvSpPr>
        <p:spPr>
          <a:xfrm>
            <a:off x="457200" y="2194560"/>
            <a:ext cx="5486400" cy="365760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066543"/>
            <a:ext cx="914400" cy="256032"/>
          </a:xfrm>
          <a:prstGeom prst="roundRect">
            <a:avLst/>
          </a:prstGeom>
          <a:solidFill>
            <a:srgbClr val="2DD4F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PLATFORM</a:t>
            </a:r>
          </a:p>
        </p:txBody>
      </p:sp>
      <p:sp>
        <p:nvSpPr>
          <p:cNvPr id="9" name="TextBox 8"/>
          <p:cNvSpPr txBox="1"/>
          <p:nvPr/>
        </p:nvSpPr>
        <p:spPr>
          <a:xfrm>
            <a:off x="594360" y="2331720"/>
            <a:ext cx="5212080" cy="457200"/>
          </a:xfrm>
          <a:prstGeom prst="rect">
            <a:avLst/>
          </a:prstGeom>
          <a:noFill/>
        </p:spPr>
        <p:txBody>
          <a:bodyPr wrap="square" anchor="t" lIns="36576" rIns="36576" tIns="36576" bIns="36576">
            <a:spAutoFit/>
          </a:bodyPr>
          <a:lstStyle/>
          <a:p>
            <a:pPr algn="l"/>
            <a:r>
              <a:rPr sz="2000" b="1">
                <a:solidFill>
                  <a:srgbClr val="FFFFFF"/>
                </a:solidFill>
                <a:latin typeface="Arial"/>
              </a:rPr>
              <a:t>Why K26 / KV260</a:t>
            </a:r>
          </a:p>
        </p:txBody>
      </p:sp>
      <p:sp>
        <p:nvSpPr>
          <p:cNvPr id="10" name="TextBox 9"/>
          <p:cNvSpPr txBox="1"/>
          <p:nvPr/>
        </p:nvSpPr>
        <p:spPr>
          <a:xfrm>
            <a:off x="594360" y="2814319"/>
            <a:ext cx="5212080" cy="3017520"/>
          </a:xfrm>
          <a:prstGeom prst="rect">
            <a:avLst/>
          </a:prstGeom>
          <a:noFill/>
        </p:spPr>
        <p:txBody>
          <a:bodyPr wrap="square" anchor="t" lIns="36576" rIns="36576" tIns="36576" bIns="36576">
            <a:spAutoFit/>
          </a:bodyPr>
          <a:lstStyle/>
          <a:p>
            <a:pPr algn="l"/>
            <a:r>
              <a:rPr sz="1900" b="0">
                <a:solidFill>
                  <a:srgbClr val="B4BEDC"/>
                </a:solidFill>
                <a:latin typeface="Arial"/>
              </a:rPr>
              <a:t>- Fabric big enough for 4 HLS voice lanes plus reverb
- Arm cores run Linux and the MIDI/control process
- Pmod header J2 takes an I2S DAC with no extra board
- Starter kit and documented tools, so it is reproducible</a:t>
            </a:r>
          </a:p>
        </p:txBody>
      </p:sp>
      <p:sp>
        <p:nvSpPr>
          <p:cNvPr id="11" name="Rectangle 10"/>
          <p:cNvSpPr/>
          <p:nvPr/>
        </p:nvSpPr>
        <p:spPr>
          <a:xfrm>
            <a:off x="6245352" y="2194560"/>
            <a:ext cx="5486400" cy="365760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331720"/>
            <a:ext cx="5212080" cy="457200"/>
          </a:xfrm>
          <a:prstGeom prst="rect">
            <a:avLst/>
          </a:prstGeom>
          <a:noFill/>
        </p:spPr>
        <p:txBody>
          <a:bodyPr wrap="square" anchor="t" lIns="36576" rIns="36576" tIns="36576" bIns="36576">
            <a:spAutoFit/>
          </a:bodyPr>
          <a:lstStyle/>
          <a:p>
            <a:pPr algn="l"/>
            <a:r>
              <a:rPr sz="2000" b="1">
                <a:solidFill>
                  <a:srgbClr val="FFFFFF"/>
                </a:solidFill>
                <a:latin typeface="Arial"/>
              </a:rPr>
              <a:t>Trade-offs</a:t>
            </a:r>
          </a:p>
        </p:txBody>
      </p:sp>
      <p:sp>
        <p:nvSpPr>
          <p:cNvPr id="13" name="TextBox 12"/>
          <p:cNvSpPr txBox="1"/>
          <p:nvPr/>
        </p:nvSpPr>
        <p:spPr>
          <a:xfrm>
            <a:off x="6382512" y="2814319"/>
            <a:ext cx="5212080" cy="3017520"/>
          </a:xfrm>
          <a:prstGeom prst="rect">
            <a:avLst/>
          </a:prstGeom>
          <a:noFill/>
        </p:spPr>
        <p:txBody>
          <a:bodyPr wrap="square" anchor="t" lIns="36576" rIns="36576" tIns="36576" bIns="36576">
            <a:spAutoFit/>
          </a:bodyPr>
          <a:lstStyle/>
          <a:p>
            <a:pPr algn="l"/>
            <a:r>
              <a:rPr sz="1900" b="0">
                <a:solidFill>
                  <a:srgbClr val="B4BEDC"/>
                </a:solidFill>
                <a:latin typeface="Arial"/>
              </a:rPr>
              <a:t>- Uses most of the device (about 14.2k of 14.6k CLBs occupied)
- Timing is tight-ish: setup slack +0.828 ns, hold +0.010 ns
- Audio clock about +19.3 ppm off, we accepted that
- Not low power-optimised, that was not the goal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TOOLCHAIN</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Each tool has one job in the flow</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8</a:t>
            </a:r>
          </a:p>
        </p:txBody>
      </p:sp>
      <p:sp>
        <p:nvSpPr>
          <p:cNvPr id="7" name="Rectangle 6"/>
          <p:cNvSpPr/>
          <p:nvPr/>
        </p:nvSpPr>
        <p:spPr>
          <a:xfrm>
            <a:off x="457200" y="2194560"/>
            <a:ext cx="2743200" cy="3474720"/>
          </a:xfrm>
          <a:prstGeom prst="rect">
            <a:avLst/>
          </a:prstGeom>
          <a:solidFill>
            <a:srgbClr val="121E4A"/>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066543"/>
            <a:ext cx="914400" cy="256032"/>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TOOL</a:t>
            </a:r>
          </a:p>
        </p:txBody>
      </p:sp>
      <p:sp>
        <p:nvSpPr>
          <p:cNvPr id="9" name="TextBox 8"/>
          <p:cNvSpPr txBox="1"/>
          <p:nvPr/>
        </p:nvSpPr>
        <p:spPr>
          <a:xfrm>
            <a:off x="594360" y="2331720"/>
            <a:ext cx="2468880" cy="457200"/>
          </a:xfrm>
          <a:prstGeom prst="rect">
            <a:avLst/>
          </a:prstGeom>
          <a:noFill/>
        </p:spPr>
        <p:txBody>
          <a:bodyPr wrap="square" anchor="t" lIns="36576" rIns="36576" tIns="36576" bIns="36576">
            <a:spAutoFit/>
          </a:bodyPr>
          <a:lstStyle/>
          <a:p>
            <a:pPr algn="l"/>
            <a:r>
              <a:rPr sz="1900" b="1">
                <a:solidFill>
                  <a:srgbClr val="FFFFFF"/>
                </a:solidFill>
                <a:latin typeface="Arial"/>
              </a:rPr>
              <a:t>Vitis HLS</a:t>
            </a:r>
          </a:p>
        </p:txBody>
      </p:sp>
      <p:sp>
        <p:nvSpPr>
          <p:cNvPr id="10" name="TextBox 9"/>
          <p:cNvSpPr txBox="1"/>
          <p:nvPr/>
        </p:nvSpPr>
        <p:spPr>
          <a:xfrm>
            <a:off x="594360" y="2790190"/>
            <a:ext cx="2468880" cy="2834639"/>
          </a:xfrm>
          <a:prstGeom prst="rect">
            <a:avLst/>
          </a:prstGeom>
          <a:noFill/>
        </p:spPr>
        <p:txBody>
          <a:bodyPr wrap="square" anchor="t" lIns="36576" rIns="36576" tIns="36576" bIns="36576">
            <a:spAutoFit/>
          </a:bodyPr>
          <a:lstStyle/>
          <a:p>
            <a:pPr algn="l"/>
            <a:r>
              <a:rPr sz="1800" b="0">
                <a:solidFill>
                  <a:srgbClr val="B4BEDC"/>
                </a:solidFill>
                <a:latin typeface="Arial"/>
              </a:rPr>
              <a:t>C++ DSP to logic. C sim, synthesis, co-sim, estimates.</a:t>
            </a:r>
          </a:p>
        </p:txBody>
      </p:sp>
      <p:sp>
        <p:nvSpPr>
          <p:cNvPr id="11" name="Rectangle 10"/>
          <p:cNvSpPr/>
          <p:nvPr/>
        </p:nvSpPr>
        <p:spPr>
          <a:xfrm>
            <a:off x="3447288" y="2194560"/>
            <a:ext cx="2743200" cy="3474720"/>
          </a:xfrm>
          <a:prstGeom prst="rect">
            <a:avLst/>
          </a:prstGeom>
          <a:solidFill>
            <a:srgbClr val="121E4A"/>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84448" y="2066543"/>
            <a:ext cx="914400" cy="256032"/>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TOOL</a:t>
            </a:r>
          </a:p>
        </p:txBody>
      </p:sp>
      <p:sp>
        <p:nvSpPr>
          <p:cNvPr id="13" name="TextBox 12"/>
          <p:cNvSpPr txBox="1"/>
          <p:nvPr/>
        </p:nvSpPr>
        <p:spPr>
          <a:xfrm>
            <a:off x="3584448" y="2331720"/>
            <a:ext cx="2468880" cy="457200"/>
          </a:xfrm>
          <a:prstGeom prst="rect">
            <a:avLst/>
          </a:prstGeom>
          <a:noFill/>
        </p:spPr>
        <p:txBody>
          <a:bodyPr wrap="square" anchor="t" lIns="36576" rIns="36576" tIns="36576" bIns="36576">
            <a:spAutoFit/>
          </a:bodyPr>
          <a:lstStyle/>
          <a:p>
            <a:pPr algn="l"/>
            <a:r>
              <a:rPr sz="1900" b="1">
                <a:solidFill>
                  <a:srgbClr val="FFFFFF"/>
                </a:solidFill>
                <a:latin typeface="Arial"/>
              </a:rPr>
              <a:t>Vivado</a:t>
            </a:r>
          </a:p>
        </p:txBody>
      </p:sp>
      <p:sp>
        <p:nvSpPr>
          <p:cNvPr id="14" name="TextBox 13"/>
          <p:cNvSpPr txBox="1"/>
          <p:nvPr/>
        </p:nvSpPr>
        <p:spPr>
          <a:xfrm>
            <a:off x="3584448" y="2790190"/>
            <a:ext cx="2468880" cy="2834639"/>
          </a:xfrm>
          <a:prstGeom prst="rect">
            <a:avLst/>
          </a:prstGeom>
          <a:noFill/>
        </p:spPr>
        <p:txBody>
          <a:bodyPr wrap="square" anchor="t" lIns="36576" rIns="36576" tIns="36576" bIns="36576">
            <a:spAutoFit/>
          </a:bodyPr>
          <a:lstStyle/>
          <a:p>
            <a:pPr algn="l"/>
            <a:r>
              <a:rPr sz="1800" b="0">
                <a:solidFill>
                  <a:srgbClr val="B4BEDC"/>
                </a:solidFill>
                <a:latin typeface="Arial"/>
              </a:rPr>
              <a:t>Block design, build, routed timing and utilisation, bitstream.</a:t>
            </a:r>
          </a:p>
        </p:txBody>
      </p:sp>
      <p:sp>
        <p:nvSpPr>
          <p:cNvPr id="15" name="Rectangle 14"/>
          <p:cNvSpPr/>
          <p:nvPr/>
        </p:nvSpPr>
        <p:spPr>
          <a:xfrm>
            <a:off x="6428232" y="2194560"/>
            <a:ext cx="2743200" cy="347472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65392" y="2066543"/>
            <a:ext cx="914400" cy="256032"/>
          </a:xfrm>
          <a:prstGeom prst="roundRect">
            <a:avLst/>
          </a:prstGeom>
          <a:solidFill>
            <a:srgbClr val="2DD4F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PLATFORM</a:t>
            </a:r>
          </a:p>
        </p:txBody>
      </p:sp>
      <p:sp>
        <p:nvSpPr>
          <p:cNvPr id="17" name="TextBox 16"/>
          <p:cNvSpPr txBox="1"/>
          <p:nvPr/>
        </p:nvSpPr>
        <p:spPr>
          <a:xfrm>
            <a:off x="6565392" y="2331720"/>
            <a:ext cx="2468880" cy="457200"/>
          </a:xfrm>
          <a:prstGeom prst="rect">
            <a:avLst/>
          </a:prstGeom>
          <a:noFill/>
        </p:spPr>
        <p:txBody>
          <a:bodyPr wrap="square" anchor="t" lIns="36576" rIns="36576" tIns="36576" bIns="36576">
            <a:spAutoFit/>
          </a:bodyPr>
          <a:lstStyle/>
          <a:p>
            <a:pPr algn="l"/>
            <a:r>
              <a:rPr sz="1900" b="1">
                <a:solidFill>
                  <a:srgbClr val="FFFFFF"/>
                </a:solidFill>
                <a:latin typeface="Arial"/>
              </a:rPr>
              <a:t>Ubuntu, then EDF</a:t>
            </a:r>
          </a:p>
        </p:txBody>
      </p:sp>
      <p:sp>
        <p:nvSpPr>
          <p:cNvPr id="18" name="TextBox 17"/>
          <p:cNvSpPr txBox="1"/>
          <p:nvPr/>
        </p:nvSpPr>
        <p:spPr>
          <a:xfrm>
            <a:off x="6565392" y="2790190"/>
            <a:ext cx="2468880" cy="2834639"/>
          </a:xfrm>
          <a:prstGeom prst="rect">
            <a:avLst/>
          </a:prstGeom>
          <a:noFill/>
        </p:spPr>
        <p:txBody>
          <a:bodyPr wrap="square" anchor="t" lIns="36576" rIns="36576" tIns="36576" bIns="36576">
            <a:spAutoFit/>
          </a:bodyPr>
          <a:lstStyle/>
          <a:p>
            <a:pPr algn="l"/>
            <a:r>
              <a:rPr sz="1800" b="0">
                <a:solidFill>
                  <a:srgbClr val="B4BEDC"/>
                </a:solidFill>
                <a:latin typeface="Arial"/>
              </a:rPr>
              <a:t>Developed on AMD Ubuntu 24.04. EDF 25.11 later packaged the accepted build.</a:t>
            </a:r>
          </a:p>
        </p:txBody>
      </p:sp>
      <p:sp>
        <p:nvSpPr>
          <p:cNvPr id="19" name="Rectangle 18"/>
          <p:cNvSpPr/>
          <p:nvPr/>
        </p:nvSpPr>
        <p:spPr>
          <a:xfrm>
            <a:off x="9418320" y="2194560"/>
            <a:ext cx="2331720" cy="3474720"/>
          </a:xfrm>
          <a:prstGeom prst="rect">
            <a:avLst/>
          </a:prstGeom>
          <a:solidFill>
            <a:srgbClr val="121E4A"/>
          </a:solidFill>
          <a:ln w="19050">
            <a:solidFill>
              <a:srgbClr val="F45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555480" y="2066543"/>
            <a:ext cx="914400" cy="256032"/>
          </a:xfrm>
          <a:prstGeom prst="roundRect">
            <a:avLst/>
          </a:prstGeom>
          <a:solidFill>
            <a:srgbClr val="F45CB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ROSS</a:t>
            </a:r>
          </a:p>
        </p:txBody>
      </p:sp>
      <p:sp>
        <p:nvSpPr>
          <p:cNvPr id="21" name="TextBox 20"/>
          <p:cNvSpPr txBox="1"/>
          <p:nvPr/>
        </p:nvSpPr>
        <p:spPr>
          <a:xfrm>
            <a:off x="9555480" y="2331720"/>
            <a:ext cx="2057400" cy="457200"/>
          </a:xfrm>
          <a:prstGeom prst="rect">
            <a:avLst/>
          </a:prstGeom>
          <a:noFill/>
        </p:spPr>
        <p:txBody>
          <a:bodyPr wrap="square" anchor="t" lIns="36576" rIns="36576" tIns="36576" bIns="36576">
            <a:spAutoFit/>
          </a:bodyPr>
          <a:lstStyle/>
          <a:p>
            <a:pPr algn="l"/>
            <a:r>
              <a:rPr sz="1900" b="1">
                <a:solidFill>
                  <a:srgbClr val="FFFFFF"/>
                </a:solidFill>
                <a:latin typeface="Arial"/>
              </a:rPr>
              <a:t>Ross</a:t>
            </a:r>
          </a:p>
        </p:txBody>
      </p:sp>
      <p:sp>
        <p:nvSpPr>
          <p:cNvPr id="22" name="TextBox 21"/>
          <p:cNvSpPr txBox="1"/>
          <p:nvPr/>
        </p:nvSpPr>
        <p:spPr>
          <a:xfrm>
            <a:off x="9555480" y="2790190"/>
            <a:ext cx="2057400" cy="2834639"/>
          </a:xfrm>
          <a:prstGeom prst="rect">
            <a:avLst/>
          </a:prstGeom>
          <a:noFill/>
        </p:spPr>
        <p:txBody>
          <a:bodyPr wrap="square" anchor="t" lIns="36576" rIns="36576" tIns="36576" bIns="36576">
            <a:spAutoFit/>
          </a:bodyPr>
          <a:lstStyle/>
          <a:p>
            <a:pPr algn="l"/>
            <a:r>
              <a:rPr sz="1800" b="0">
                <a:solidFill>
                  <a:srgbClr val="B4BEDC"/>
                </a:solidFill>
                <a:latin typeface="Arial"/>
              </a:rPr>
              <a:t>Drives the tools, writes and edits sources, reads reports.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ROSS AND HUMAN REVIEW</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Ross does the legwork, the engineer decides what counts</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9</a:t>
            </a:r>
          </a:p>
        </p:txBody>
      </p:sp>
      <p:sp>
        <p:nvSpPr>
          <p:cNvPr id="7" name="Rectangle 6"/>
          <p:cNvSpPr/>
          <p:nvPr/>
        </p:nvSpPr>
        <p:spPr>
          <a:xfrm>
            <a:off x="457200" y="2194560"/>
            <a:ext cx="5486400" cy="3657600"/>
          </a:xfrm>
          <a:prstGeom prst="rect">
            <a:avLst/>
          </a:prstGeom>
          <a:solidFill>
            <a:srgbClr val="121E4A"/>
          </a:solidFill>
          <a:ln w="19050">
            <a:solidFill>
              <a:srgbClr val="F45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066543"/>
            <a:ext cx="914400" cy="256032"/>
          </a:xfrm>
          <a:prstGeom prst="roundRect">
            <a:avLst/>
          </a:prstGeom>
          <a:solidFill>
            <a:srgbClr val="F45CB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ROSS</a:t>
            </a:r>
          </a:p>
        </p:txBody>
      </p:sp>
      <p:sp>
        <p:nvSpPr>
          <p:cNvPr id="9" name="TextBox 8"/>
          <p:cNvSpPr txBox="1"/>
          <p:nvPr/>
        </p:nvSpPr>
        <p:spPr>
          <a:xfrm>
            <a:off x="594360" y="2331720"/>
            <a:ext cx="5212080" cy="457200"/>
          </a:xfrm>
          <a:prstGeom prst="rect">
            <a:avLst/>
          </a:prstGeom>
          <a:noFill/>
        </p:spPr>
        <p:txBody>
          <a:bodyPr wrap="square" anchor="t" lIns="36576" rIns="36576" tIns="36576" bIns="36576">
            <a:spAutoFit/>
          </a:bodyPr>
          <a:lstStyle/>
          <a:p>
            <a:pPr algn="l"/>
            <a:r>
              <a:rPr sz="2000" b="1">
                <a:solidFill>
                  <a:srgbClr val="FFFFFF"/>
                </a:solidFill>
                <a:latin typeface="Arial"/>
              </a:rPr>
              <a:t>Ross can help with</a:t>
            </a:r>
          </a:p>
        </p:txBody>
      </p:sp>
      <p:sp>
        <p:nvSpPr>
          <p:cNvPr id="10" name="TextBox 9"/>
          <p:cNvSpPr txBox="1"/>
          <p:nvPr/>
        </p:nvSpPr>
        <p:spPr>
          <a:xfrm>
            <a:off x="594360" y="2814319"/>
            <a:ext cx="5212080" cy="3017520"/>
          </a:xfrm>
          <a:prstGeom prst="rect">
            <a:avLst/>
          </a:prstGeom>
          <a:noFill/>
        </p:spPr>
        <p:txBody>
          <a:bodyPr wrap="square" anchor="t" lIns="36576" rIns="36576" tIns="36576" bIns="36576">
            <a:spAutoFit/>
          </a:bodyPr>
          <a:lstStyle/>
          <a:p>
            <a:pPr algn="l"/>
            <a:r>
              <a:rPr sz="1900" b="0">
                <a:solidFill>
                  <a:srgbClr val="B4BEDC"/>
                </a:solidFill>
                <a:latin typeface="Arial"/>
              </a:rPr>
              <a:t>- Exploring options and reading reports
- Writing and editing the HLS and control code
- Running the tools and reading back results
- Working out why something failed</a:t>
            </a:r>
          </a:p>
        </p:txBody>
      </p:sp>
      <p:sp>
        <p:nvSpPr>
          <p:cNvPr id="11" name="Rectangle 10"/>
          <p:cNvSpPr/>
          <p:nvPr/>
        </p:nvSpPr>
        <p:spPr>
          <a:xfrm>
            <a:off x="6245352" y="2194560"/>
            <a:ext cx="5486400" cy="365760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82512" y="2066543"/>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13" name="TextBox 12"/>
          <p:cNvSpPr txBox="1"/>
          <p:nvPr/>
        </p:nvSpPr>
        <p:spPr>
          <a:xfrm>
            <a:off x="6382512" y="2331720"/>
            <a:ext cx="5212080" cy="457200"/>
          </a:xfrm>
          <a:prstGeom prst="rect">
            <a:avLst/>
          </a:prstGeom>
          <a:noFill/>
        </p:spPr>
        <p:txBody>
          <a:bodyPr wrap="square" anchor="t" lIns="36576" rIns="36576" tIns="36576" bIns="36576">
            <a:spAutoFit/>
          </a:bodyPr>
          <a:lstStyle/>
          <a:p>
            <a:pPr algn="l"/>
            <a:r>
              <a:rPr sz="2000" b="1">
                <a:solidFill>
                  <a:srgbClr val="FFFFFF"/>
                </a:solidFill>
                <a:latin typeface="Arial"/>
              </a:rPr>
              <a:t>The engineer still checks</a:t>
            </a:r>
          </a:p>
        </p:txBody>
      </p:sp>
      <p:sp>
        <p:nvSpPr>
          <p:cNvPr id="14" name="TextBox 13"/>
          <p:cNvSpPr txBox="1"/>
          <p:nvPr/>
        </p:nvSpPr>
        <p:spPr>
          <a:xfrm>
            <a:off x="6382512" y="2814319"/>
            <a:ext cx="5212080" cy="3017520"/>
          </a:xfrm>
          <a:prstGeom prst="rect">
            <a:avLst/>
          </a:prstGeom>
          <a:noFill/>
        </p:spPr>
        <p:txBody>
          <a:bodyPr wrap="square" anchor="t" lIns="36576" rIns="36576" tIns="36576" bIns="36576">
            <a:spAutoFit/>
          </a:bodyPr>
          <a:lstStyle/>
          <a:p>
            <a:pPr algn="l"/>
            <a:r>
              <a:rPr sz="1900" b="0">
                <a:solidFill>
                  <a:srgbClr val="B4BEDC"/>
                </a:solidFill>
                <a:latin typeface="Arial"/>
              </a:rPr>
              <a:t>- The spec and the acceptance boundary
- Source changes, constraints, clock crossings
- Reports, timing, and test results
- Register readback and the actual audio</a:t>
            </a:r>
          </a:p>
        </p:txBody>
      </p:sp>
      <p:sp>
        <p:nvSpPr>
          <p:cNvPr id="15" name="TextBox 14"/>
          <p:cNvSpPr txBox="1"/>
          <p:nvPr/>
        </p:nvSpPr>
        <p:spPr>
          <a:xfrm>
            <a:off x="457200" y="5989320"/>
            <a:ext cx="11247120" cy="365760"/>
          </a:xfrm>
          <a:prstGeom prst="rect">
            <a:avLst/>
          </a:prstGeom>
          <a:noFill/>
        </p:spPr>
        <p:txBody>
          <a:bodyPr wrap="square" anchor="t" lIns="36576" rIns="36576" tIns="36576" bIns="36576">
            <a:spAutoFit/>
          </a:bodyPr>
          <a:lstStyle/>
          <a:p>
            <a:pPr algn="l"/>
            <a:r>
              <a:rPr sz="1400" b="0">
                <a:solidFill>
                  <a:srgbClr val="B4BEDC"/>
                </a:solidFill>
                <a:latin typeface="Arial"/>
              </a:rPr>
              <a:t>Ross does not replace the engineering judgement. You pick the product, the trade-offs, and what is good enough.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SPEC-DRIVEN WORKFLOW</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One loop, repeated: spec, build, test, feedback, revise</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10</a:t>
            </a:r>
          </a:p>
        </p:txBody>
      </p:sp>
      <p:sp>
        <p:nvSpPr>
          <p:cNvPr id="7" name="Rectangle 6"/>
          <p:cNvSpPr/>
          <p:nvPr/>
        </p:nvSpPr>
        <p:spPr>
          <a:xfrm>
            <a:off x="457200" y="2926080"/>
            <a:ext cx="1691640" cy="146304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798064"/>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9" name="TextBox 8"/>
          <p:cNvSpPr txBox="1"/>
          <p:nvPr/>
        </p:nvSpPr>
        <p:spPr>
          <a:xfrm>
            <a:off x="594360" y="3063240"/>
            <a:ext cx="1417320" cy="457200"/>
          </a:xfrm>
          <a:prstGeom prst="rect">
            <a:avLst/>
          </a:prstGeom>
          <a:noFill/>
        </p:spPr>
        <p:txBody>
          <a:bodyPr wrap="square" anchor="t" lIns="36576" rIns="36576" tIns="36576" bIns="36576">
            <a:spAutoFit/>
          </a:bodyPr>
          <a:lstStyle/>
          <a:p>
            <a:pPr algn="l"/>
            <a:r>
              <a:rPr sz="1700" b="1">
                <a:solidFill>
                  <a:srgbClr val="FFFFFF"/>
                </a:solidFill>
                <a:latin typeface="Arial"/>
              </a:rPr>
              <a:t>Short spec</a:t>
            </a:r>
          </a:p>
        </p:txBody>
      </p:sp>
      <p:cxnSp>
        <p:nvCxnSpPr>
          <p:cNvPr id="10" name="Connector 9"/>
          <p:cNvCxnSpPr/>
          <p:nvPr/>
        </p:nvCxnSpPr>
        <p:spPr>
          <a:xfrm>
            <a:off x="2148840" y="3657600"/>
            <a:ext cx="228600"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377440" y="2926080"/>
            <a:ext cx="1691640" cy="1463040"/>
          </a:xfrm>
          <a:prstGeom prst="rect">
            <a:avLst/>
          </a:prstGeom>
          <a:solidFill>
            <a:srgbClr val="121E4A"/>
          </a:solidFill>
          <a:ln w="19050">
            <a:solidFill>
              <a:srgbClr val="F45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14600" y="2798064"/>
            <a:ext cx="914400" cy="256032"/>
          </a:xfrm>
          <a:prstGeom prst="roundRect">
            <a:avLst/>
          </a:prstGeom>
          <a:solidFill>
            <a:srgbClr val="F45CB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ROSS</a:t>
            </a:r>
          </a:p>
        </p:txBody>
      </p:sp>
      <p:sp>
        <p:nvSpPr>
          <p:cNvPr id="13" name="TextBox 12"/>
          <p:cNvSpPr txBox="1"/>
          <p:nvPr/>
        </p:nvSpPr>
        <p:spPr>
          <a:xfrm>
            <a:off x="2514600" y="3063240"/>
            <a:ext cx="1417320" cy="457200"/>
          </a:xfrm>
          <a:prstGeom prst="rect">
            <a:avLst/>
          </a:prstGeom>
          <a:noFill/>
        </p:spPr>
        <p:txBody>
          <a:bodyPr wrap="square" anchor="t" lIns="36576" rIns="36576" tIns="36576" bIns="36576">
            <a:spAutoFit/>
          </a:bodyPr>
          <a:lstStyle/>
          <a:p>
            <a:pPr algn="l"/>
            <a:r>
              <a:rPr sz="1700" b="1">
                <a:solidFill>
                  <a:srgbClr val="FFFFFF"/>
                </a:solidFill>
                <a:latin typeface="Arial"/>
              </a:rPr>
              <a:t>Instruct Ross</a:t>
            </a:r>
          </a:p>
        </p:txBody>
      </p:sp>
      <p:cxnSp>
        <p:nvCxnSpPr>
          <p:cNvPr id="14" name="Connector 13"/>
          <p:cNvCxnSpPr/>
          <p:nvPr/>
        </p:nvCxnSpPr>
        <p:spPr>
          <a:xfrm>
            <a:off x="4069080" y="3657600"/>
            <a:ext cx="228600"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297680" y="2926080"/>
            <a:ext cx="1691640" cy="1463040"/>
          </a:xfrm>
          <a:prstGeom prst="rect">
            <a:avLst/>
          </a:prstGeom>
          <a:solidFill>
            <a:srgbClr val="121E4A"/>
          </a:solidFill>
          <a:ln w="19050">
            <a:solidFill>
              <a:srgbClr val="F45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34840" y="2798064"/>
            <a:ext cx="914400" cy="256032"/>
          </a:xfrm>
          <a:prstGeom prst="roundRect">
            <a:avLst/>
          </a:prstGeom>
          <a:solidFill>
            <a:srgbClr val="F45CB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ROSS</a:t>
            </a:r>
          </a:p>
        </p:txBody>
      </p:sp>
      <p:sp>
        <p:nvSpPr>
          <p:cNvPr id="17" name="TextBox 16"/>
          <p:cNvSpPr txBox="1"/>
          <p:nvPr/>
        </p:nvSpPr>
        <p:spPr>
          <a:xfrm>
            <a:off x="4434840" y="3063240"/>
            <a:ext cx="1417320" cy="457200"/>
          </a:xfrm>
          <a:prstGeom prst="rect">
            <a:avLst/>
          </a:prstGeom>
          <a:noFill/>
        </p:spPr>
        <p:txBody>
          <a:bodyPr wrap="square" anchor="t" lIns="36576" rIns="36576" tIns="36576" bIns="36576">
            <a:spAutoFit/>
          </a:bodyPr>
          <a:lstStyle/>
          <a:p>
            <a:pPr algn="l"/>
            <a:r>
              <a:rPr sz="1700" b="1">
                <a:solidFill>
                  <a:srgbClr val="FFFFFF"/>
                </a:solidFill>
                <a:latin typeface="Arial"/>
              </a:rPr>
              <a:t>Code changes</a:t>
            </a:r>
          </a:p>
        </p:txBody>
      </p:sp>
      <p:cxnSp>
        <p:nvCxnSpPr>
          <p:cNvPr id="18" name="Connector 17"/>
          <p:cNvCxnSpPr/>
          <p:nvPr/>
        </p:nvCxnSpPr>
        <p:spPr>
          <a:xfrm>
            <a:off x="5989320" y="3657600"/>
            <a:ext cx="228600"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17920" y="2926080"/>
            <a:ext cx="1691640" cy="146304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2798064"/>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21" name="TextBox 20"/>
          <p:cNvSpPr txBox="1"/>
          <p:nvPr/>
        </p:nvSpPr>
        <p:spPr>
          <a:xfrm>
            <a:off x="6355080" y="3063240"/>
            <a:ext cx="1417320" cy="457200"/>
          </a:xfrm>
          <a:prstGeom prst="rect">
            <a:avLst/>
          </a:prstGeom>
          <a:noFill/>
        </p:spPr>
        <p:txBody>
          <a:bodyPr wrap="square" anchor="t" lIns="36576" rIns="36576" tIns="36576" bIns="36576">
            <a:spAutoFit/>
          </a:bodyPr>
          <a:lstStyle/>
          <a:p>
            <a:pPr algn="l"/>
            <a:r>
              <a:rPr sz="1700" b="1">
                <a:solidFill>
                  <a:srgbClr val="FFFFFF"/>
                </a:solidFill>
                <a:latin typeface="Arial"/>
              </a:rPr>
              <a:t>Human review</a:t>
            </a:r>
          </a:p>
        </p:txBody>
      </p:sp>
      <p:cxnSp>
        <p:nvCxnSpPr>
          <p:cNvPr id="22" name="Connector 21"/>
          <p:cNvCxnSpPr/>
          <p:nvPr/>
        </p:nvCxnSpPr>
        <p:spPr>
          <a:xfrm>
            <a:off x="7909560" y="3657600"/>
            <a:ext cx="228600"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138160" y="2926080"/>
            <a:ext cx="1691640" cy="1463040"/>
          </a:xfrm>
          <a:prstGeom prst="rect">
            <a:avLst/>
          </a:prstGeom>
          <a:solidFill>
            <a:srgbClr val="121E4A"/>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75320" y="2798064"/>
            <a:ext cx="914400" cy="256032"/>
          </a:xfrm>
          <a:prstGeom prst="round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VERIFY</a:t>
            </a:r>
          </a:p>
        </p:txBody>
      </p:sp>
      <p:sp>
        <p:nvSpPr>
          <p:cNvPr id="25" name="TextBox 24"/>
          <p:cNvSpPr txBox="1"/>
          <p:nvPr/>
        </p:nvSpPr>
        <p:spPr>
          <a:xfrm>
            <a:off x="8275320" y="3063240"/>
            <a:ext cx="1417320" cy="457200"/>
          </a:xfrm>
          <a:prstGeom prst="rect">
            <a:avLst/>
          </a:prstGeom>
          <a:noFill/>
        </p:spPr>
        <p:txBody>
          <a:bodyPr wrap="square" anchor="t" lIns="36576" rIns="36576" tIns="36576" bIns="36576">
            <a:spAutoFit/>
          </a:bodyPr>
          <a:lstStyle/>
          <a:p>
            <a:pPr algn="l"/>
            <a:r>
              <a:rPr sz="1700" b="1">
                <a:solidFill>
                  <a:srgbClr val="FFFFFF"/>
                </a:solidFill>
                <a:latin typeface="Arial"/>
              </a:rPr>
              <a:t>Build + test</a:t>
            </a:r>
          </a:p>
        </p:txBody>
      </p:sp>
      <p:cxnSp>
        <p:nvCxnSpPr>
          <p:cNvPr id="26" name="Connector 25"/>
          <p:cNvCxnSpPr/>
          <p:nvPr/>
        </p:nvCxnSpPr>
        <p:spPr>
          <a:xfrm>
            <a:off x="9829800" y="3657600"/>
            <a:ext cx="228600" cy="0"/>
          </a:xfrm>
          <a:prstGeom prst="line">
            <a:avLst/>
          </a:prstGeom>
          <a:ln w="31750">
            <a:solidFill>
              <a:srgbClr val="2DD4F0"/>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058400" y="2926080"/>
            <a:ext cx="1691640" cy="146304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95560" y="2798064"/>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29" name="TextBox 28"/>
          <p:cNvSpPr txBox="1"/>
          <p:nvPr/>
        </p:nvSpPr>
        <p:spPr>
          <a:xfrm>
            <a:off x="10195560" y="3063240"/>
            <a:ext cx="1417320" cy="457200"/>
          </a:xfrm>
          <a:prstGeom prst="rect">
            <a:avLst/>
          </a:prstGeom>
          <a:noFill/>
        </p:spPr>
        <p:txBody>
          <a:bodyPr wrap="square" anchor="t" lIns="36576" rIns="36576" tIns="36576" bIns="36576">
            <a:spAutoFit/>
          </a:bodyPr>
          <a:lstStyle/>
          <a:p>
            <a:pPr algn="l"/>
            <a:r>
              <a:rPr sz="1700" b="1">
                <a:solidFill>
                  <a:srgbClr val="FFFFFF"/>
                </a:solidFill>
                <a:latin typeface="Arial"/>
              </a:rPr>
              <a:t>Feedback</a:t>
            </a:r>
          </a:p>
        </p:txBody>
      </p:sp>
      <p:cxnSp>
        <p:nvCxnSpPr>
          <p:cNvPr id="30" name="Connector 29"/>
          <p:cNvCxnSpPr/>
          <p:nvPr/>
        </p:nvCxnSpPr>
        <p:spPr>
          <a:xfrm>
            <a:off x="11338560" y="4434840"/>
            <a:ext cx="0" cy="777240"/>
          </a:xfrm>
          <a:prstGeom prst="line">
            <a:avLst/>
          </a:prstGeom>
          <a:ln w="31750">
            <a:solidFill>
              <a:srgbClr val="FBA23C"/>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280160" y="5212080"/>
            <a:ext cx="10058400" cy="0"/>
          </a:xfrm>
          <a:prstGeom prst="line">
            <a:avLst/>
          </a:prstGeom>
          <a:ln w="31750">
            <a:solidFill>
              <a:srgbClr val="FBA23C"/>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280160" y="4434840"/>
            <a:ext cx="0" cy="777240"/>
          </a:xfrm>
          <a:prstGeom prst="line">
            <a:avLst/>
          </a:prstGeom>
          <a:ln w="31750">
            <a:solidFill>
              <a:srgbClr val="FBA23C"/>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200400" y="5285232"/>
            <a:ext cx="5852160" cy="365760"/>
          </a:xfrm>
          <a:prstGeom prst="rect">
            <a:avLst/>
          </a:prstGeom>
          <a:noFill/>
        </p:spPr>
        <p:txBody>
          <a:bodyPr wrap="square" anchor="t" lIns="36576" rIns="36576" tIns="36576" bIns="36576">
            <a:spAutoFit/>
          </a:bodyPr>
          <a:lstStyle/>
          <a:p>
            <a:pPr algn="ctr"/>
            <a:r>
              <a:rPr sz="1400" b="0">
                <a:solidFill>
                  <a:srgbClr val="FBA23C"/>
                </a:solidFill>
                <a:latin typeface="Arial"/>
              </a:rPr>
              <a:t>revise and go round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GUIDED STEP</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One real step: ask Ross for speed only and see</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11</a:t>
            </a:r>
          </a:p>
        </p:txBody>
      </p:sp>
      <p:sp>
        <p:nvSpPr>
          <p:cNvPr id="7" name="Rectangle 6"/>
          <p:cNvSpPr/>
          <p:nvPr/>
        </p:nvSpPr>
        <p:spPr>
          <a:xfrm>
            <a:off x="457200" y="2194560"/>
            <a:ext cx="4206240" cy="274320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066543"/>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9" name="TextBox 8"/>
          <p:cNvSpPr txBox="1"/>
          <p:nvPr/>
        </p:nvSpPr>
        <p:spPr>
          <a:xfrm>
            <a:off x="594360" y="2331720"/>
            <a:ext cx="3931920" cy="457200"/>
          </a:xfrm>
          <a:prstGeom prst="rect">
            <a:avLst/>
          </a:prstGeom>
          <a:noFill/>
        </p:spPr>
        <p:txBody>
          <a:bodyPr wrap="square" anchor="t" lIns="36576" rIns="36576" tIns="36576" bIns="36576">
            <a:spAutoFit/>
          </a:bodyPr>
          <a:lstStyle/>
          <a:p>
            <a:pPr algn="l"/>
            <a:r>
              <a:rPr sz="1900" b="1">
                <a:solidFill>
                  <a:srgbClr val="FFFFFF"/>
                </a:solidFill>
                <a:latin typeface="Arial"/>
              </a:rPr>
              <a:t>The instruction</a:t>
            </a:r>
          </a:p>
        </p:txBody>
      </p:sp>
      <p:sp>
        <p:nvSpPr>
          <p:cNvPr id="10" name="TextBox 9"/>
          <p:cNvSpPr txBox="1"/>
          <p:nvPr/>
        </p:nvSpPr>
        <p:spPr>
          <a:xfrm>
            <a:off x="594360" y="2790190"/>
            <a:ext cx="3931920" cy="2103120"/>
          </a:xfrm>
          <a:prstGeom prst="rect">
            <a:avLst/>
          </a:prstGeom>
          <a:noFill/>
        </p:spPr>
        <p:txBody>
          <a:bodyPr wrap="square" anchor="t" lIns="36576" rIns="36576" tIns="36576" bIns="36576">
            <a:spAutoFit/>
          </a:bodyPr>
          <a:lstStyle/>
          <a:p>
            <a:pPr algn="l"/>
            <a:r>
              <a:rPr sz="1900" b="0">
                <a:solidFill>
                  <a:srgbClr val="B4BEDC"/>
                </a:solidFill>
                <a:latin typeface="Arial"/>
              </a:rPr>
              <a:t>"Optimise for Fmax only." That was the whole brief. Nothing about cycles, area, or how.</a:t>
            </a:r>
          </a:p>
        </p:txBody>
      </p:sp>
      <p:sp>
        <p:nvSpPr>
          <p:cNvPr id="11" name="Rectangle 10"/>
          <p:cNvSpPr/>
          <p:nvPr/>
        </p:nvSpPr>
        <p:spPr>
          <a:xfrm>
            <a:off x="4892040" y="2194560"/>
            <a:ext cx="3291840" cy="2743200"/>
          </a:xfrm>
          <a:prstGeom prst="rect">
            <a:avLst/>
          </a:prstGeom>
          <a:solidFill>
            <a:srgbClr val="121E4A"/>
          </a:solidFill>
          <a:ln w="19050">
            <a:solidFill>
              <a:srgbClr val="F45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0" y="2066543"/>
            <a:ext cx="914400" cy="256032"/>
          </a:xfrm>
          <a:prstGeom prst="roundRect">
            <a:avLst/>
          </a:prstGeom>
          <a:solidFill>
            <a:srgbClr val="F45CB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ROSS</a:t>
            </a:r>
          </a:p>
        </p:txBody>
      </p:sp>
      <p:sp>
        <p:nvSpPr>
          <p:cNvPr id="13" name="TextBox 12"/>
          <p:cNvSpPr txBox="1"/>
          <p:nvPr/>
        </p:nvSpPr>
        <p:spPr>
          <a:xfrm>
            <a:off x="5029200" y="2331720"/>
            <a:ext cx="3017520" cy="457200"/>
          </a:xfrm>
          <a:prstGeom prst="rect">
            <a:avLst/>
          </a:prstGeom>
          <a:noFill/>
        </p:spPr>
        <p:txBody>
          <a:bodyPr wrap="square" anchor="t" lIns="36576" rIns="36576" tIns="36576" bIns="36576">
            <a:spAutoFit/>
          </a:bodyPr>
          <a:lstStyle/>
          <a:p>
            <a:pPr algn="l"/>
            <a:r>
              <a:rPr sz="1900" b="1">
                <a:solidFill>
                  <a:srgbClr val="FFFFFF"/>
                </a:solidFill>
                <a:latin typeface="Arial"/>
              </a:rPr>
              <a:t>What Ross did</a:t>
            </a:r>
          </a:p>
        </p:txBody>
      </p:sp>
      <p:sp>
        <p:nvSpPr>
          <p:cNvPr id="14" name="TextBox 13"/>
          <p:cNvSpPr txBox="1"/>
          <p:nvPr/>
        </p:nvSpPr>
        <p:spPr>
          <a:xfrm>
            <a:off x="5029200" y="2790190"/>
            <a:ext cx="3017520" cy="2103120"/>
          </a:xfrm>
          <a:prstGeom prst="rect">
            <a:avLst/>
          </a:prstGeom>
          <a:noFill/>
        </p:spPr>
        <p:txBody>
          <a:bodyPr wrap="square" anchor="t" lIns="36576" rIns="36576" tIns="36576" bIns="36576">
            <a:spAutoFit/>
          </a:bodyPr>
          <a:lstStyle/>
          <a:p>
            <a:pPr algn="l"/>
            <a:r>
              <a:rPr sz="1900" b="0">
                <a:solidFill>
                  <a:srgbClr val="B4BEDC"/>
                </a:solidFill>
                <a:latin typeface="Arial"/>
              </a:rPr>
              <a:t>Split the running sum into four partial sums, then a two-level combine.</a:t>
            </a:r>
          </a:p>
        </p:txBody>
      </p:sp>
      <p:sp>
        <p:nvSpPr>
          <p:cNvPr id="15" name="Rectangle 14"/>
          <p:cNvSpPr/>
          <p:nvPr/>
        </p:nvSpPr>
        <p:spPr>
          <a:xfrm>
            <a:off x="8412480" y="2194560"/>
            <a:ext cx="3337560" cy="2743200"/>
          </a:xfrm>
          <a:prstGeom prst="rect">
            <a:avLst/>
          </a:prstGeom>
          <a:solidFill>
            <a:srgbClr val="121E4A"/>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49640" y="2066543"/>
            <a:ext cx="914400" cy="256032"/>
          </a:xfrm>
          <a:prstGeom prst="round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VERIFY</a:t>
            </a:r>
          </a:p>
        </p:txBody>
      </p:sp>
      <p:sp>
        <p:nvSpPr>
          <p:cNvPr id="17" name="TextBox 16"/>
          <p:cNvSpPr txBox="1"/>
          <p:nvPr/>
        </p:nvSpPr>
        <p:spPr>
          <a:xfrm>
            <a:off x="8549640" y="2331720"/>
            <a:ext cx="3063240" cy="457200"/>
          </a:xfrm>
          <a:prstGeom prst="rect">
            <a:avLst/>
          </a:prstGeom>
          <a:noFill/>
        </p:spPr>
        <p:txBody>
          <a:bodyPr wrap="square" anchor="t" lIns="36576" rIns="36576" tIns="36576" bIns="36576">
            <a:spAutoFit/>
          </a:bodyPr>
          <a:lstStyle/>
          <a:p>
            <a:pPr algn="l"/>
            <a:r>
              <a:rPr sz="1900" b="1">
                <a:solidFill>
                  <a:srgbClr val="FFFFFF"/>
                </a:solidFill>
                <a:latin typeface="Arial"/>
              </a:rPr>
              <a:t>HLS estimate, core only</a:t>
            </a:r>
          </a:p>
        </p:txBody>
      </p:sp>
      <p:sp>
        <p:nvSpPr>
          <p:cNvPr id="18" name="TextBox 17"/>
          <p:cNvSpPr txBox="1"/>
          <p:nvPr/>
        </p:nvSpPr>
        <p:spPr>
          <a:xfrm>
            <a:off x="8549640" y="2790190"/>
            <a:ext cx="3063240" cy="2103120"/>
          </a:xfrm>
          <a:prstGeom prst="rect">
            <a:avLst/>
          </a:prstGeom>
          <a:noFill/>
        </p:spPr>
        <p:txBody>
          <a:bodyPr wrap="square" anchor="t" lIns="36576" rIns="36576" tIns="36576" bIns="36576">
            <a:spAutoFit/>
          </a:bodyPr>
          <a:lstStyle/>
          <a:p>
            <a:pPr algn="l"/>
            <a:r>
              <a:rPr sz="1900" b="0">
                <a:solidFill>
                  <a:srgbClr val="B4BEDC"/>
                </a:solidFill>
                <a:latin typeface="Arial"/>
              </a:rPr>
              <a:t>Before: 114 cycles at 13.301 ns
After: 136 cycles at 7.230 ns
(target was 10 ns)</a:t>
            </a:r>
          </a:p>
        </p:txBody>
      </p:sp>
      <p:sp>
        <p:nvSpPr>
          <p:cNvPr id="19" name="TextBox 18"/>
          <p:cNvSpPr txBox="1"/>
          <p:nvPr/>
        </p:nvSpPr>
        <p:spPr>
          <a:xfrm>
            <a:off x="457200" y="5212080"/>
            <a:ext cx="11247120" cy="914400"/>
          </a:xfrm>
          <a:prstGeom prst="rect">
            <a:avLst/>
          </a:prstGeom>
          <a:noFill/>
        </p:spPr>
        <p:txBody>
          <a:bodyPr wrap="square" anchor="t" lIns="36576" rIns="36576" tIns="36576" bIns="36576">
            <a:spAutoFit/>
          </a:bodyPr>
          <a:lstStyle/>
          <a:p>
            <a:pPr algn="l"/>
            <a:r>
              <a:rPr sz="1500" b="0">
                <a:solidFill>
                  <a:srgbClr val="B4BEDC"/>
                </a:solidFill>
                <a:latin typeface="Arial"/>
              </a:rPr>
              <a:t>Cycles went up a bit, clock period got much shorter. That was what the brief asked for, so fine.</a:t>
            </a:r>
          </a:p>
          <a:p>
            <a:pPr algn="l">
              <a:spcBef>
                <a:spcPts val="675"/>
              </a:spcBef>
            </a:pPr>
            <a:r>
              <a:rPr sz="1500" b="0">
                <a:solidFill>
                  <a:srgbClr val="B4BEDC"/>
                </a:solidFill>
                <a:latin typeface="Arial"/>
              </a:rPr>
              <a:t>One other idea (reciprocal multiply) saved LUTs but did not help the clock, so we dropped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VERIFICATION</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Reports are one thing, the board has to agree</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12</a:t>
            </a:r>
          </a:p>
        </p:txBody>
      </p:sp>
      <p:sp>
        <p:nvSpPr>
          <p:cNvPr id="7" name="Rectangle 6"/>
          <p:cNvSpPr/>
          <p:nvPr/>
        </p:nvSpPr>
        <p:spPr>
          <a:xfrm>
            <a:off x="457200" y="2194560"/>
            <a:ext cx="3657600" cy="3566160"/>
          </a:xfrm>
          <a:prstGeom prst="rect">
            <a:avLst/>
          </a:prstGeom>
          <a:solidFill>
            <a:srgbClr val="121E4A"/>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066543"/>
            <a:ext cx="914400" cy="256032"/>
          </a:xfrm>
          <a:prstGeom prst="round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VERIFY</a:t>
            </a:r>
          </a:p>
        </p:txBody>
      </p:sp>
      <p:sp>
        <p:nvSpPr>
          <p:cNvPr id="9" name="TextBox 8"/>
          <p:cNvSpPr txBox="1"/>
          <p:nvPr/>
        </p:nvSpPr>
        <p:spPr>
          <a:xfrm>
            <a:off x="594360" y="2331720"/>
            <a:ext cx="3383280" cy="457200"/>
          </a:xfrm>
          <a:prstGeom prst="rect">
            <a:avLst/>
          </a:prstGeom>
          <a:noFill/>
        </p:spPr>
        <p:txBody>
          <a:bodyPr wrap="square" anchor="t" lIns="36576" rIns="36576" tIns="36576" bIns="36576">
            <a:spAutoFit/>
          </a:bodyPr>
          <a:lstStyle/>
          <a:p>
            <a:pPr algn="l"/>
            <a:r>
              <a:rPr sz="1900" b="1">
                <a:solidFill>
                  <a:srgbClr val="FFFFFF"/>
                </a:solidFill>
                <a:latin typeface="Arial"/>
              </a:rPr>
              <a:t>Routed in Vivado</a:t>
            </a:r>
          </a:p>
        </p:txBody>
      </p:sp>
      <p:sp>
        <p:nvSpPr>
          <p:cNvPr id="10" name="TextBox 9"/>
          <p:cNvSpPr txBox="1"/>
          <p:nvPr/>
        </p:nvSpPr>
        <p:spPr>
          <a:xfrm>
            <a:off x="594360" y="2790190"/>
            <a:ext cx="3383280" cy="2926080"/>
          </a:xfrm>
          <a:prstGeom prst="rect">
            <a:avLst/>
          </a:prstGeom>
          <a:noFill/>
        </p:spPr>
        <p:txBody>
          <a:bodyPr wrap="square" anchor="t" lIns="36576" rIns="36576" tIns="36576" bIns="36576">
            <a:spAutoFit/>
          </a:bodyPr>
          <a:lstStyle/>
          <a:p>
            <a:pPr algn="l"/>
            <a:r>
              <a:rPr sz="1900" b="0">
                <a:solidFill>
                  <a:srgbClr val="B4BEDC"/>
                </a:solidFill>
                <a:latin typeface="Arial"/>
              </a:rPr>
              <a:t>80,882 / 117,120 LUTs
398 / 1,248 DSP48E2
15 / 144 Block RAM
Setup slack +0.828 ns
Hold slack +0.010 ns</a:t>
            </a:r>
          </a:p>
        </p:txBody>
      </p:sp>
      <p:sp>
        <p:nvSpPr>
          <p:cNvPr id="11" name="Rectangle 10"/>
          <p:cNvSpPr/>
          <p:nvPr/>
        </p:nvSpPr>
        <p:spPr>
          <a:xfrm>
            <a:off x="4270248" y="2194560"/>
            <a:ext cx="3657600" cy="3566160"/>
          </a:xfrm>
          <a:prstGeom prst="rect">
            <a:avLst/>
          </a:prstGeom>
          <a:solidFill>
            <a:srgbClr val="121E4A"/>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07408" y="2066543"/>
            <a:ext cx="914400" cy="256032"/>
          </a:xfrm>
          <a:prstGeom prst="round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VERIFY</a:t>
            </a:r>
          </a:p>
        </p:txBody>
      </p:sp>
      <p:sp>
        <p:nvSpPr>
          <p:cNvPr id="13" name="TextBox 12"/>
          <p:cNvSpPr txBox="1"/>
          <p:nvPr/>
        </p:nvSpPr>
        <p:spPr>
          <a:xfrm>
            <a:off x="4407408" y="2331720"/>
            <a:ext cx="3383280" cy="457200"/>
          </a:xfrm>
          <a:prstGeom prst="rect">
            <a:avLst/>
          </a:prstGeom>
          <a:noFill/>
        </p:spPr>
        <p:txBody>
          <a:bodyPr wrap="square" anchor="t" lIns="36576" rIns="36576" tIns="36576" bIns="36576">
            <a:spAutoFit/>
          </a:bodyPr>
          <a:lstStyle/>
          <a:p>
            <a:pPr algn="l"/>
            <a:r>
              <a:rPr sz="1900" b="1">
                <a:solidFill>
                  <a:srgbClr val="FFFFFF"/>
                </a:solidFill>
                <a:latin typeface="Arial"/>
              </a:rPr>
              <a:t>On the board</a:t>
            </a:r>
          </a:p>
        </p:txBody>
      </p:sp>
      <p:sp>
        <p:nvSpPr>
          <p:cNvPr id="14" name="TextBox 13"/>
          <p:cNvSpPr txBox="1"/>
          <p:nvPr/>
        </p:nvSpPr>
        <p:spPr>
          <a:xfrm>
            <a:off x="4407408" y="2790190"/>
            <a:ext cx="3383280" cy="2926080"/>
          </a:xfrm>
          <a:prstGeom prst="rect">
            <a:avLst/>
          </a:prstGeom>
          <a:noFill/>
        </p:spPr>
        <p:txBody>
          <a:bodyPr wrap="square" anchor="t" lIns="36576" rIns="36576" tIns="36576" bIns="36576">
            <a:spAutoFit/>
          </a:bodyPr>
          <a:lstStyle/>
          <a:p>
            <a:pPr algn="l"/>
            <a:r>
              <a:rPr sz="1800" b="0">
                <a:solidFill>
                  <a:srgbClr val="B4BEDC"/>
                </a:solidFill>
                <a:latin typeface="Arial"/>
              </a:rPr>
              <a:t>Register 0xA0000000 reads 0x53594e54 (SYNT), ABI 0x00010000.
FC25 run: 394 events captured, all four knob values matched the PL shadows, zero overruns.</a:t>
            </a:r>
          </a:p>
        </p:txBody>
      </p:sp>
      <p:sp>
        <p:nvSpPr>
          <p:cNvPr id="15" name="Rectangle 14"/>
          <p:cNvSpPr/>
          <p:nvPr/>
        </p:nvSpPr>
        <p:spPr>
          <a:xfrm>
            <a:off x="8074152" y="2194560"/>
            <a:ext cx="3657600" cy="356616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2066543"/>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17" name="TextBox 16"/>
          <p:cNvSpPr txBox="1"/>
          <p:nvPr/>
        </p:nvSpPr>
        <p:spPr>
          <a:xfrm>
            <a:off x="8211312" y="2331720"/>
            <a:ext cx="3383280" cy="457200"/>
          </a:xfrm>
          <a:prstGeom prst="rect">
            <a:avLst/>
          </a:prstGeom>
          <a:noFill/>
        </p:spPr>
        <p:txBody>
          <a:bodyPr wrap="square" anchor="t" lIns="36576" rIns="36576" tIns="36576" bIns="36576">
            <a:spAutoFit/>
          </a:bodyPr>
          <a:lstStyle/>
          <a:p>
            <a:pPr algn="l"/>
            <a:r>
              <a:rPr sz="1900" b="1">
                <a:solidFill>
                  <a:srgbClr val="FFFFFF"/>
                </a:solidFill>
                <a:latin typeface="Arial"/>
              </a:rPr>
              <a:t>To the ears</a:t>
            </a:r>
          </a:p>
        </p:txBody>
      </p:sp>
      <p:sp>
        <p:nvSpPr>
          <p:cNvPr id="18" name="TextBox 17"/>
          <p:cNvSpPr txBox="1"/>
          <p:nvPr/>
        </p:nvSpPr>
        <p:spPr>
          <a:xfrm>
            <a:off x="8211312" y="2790190"/>
            <a:ext cx="3383280" cy="2926080"/>
          </a:xfrm>
          <a:prstGeom prst="rect">
            <a:avLst/>
          </a:prstGeom>
          <a:noFill/>
        </p:spPr>
        <p:txBody>
          <a:bodyPr wrap="square" anchor="t" lIns="36576" rIns="36576" tIns="36576" bIns="36576">
            <a:spAutoFit/>
          </a:bodyPr>
          <a:lstStyle/>
          <a:p>
            <a:pPr algn="l"/>
            <a:r>
              <a:rPr sz="1800" b="0">
                <a:solidFill>
                  <a:srgbClr val="B4BEDC"/>
                </a:solidFill>
                <a:latin typeface="Arial"/>
              </a:rPr>
              <a:t>Notes, velocity, knobs, four and ten note chords, releases. And a human listening, which is the check no report does for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RECAP</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Result, platform, tools, way of working</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13</a:t>
            </a:r>
          </a:p>
        </p:txBody>
      </p:sp>
      <p:sp>
        <p:nvSpPr>
          <p:cNvPr id="7" name="Rectangle 6"/>
          <p:cNvSpPr/>
          <p:nvPr/>
        </p:nvSpPr>
        <p:spPr>
          <a:xfrm>
            <a:off x="457200" y="2377440"/>
            <a:ext cx="2697480" cy="2560320"/>
          </a:xfrm>
          <a:prstGeom prst="rect">
            <a:avLst/>
          </a:prstGeom>
          <a:solidFill>
            <a:srgbClr val="121E4A"/>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249424"/>
            <a:ext cx="914400" cy="256032"/>
          </a:xfrm>
          <a:prstGeom prst="round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VERIFY</a:t>
            </a:r>
          </a:p>
        </p:txBody>
      </p:sp>
      <p:sp>
        <p:nvSpPr>
          <p:cNvPr id="9" name="TextBox 8"/>
          <p:cNvSpPr txBox="1"/>
          <p:nvPr/>
        </p:nvSpPr>
        <p:spPr>
          <a:xfrm>
            <a:off x="594360" y="2514600"/>
            <a:ext cx="2423160" cy="457200"/>
          </a:xfrm>
          <a:prstGeom prst="rect">
            <a:avLst/>
          </a:prstGeom>
          <a:noFill/>
        </p:spPr>
        <p:txBody>
          <a:bodyPr wrap="square" anchor="t" lIns="36576" rIns="36576" tIns="36576" bIns="36576">
            <a:spAutoFit/>
          </a:bodyPr>
          <a:lstStyle/>
          <a:p>
            <a:pPr algn="l"/>
            <a:r>
              <a:rPr sz="1900" b="1">
                <a:solidFill>
                  <a:srgbClr val="FFFFFF"/>
                </a:solidFill>
                <a:latin typeface="Arial"/>
              </a:rPr>
              <a:t>Result</a:t>
            </a:r>
          </a:p>
        </p:txBody>
      </p:sp>
      <p:sp>
        <p:nvSpPr>
          <p:cNvPr id="10" name="TextBox 9"/>
          <p:cNvSpPr txBox="1"/>
          <p:nvPr/>
        </p:nvSpPr>
        <p:spPr>
          <a:xfrm>
            <a:off x="594360" y="2973070"/>
            <a:ext cx="2423160" cy="1920239"/>
          </a:xfrm>
          <a:prstGeom prst="rect">
            <a:avLst/>
          </a:prstGeom>
          <a:noFill/>
        </p:spPr>
        <p:txBody>
          <a:bodyPr wrap="square" anchor="t" lIns="36576" rIns="36576" tIns="36576" bIns="36576">
            <a:spAutoFit/>
          </a:bodyPr>
          <a:lstStyle/>
          <a:p>
            <a:pPr algn="l"/>
            <a:r>
              <a:rPr sz="1900" b="0">
                <a:solidFill>
                  <a:srgbClr val="B4BEDC"/>
                </a:solidFill>
                <a:latin typeface="Arial"/>
              </a:rPr>
              <a:t>A working 16-voice synth on a KV260</a:t>
            </a:r>
          </a:p>
        </p:txBody>
      </p:sp>
      <p:sp>
        <p:nvSpPr>
          <p:cNvPr id="11" name="Rectangle 10"/>
          <p:cNvSpPr/>
          <p:nvPr/>
        </p:nvSpPr>
        <p:spPr>
          <a:xfrm>
            <a:off x="3291840" y="2377440"/>
            <a:ext cx="2697480" cy="256032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2249424"/>
            <a:ext cx="914400" cy="256032"/>
          </a:xfrm>
          <a:prstGeom prst="roundRect">
            <a:avLst/>
          </a:prstGeom>
          <a:solidFill>
            <a:srgbClr val="2DD4F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PLATFORM</a:t>
            </a:r>
          </a:p>
        </p:txBody>
      </p:sp>
      <p:sp>
        <p:nvSpPr>
          <p:cNvPr id="13" name="TextBox 12"/>
          <p:cNvSpPr txBox="1"/>
          <p:nvPr/>
        </p:nvSpPr>
        <p:spPr>
          <a:xfrm>
            <a:off x="3429000" y="2514600"/>
            <a:ext cx="2423160" cy="457200"/>
          </a:xfrm>
          <a:prstGeom prst="rect">
            <a:avLst/>
          </a:prstGeom>
          <a:noFill/>
        </p:spPr>
        <p:txBody>
          <a:bodyPr wrap="square" anchor="t" lIns="36576" rIns="36576" tIns="36576" bIns="36576">
            <a:spAutoFit/>
          </a:bodyPr>
          <a:lstStyle/>
          <a:p>
            <a:pPr algn="l"/>
            <a:r>
              <a:rPr sz="1900" b="1">
                <a:solidFill>
                  <a:srgbClr val="FFFFFF"/>
                </a:solidFill>
                <a:latin typeface="Arial"/>
              </a:rPr>
              <a:t>Platform</a:t>
            </a:r>
          </a:p>
        </p:txBody>
      </p:sp>
      <p:sp>
        <p:nvSpPr>
          <p:cNvPr id="14" name="TextBox 13"/>
          <p:cNvSpPr txBox="1"/>
          <p:nvPr/>
        </p:nvSpPr>
        <p:spPr>
          <a:xfrm>
            <a:off x="3429000" y="2973070"/>
            <a:ext cx="2423160" cy="1920239"/>
          </a:xfrm>
          <a:prstGeom prst="rect">
            <a:avLst/>
          </a:prstGeom>
          <a:noFill/>
        </p:spPr>
        <p:txBody>
          <a:bodyPr wrap="square" anchor="t" lIns="36576" rIns="36576" tIns="36576" bIns="36576">
            <a:spAutoFit/>
          </a:bodyPr>
          <a:lstStyle/>
          <a:p>
            <a:pPr algn="l"/>
            <a:r>
              <a:rPr sz="1900" b="0">
                <a:solidFill>
                  <a:srgbClr val="B4BEDC"/>
                </a:solidFill>
                <a:latin typeface="Arial"/>
              </a:rPr>
              <a:t>Kria K26: fabric + Linux + Pmod</a:t>
            </a:r>
          </a:p>
        </p:txBody>
      </p:sp>
      <p:sp>
        <p:nvSpPr>
          <p:cNvPr id="15" name="Rectangle 14"/>
          <p:cNvSpPr/>
          <p:nvPr/>
        </p:nvSpPr>
        <p:spPr>
          <a:xfrm>
            <a:off x="6126480" y="2377440"/>
            <a:ext cx="2697480" cy="2560320"/>
          </a:xfrm>
          <a:prstGeom prst="rect">
            <a:avLst/>
          </a:prstGeom>
          <a:solidFill>
            <a:srgbClr val="121E4A"/>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63640" y="2249424"/>
            <a:ext cx="914400" cy="256032"/>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TOOL</a:t>
            </a:r>
          </a:p>
        </p:txBody>
      </p:sp>
      <p:sp>
        <p:nvSpPr>
          <p:cNvPr id="17" name="TextBox 16"/>
          <p:cNvSpPr txBox="1"/>
          <p:nvPr/>
        </p:nvSpPr>
        <p:spPr>
          <a:xfrm>
            <a:off x="6263640" y="2514600"/>
            <a:ext cx="2423160" cy="457200"/>
          </a:xfrm>
          <a:prstGeom prst="rect">
            <a:avLst/>
          </a:prstGeom>
          <a:noFill/>
        </p:spPr>
        <p:txBody>
          <a:bodyPr wrap="square" anchor="t" lIns="36576" rIns="36576" tIns="36576" bIns="36576">
            <a:spAutoFit/>
          </a:bodyPr>
          <a:lstStyle/>
          <a:p>
            <a:pPr algn="l"/>
            <a:r>
              <a:rPr sz="1900" b="1">
                <a:solidFill>
                  <a:srgbClr val="FFFFFF"/>
                </a:solidFill>
                <a:latin typeface="Arial"/>
              </a:rPr>
              <a:t>Tools</a:t>
            </a:r>
          </a:p>
        </p:txBody>
      </p:sp>
      <p:sp>
        <p:nvSpPr>
          <p:cNvPr id="18" name="TextBox 17"/>
          <p:cNvSpPr txBox="1"/>
          <p:nvPr/>
        </p:nvSpPr>
        <p:spPr>
          <a:xfrm>
            <a:off x="6263640" y="2973070"/>
            <a:ext cx="2423160" cy="1920239"/>
          </a:xfrm>
          <a:prstGeom prst="rect">
            <a:avLst/>
          </a:prstGeom>
          <a:noFill/>
        </p:spPr>
        <p:txBody>
          <a:bodyPr wrap="square" anchor="t" lIns="36576" rIns="36576" tIns="36576" bIns="36576">
            <a:spAutoFit/>
          </a:bodyPr>
          <a:lstStyle/>
          <a:p>
            <a:pPr algn="l"/>
            <a:r>
              <a:rPr sz="1900" b="0">
                <a:solidFill>
                  <a:srgbClr val="B4BEDC"/>
                </a:solidFill>
                <a:latin typeface="Arial"/>
              </a:rPr>
              <a:t>Vitis HLS, Vivado, Ross</a:t>
            </a:r>
          </a:p>
        </p:txBody>
      </p:sp>
      <p:sp>
        <p:nvSpPr>
          <p:cNvPr id="19" name="Rectangle 18"/>
          <p:cNvSpPr/>
          <p:nvPr/>
        </p:nvSpPr>
        <p:spPr>
          <a:xfrm>
            <a:off x="8961120" y="2377440"/>
            <a:ext cx="2697480" cy="2560320"/>
          </a:xfrm>
          <a:prstGeom prst="rect">
            <a:avLst/>
          </a:prstGeom>
          <a:solidFill>
            <a:srgbClr val="121E4A"/>
          </a:solidFill>
          <a:ln w="19050">
            <a:solidFill>
              <a:srgbClr val="FBA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98280" y="2249424"/>
            <a:ext cx="914400" cy="256032"/>
          </a:xfrm>
          <a:prstGeom prst="roundRect">
            <a:avLst/>
          </a:prstGeom>
          <a:solidFill>
            <a:srgbClr val="FBA2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HUMAN</a:t>
            </a:r>
          </a:p>
        </p:txBody>
      </p:sp>
      <p:sp>
        <p:nvSpPr>
          <p:cNvPr id="21" name="TextBox 20"/>
          <p:cNvSpPr txBox="1"/>
          <p:nvPr/>
        </p:nvSpPr>
        <p:spPr>
          <a:xfrm>
            <a:off x="9098280" y="2514600"/>
            <a:ext cx="2423160" cy="457200"/>
          </a:xfrm>
          <a:prstGeom prst="rect">
            <a:avLst/>
          </a:prstGeom>
          <a:noFill/>
        </p:spPr>
        <p:txBody>
          <a:bodyPr wrap="square" anchor="t" lIns="36576" rIns="36576" tIns="36576" bIns="36576">
            <a:spAutoFit/>
          </a:bodyPr>
          <a:lstStyle/>
          <a:p>
            <a:pPr algn="l"/>
            <a:r>
              <a:rPr sz="1900" b="1">
                <a:solidFill>
                  <a:srgbClr val="FFFFFF"/>
                </a:solidFill>
                <a:latin typeface="Arial"/>
              </a:rPr>
              <a:t>Way of working</a:t>
            </a:r>
          </a:p>
        </p:txBody>
      </p:sp>
      <p:sp>
        <p:nvSpPr>
          <p:cNvPr id="22" name="TextBox 21"/>
          <p:cNvSpPr txBox="1"/>
          <p:nvPr/>
        </p:nvSpPr>
        <p:spPr>
          <a:xfrm>
            <a:off x="9098280" y="2973070"/>
            <a:ext cx="2423160" cy="1920239"/>
          </a:xfrm>
          <a:prstGeom prst="rect">
            <a:avLst/>
          </a:prstGeom>
          <a:noFill/>
        </p:spPr>
        <p:txBody>
          <a:bodyPr wrap="square" anchor="t" lIns="36576" rIns="36576" tIns="36576" bIns="36576">
            <a:spAutoFit/>
          </a:bodyPr>
          <a:lstStyle/>
          <a:p>
            <a:pPr algn="l"/>
            <a:r>
              <a:rPr sz="1900" b="0">
                <a:solidFill>
                  <a:srgbClr val="B4BEDC"/>
                </a:solidFill>
                <a:latin typeface="Arial"/>
              </a:rPr>
              <a:t>Short spec, instruct, review, test, revise</a:t>
            </a:r>
          </a:p>
        </p:txBody>
      </p:sp>
      <p:sp>
        <p:nvSpPr>
          <p:cNvPr id="23" name="TextBox 22"/>
          <p:cNvSpPr txBox="1"/>
          <p:nvPr/>
        </p:nvSpPr>
        <p:spPr>
          <a:xfrm>
            <a:off x="457200" y="5303520"/>
            <a:ext cx="11247120" cy="731520"/>
          </a:xfrm>
          <a:prstGeom prst="rect">
            <a:avLst/>
          </a:prstGeom>
          <a:noFill/>
        </p:spPr>
        <p:txBody>
          <a:bodyPr wrap="square" anchor="t" lIns="36576" rIns="36576" tIns="36576" bIns="36576">
            <a:spAutoFit/>
          </a:bodyPr>
          <a:lstStyle/>
          <a:p>
            <a:pPr algn="l"/>
            <a:r>
              <a:rPr sz="1800" b="0">
                <a:solidFill>
                  <a:srgbClr val="B4BEDC"/>
                </a:solidFill>
                <a:latin typeface="Arial"/>
              </a:rPr>
              <a:t>Same method should work on your own DSP block, it just needs a clear spec and a way to check the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230"/>
        </a:solidFill>
        <a:effectLst/>
      </p:bgPr>
    </p:bg>
    <p:spTree>
      <p:nvGrpSpPr>
        <p:cNvPr id="1" name=""/>
        <p:cNvGrpSpPr/>
        <p:nvPr/>
      </p:nvGrpSpPr>
      <p:grpSpPr/>
      <p:pic>
        <p:nvPicPr>
          <p:cNvPr id="2" name="Picture 1" descr="2026-amd-on-wheel-1920x405.jpg"/>
          <p:cNvPicPr>
            <a:picLocks noChangeAspect="1"/>
          </p:cNvPicPr>
          <p:nvPr/>
        </p:nvPicPr>
        <p:blipFill>
          <a:blip r:embed="rId2"/>
          <a:srcRect t="30000" b="41555"/>
          <a:stretch>
            <a:fillRect/>
          </a:stretch>
        </p:blipFill>
        <p:spPr>
          <a:xfrm>
            <a:off x="0" y="0"/>
            <a:ext cx="12191695" cy="731520"/>
          </a:xfrm>
          <a:prstGeom prst="rect">
            <a:avLst/>
          </a:prstGeom>
        </p:spPr>
      </p:pic>
      <p:sp>
        <p:nvSpPr>
          <p:cNvPr id="3" name="TextBox 2"/>
          <p:cNvSpPr txBox="1"/>
          <p:nvPr/>
        </p:nvSpPr>
        <p:spPr>
          <a:xfrm>
            <a:off x="457200" y="868680"/>
            <a:ext cx="8229600" cy="274320"/>
          </a:xfrm>
          <a:prstGeom prst="rect">
            <a:avLst/>
          </a:prstGeom>
          <a:noFill/>
        </p:spPr>
        <p:txBody>
          <a:bodyPr wrap="square" anchor="t" lIns="36576" rIns="36576" tIns="36576" bIns="36576">
            <a:spAutoFit/>
          </a:bodyPr>
          <a:lstStyle/>
          <a:p>
            <a:pPr algn="l"/>
            <a:r>
              <a:rPr sz="1100" b="1">
                <a:solidFill>
                  <a:srgbClr val="2DD4F0"/>
                </a:solidFill>
                <a:latin typeface="Arial"/>
              </a:rPr>
              <a:t>CONTINUE AFTERWARDS</a:t>
            </a:r>
          </a:p>
        </p:txBody>
      </p:sp>
      <p:sp>
        <p:nvSpPr>
          <p:cNvPr id="4" name="TextBox 3"/>
          <p:cNvSpPr txBox="1"/>
          <p:nvPr/>
        </p:nvSpPr>
        <p:spPr>
          <a:xfrm>
            <a:off x="457200" y="1097280"/>
            <a:ext cx="11247120" cy="731520"/>
          </a:xfrm>
          <a:prstGeom prst="rect">
            <a:avLst/>
          </a:prstGeom>
          <a:noFill/>
        </p:spPr>
        <p:txBody>
          <a:bodyPr wrap="square" anchor="t" lIns="36576" rIns="36576" tIns="36576" bIns="36576">
            <a:spAutoFit/>
          </a:bodyPr>
          <a:lstStyle/>
          <a:p>
            <a:pPr algn="l"/>
            <a:r>
              <a:rPr sz="3000" b="1">
                <a:solidFill>
                  <a:srgbClr val="FFFFFF"/>
                </a:solidFill>
                <a:latin typeface="Arial"/>
              </a:rPr>
              <a:t>Everything you need to try it is in the take-home pack</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a:solidFill>
                  <a:srgbClr val="B4BEDC"/>
                </a:solidFill>
                <a:latin typeface="Arial"/>
              </a:rPr>
              <a:t>AMD on Wheels NZ  ·  together we advance_</a:t>
            </a:r>
          </a:p>
        </p:txBody>
      </p:sp>
      <p:sp>
        <p:nvSpPr>
          <p:cNvPr id="6" name="TextBox 5"/>
          <p:cNvSpPr txBox="1"/>
          <p:nvPr/>
        </p:nvSpPr>
        <p:spPr>
          <a:xfrm>
            <a:off x="11155680" y="6473952"/>
            <a:ext cx="640080" cy="274320"/>
          </a:xfrm>
          <a:prstGeom prst="rect">
            <a:avLst/>
          </a:prstGeom>
          <a:noFill/>
        </p:spPr>
        <p:txBody>
          <a:bodyPr wrap="square" anchor="t" lIns="36576" rIns="36576" tIns="36576" bIns="36576">
            <a:spAutoFit/>
          </a:bodyPr>
          <a:lstStyle/>
          <a:p>
            <a:pPr algn="r"/>
            <a:r>
              <a:rPr sz="1000" b="0">
                <a:solidFill>
                  <a:srgbClr val="B4BEDC"/>
                </a:solidFill>
                <a:latin typeface="Arial"/>
              </a:rPr>
              <a:t>14</a:t>
            </a:r>
          </a:p>
        </p:txBody>
      </p:sp>
      <p:sp>
        <p:nvSpPr>
          <p:cNvPr id="7" name="Rectangle 6"/>
          <p:cNvSpPr/>
          <p:nvPr/>
        </p:nvSpPr>
        <p:spPr>
          <a:xfrm>
            <a:off x="457200" y="2194560"/>
            <a:ext cx="5486400" cy="3291840"/>
          </a:xfrm>
          <a:prstGeom prst="rect">
            <a:avLst/>
          </a:prstGeom>
          <a:solidFill>
            <a:srgbClr val="121E4A"/>
          </a:solidFill>
          <a:ln w="19050">
            <a:solidFill>
              <a:srgbClr val="2DD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331720"/>
            <a:ext cx="5212080" cy="457200"/>
          </a:xfrm>
          <a:prstGeom prst="rect">
            <a:avLst/>
          </a:prstGeom>
          <a:noFill/>
        </p:spPr>
        <p:txBody>
          <a:bodyPr wrap="square" anchor="t" lIns="36576" rIns="36576" tIns="36576" bIns="36576">
            <a:spAutoFit/>
          </a:bodyPr>
          <a:lstStyle/>
          <a:p>
            <a:pPr algn="l"/>
            <a:r>
              <a:rPr sz="2000" b="1">
                <a:solidFill>
                  <a:srgbClr val="FFFFFF"/>
                </a:solidFill>
                <a:latin typeface="Arial"/>
              </a:rPr>
              <a:t>Take-home pack</a:t>
            </a:r>
          </a:p>
        </p:txBody>
      </p:sp>
      <p:sp>
        <p:nvSpPr>
          <p:cNvPr id="9" name="TextBox 8"/>
          <p:cNvSpPr txBox="1"/>
          <p:nvPr/>
        </p:nvSpPr>
        <p:spPr>
          <a:xfrm>
            <a:off x="594360" y="2814319"/>
            <a:ext cx="5212080" cy="2651760"/>
          </a:xfrm>
          <a:prstGeom prst="rect">
            <a:avLst/>
          </a:prstGeom>
          <a:noFill/>
        </p:spPr>
        <p:txBody>
          <a:bodyPr wrap="square" anchor="t" lIns="36576" rIns="36576" tIns="36576" bIns="36576">
            <a:spAutoFit/>
          </a:bodyPr>
          <a:lstStyle/>
          <a:p>
            <a:pPr algn="l"/>
            <a:r>
              <a:rPr sz="1900" b="0">
                <a:solidFill>
                  <a:srgbClr val="B4BEDC"/>
                </a:solidFill>
                <a:latin typeface="Arial"/>
              </a:rPr>
              <a:t>Full spec, the prompts used, setup steps, and how to verify.
(link / QR to be added)</a:t>
            </a:r>
          </a:p>
        </p:txBody>
      </p:sp>
      <p:sp>
        <p:nvSpPr>
          <p:cNvPr id="10" name="Rectangle 9"/>
          <p:cNvSpPr/>
          <p:nvPr/>
        </p:nvSpPr>
        <p:spPr>
          <a:xfrm>
            <a:off x="4297680" y="3931920"/>
            <a:ext cx="1463040" cy="1463040"/>
          </a:xfrm>
          <a:prstGeom prst="rect">
            <a:avLst/>
          </a:prstGeom>
          <a:solidFill>
            <a:srgbClr val="05091C"/>
          </a:solidFill>
          <a:ln w="19050">
            <a:solidFill>
              <a:srgbClr val="B4B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4480560"/>
            <a:ext cx="1463040" cy="457200"/>
          </a:xfrm>
          <a:prstGeom prst="rect">
            <a:avLst/>
          </a:prstGeom>
          <a:noFill/>
        </p:spPr>
        <p:txBody>
          <a:bodyPr wrap="square" anchor="t" lIns="36576" rIns="36576" tIns="36576" bIns="36576">
            <a:spAutoFit/>
          </a:bodyPr>
          <a:lstStyle/>
          <a:p>
            <a:pPr algn="ctr"/>
            <a:r>
              <a:rPr sz="1300" b="0">
                <a:solidFill>
                  <a:srgbClr val="B4BEDC"/>
                </a:solidFill>
                <a:latin typeface="Arial"/>
              </a:rPr>
              <a:t>QR here</a:t>
            </a:r>
          </a:p>
        </p:txBody>
      </p:sp>
      <p:sp>
        <p:nvSpPr>
          <p:cNvPr id="12" name="Rectangle 11"/>
          <p:cNvSpPr/>
          <p:nvPr/>
        </p:nvSpPr>
        <p:spPr>
          <a:xfrm>
            <a:off x="6245352" y="2194560"/>
            <a:ext cx="5486400" cy="3291840"/>
          </a:xfrm>
          <a:prstGeom prst="rect">
            <a:avLst/>
          </a:prstGeom>
          <a:solidFill>
            <a:srgbClr val="121E4A"/>
          </a:solidFill>
          <a:ln w="19050">
            <a:solidFill>
              <a:srgbClr val="F45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2512" y="2066543"/>
            <a:ext cx="914400" cy="256032"/>
          </a:xfrm>
          <a:prstGeom prst="roundRect">
            <a:avLst/>
          </a:prstGeom>
          <a:solidFill>
            <a:srgbClr val="F45CB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A1230"/>
                </a:solidFill>
                <a:latin typeface="Arial"/>
              </a:rPr>
              <a:t>ROSS</a:t>
            </a:r>
          </a:p>
        </p:txBody>
      </p:sp>
      <p:sp>
        <p:nvSpPr>
          <p:cNvPr id="14" name="TextBox 13"/>
          <p:cNvSpPr txBox="1"/>
          <p:nvPr/>
        </p:nvSpPr>
        <p:spPr>
          <a:xfrm>
            <a:off x="6382512" y="2331720"/>
            <a:ext cx="5212080" cy="457200"/>
          </a:xfrm>
          <a:prstGeom prst="rect">
            <a:avLst/>
          </a:prstGeom>
          <a:noFill/>
        </p:spPr>
        <p:txBody>
          <a:bodyPr wrap="square" anchor="t" lIns="36576" rIns="36576" tIns="36576" bIns="36576">
            <a:spAutoFit/>
          </a:bodyPr>
          <a:lstStyle/>
          <a:p>
            <a:pPr algn="l"/>
            <a:r>
              <a:rPr sz="2000" b="1">
                <a:solidFill>
                  <a:srgbClr val="FFFFFF"/>
                </a:solidFill>
                <a:latin typeface="Arial"/>
              </a:rPr>
              <a:t>AMD Ross</a:t>
            </a:r>
          </a:p>
        </p:txBody>
      </p:sp>
      <p:sp>
        <p:nvSpPr>
          <p:cNvPr id="15" name="TextBox 14"/>
          <p:cNvSpPr txBox="1"/>
          <p:nvPr/>
        </p:nvSpPr>
        <p:spPr>
          <a:xfrm>
            <a:off x="6382512" y="2814319"/>
            <a:ext cx="5212080" cy="2651760"/>
          </a:xfrm>
          <a:prstGeom prst="rect">
            <a:avLst/>
          </a:prstGeom>
          <a:noFill/>
        </p:spPr>
        <p:txBody>
          <a:bodyPr wrap="square" anchor="t" lIns="36576" rIns="36576" tIns="36576" bIns="36576">
            <a:spAutoFit/>
          </a:bodyPr>
          <a:lstStyle/>
          <a:p>
            <a:pPr algn="l"/>
            <a:r>
              <a:rPr sz="1800" b="0">
                <a:solidFill>
                  <a:srgbClr val="B4BEDC"/>
                </a:solidFill>
                <a:latin typeface="Arial"/>
              </a:rPr>
              <a:t>amd.com/en/products/software/ross-agentic-ai.html
github.com/xilinx/ross-ai-assistant
The synth stays at the bench, come and play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