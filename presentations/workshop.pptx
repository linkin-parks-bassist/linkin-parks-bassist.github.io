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10.png" ContentType="image/png"/>
  <Override PartName="/ppt/media/image2.jpeg" ContentType="image/jpeg"/>
  <Override PartName="/ppt/media/image3.jpeg" ContentType="image/jpeg"/>
  <Override PartName="/ppt/media/image4.jpeg" ContentType="image/jpeg"/>
  <Override PartName="/ppt/media/media9.mp4" ContentType="video/mp4"/>
  <Override PartName="/ppt/media/image5.jpeg" ContentType="image/jpeg"/>
  <Override PartName="/ppt/media/image7.gif" ContentType="image/gif"/>
  <Override PartName="/ppt/media/image6.jpeg" ContentType="image/jpeg"/>
  <Override PartName="/ppt/media/image8.png" ContentType="image/png"/>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AU" sz="2000" spc="-1" strike="noStrike">
                <a:solidFill>
                  <a:srgbClr val="000000"/>
                </a:solidFill>
                <a:latin typeface="Arial"/>
              </a:rPr>
              <a:t>Click to edit the notes format</a:t>
            </a:r>
            <a:endParaRPr b="0" lang="en-AU"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AU" sz="1400" spc="-1" strike="noStrike">
                <a:solidFill>
                  <a:srgbClr val="000000"/>
                </a:solidFill>
                <a:latin typeface="Times New Roman"/>
              </a:rPr>
              <a:t>&lt;header&gt;</a:t>
            </a:r>
            <a:endParaRPr b="0" lang="en-AU"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AU" sz="1400" spc="-1" strike="noStrike">
                <a:solidFill>
                  <a:srgbClr val="000000"/>
                </a:solidFill>
                <a:latin typeface="Times New Roman"/>
              </a:defRPr>
            </a:lvl1pPr>
          </a:lstStyle>
          <a:p>
            <a:pPr indent="0" algn="r">
              <a:buNone/>
            </a:pPr>
            <a:r>
              <a:rPr b="0" lang="en-AU" sz="1400" spc="-1" strike="noStrike">
                <a:solidFill>
                  <a:srgbClr val="000000"/>
                </a:solidFill>
                <a:latin typeface="Times New Roman"/>
              </a:rPr>
              <a:t>&lt;date/time&gt;</a:t>
            </a:r>
            <a:endParaRPr b="0" lang="en-AU"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AU" sz="1400" spc="-1" strike="noStrike">
                <a:solidFill>
                  <a:srgbClr val="000000"/>
                </a:solidFill>
                <a:latin typeface="Times New Roman"/>
              </a:defRPr>
            </a:lvl1pPr>
          </a:lstStyle>
          <a:p>
            <a:pPr indent="0">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AU" sz="1400" spc="-1" strike="noStrike">
                <a:solidFill>
                  <a:srgbClr val="000000"/>
                </a:solidFill>
                <a:latin typeface="Times New Roman"/>
              </a:defRPr>
            </a:lvl1pPr>
          </a:lstStyle>
          <a:p>
            <a:pPr indent="0" algn="r">
              <a:buNone/>
            </a:pPr>
            <a:fld id="{37044187-E391-4701-B295-ACA8B1D03F0B}" type="slidenum">
              <a:rPr b="0" lang="en-AU" sz="1400" spc="-1" strike="noStrike">
                <a:solidFill>
                  <a:srgbClr val="000000"/>
                </a:solidFill>
                <a:latin typeface="Times New Roman"/>
              </a:rPr>
              <a:t>&lt;number&gt;</a:t>
            </a:fld>
            <a:endParaRPr b="0" lang="en-AU"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1143000" y="685800"/>
            <a:ext cx="4571640" cy="3428640"/>
          </a:xfrm>
          <a:prstGeom prst="rect">
            <a:avLst/>
          </a:prstGeom>
          <a:ln w="0">
            <a:noFill/>
          </a:ln>
        </p:spPr>
      </p:sp>
      <p:sp>
        <p:nvSpPr>
          <p:cNvPr id="56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0:00-0:45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Good afternoon. I'm David Farrell, a Field Application Engineer with Avnet.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session is called Vitis Agentic AI HLS, but what I actually want to show you is much more tangible: a musical idea turned into working adaptive hardware.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You are going to hear the result first. Then I will take it apart, explain why an FPGA is interesting for audio, and show you how a specification, AMD Ross, Vitis HLS, Vivado, and hardware-in-the-loop testing turned a slightly ridiculous bucket-list idea into a working instrument in a few days.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is not a story about pressing a magic AI button. It is a story about moving the engineer's effort upward: from typing every line to defining the system, judging evidence, and deciding what good enough actually means.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Keep the introduction short. Gesture toward the powered KV260 and controller before advancing.</a:t>
            </a:r>
            <a:endParaRPr b="0" lang="en-AU" sz="2000" spc="-1" strike="noStrike">
              <a:solidFill>
                <a:srgbClr val="000000"/>
              </a:solidFill>
              <a:latin typeface="Arial"/>
            </a:endParaRPr>
          </a:p>
        </p:txBody>
      </p:sp>
      <p:sp>
        <p:nvSpPr>
          <p:cNvPr id="566"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B1BF055-9083-4CF2-BC3C-99FA7B8F081D}"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1143000" y="685800"/>
            <a:ext cx="4571640" cy="3428640"/>
          </a:xfrm>
          <a:prstGeom prst="rect">
            <a:avLst/>
          </a:prstGeom>
          <a:ln w="0">
            <a:noFill/>
          </a:ln>
        </p:spPr>
      </p:sp>
      <p:sp>
        <p:nvSpPr>
          <p:cNvPr id="56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0:45-3:00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You may have noticed this synthesizer playing on the table today and wondered why it is here. Why a synthesizer? What does it do? What does it have to do with AMD? And what is the point of the demo?</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Before I answer any of that, let us hear it.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[PLAY a few separated notes. Then play a chord. Turn each of the four controls slowly enough for the audience to hear the change. Finish with a short phrase rather than technical noodling.]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that is the finished object. A polyphonic digital synthesizer running on an AMD Kria KV260. The controller supplies the performance; the KV260 creates every audio sample.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am deliberately showing you the result first because this is the acceptance boundary that matters. We can have beautiful source code, passing simulation, and green timing reports, but if the instrument does not respond properly and sound right on the physical hardware, the project is not finished.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Now let us take apart what you just heard.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LIVE DEMO: Have the KV260, FC25, DAC, and bench audio ready before presenting. Aim for 60-75 seconds of playing.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FALLBACK: If there is no sound within 15 seconds, say: "The live-demo gods require a sacrifice, so here is the recording." Play the backup clip. Do not debug on stage. Resume with: "So that is the object we are taking apart."</a:t>
            </a:r>
            <a:endParaRPr b="0" lang="en-AU" sz="2000" spc="-1" strike="noStrike">
              <a:solidFill>
                <a:srgbClr val="000000"/>
              </a:solidFill>
              <a:latin typeface="Arial"/>
            </a:endParaRPr>
          </a:p>
        </p:txBody>
      </p:sp>
      <p:sp>
        <p:nvSpPr>
          <p:cNvPr id="569"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8DAE5D2-D02A-4944-98F3-D16D8C9FFC8C}"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1143000" y="685800"/>
            <a:ext cx="4571640" cy="3428640"/>
          </a:xfrm>
          <a:prstGeom prst="rect">
            <a:avLst/>
          </a:prstGeom>
          <a:ln w="0">
            <a:noFill/>
          </a:ln>
        </p:spPr>
      </p:sp>
      <p:sp>
        <p:nvSpPr>
          <p:cNvPr id="57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3:00-4:20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first slightly surprising thing is that this keyboard is not really a keyboard at all. By itself, it makes no sound.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It is a MIDI controller. When I press a key or turn a dial, it sends a small message: key 60 was pressed, this was the velocity, dial one moved to 87. MIDI stands for Musical Instrument Digital Interface, but for our purposes it is simply a stream of performance instructions over USB.</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Those instructions travel into the Kria board. Linux keeps track of which notes are active and where the controls are. The programmable logic then calculates the actual waveform, sample by sample, and sends twenty-four-bit audio through a Pmod I2S DAC to the speakers.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all of the sound you heard is coming from this tiny green charcuterie board.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[PAUSE.]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controller tells it what I am doing. The AMD board is the instrument.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Point left to right: controller, MIDI bytes, Kria, sound. Let "charcuterie board" land before continuing.</a:t>
            </a:r>
            <a:endParaRPr b="0" lang="en-AU" sz="2000" spc="-1" strike="noStrike">
              <a:solidFill>
                <a:srgbClr val="000000"/>
              </a:solidFill>
              <a:latin typeface="Arial"/>
            </a:endParaRPr>
          </a:p>
        </p:txBody>
      </p:sp>
      <p:sp>
        <p:nvSpPr>
          <p:cNvPr id="572"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F1076A7-3132-4EDF-A643-CA89C945803C}"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1143000" y="685800"/>
            <a:ext cx="4571640" cy="3428640"/>
          </a:xfrm>
          <a:prstGeom prst="rect">
            <a:avLst/>
          </a:prstGeom>
          <a:ln w="0">
            <a:noFill/>
          </a:ln>
        </p:spPr>
      </p:sp>
      <p:sp>
        <p:nvSpPr>
          <p:cNvPr id="5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4:20-5:10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Instead of meats and cheeses, the centre of that board is a device containing an FPGA.</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Joachim has already taken us much deeper into FPGA design, but here is the thirty-second version. If a CPU is like this — a huge, finished LEGO Colosseum — it is an extraordinarily complicated, fixed machine. It runs instructions and is designed to do almost anything reasonably well.</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 FPGA is more like this: a pile of pieces. Logic, memory, arithmetic, and connections, waiting to become the circuit that our application needs.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With a CPU, I express the problem as instructions for an existing machine. With an FPGA, I can make the machine become the solution.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Which raises the obvious question: why on earth would I want the pile?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Reveal the Colosseum first, then the pile. Let the question hang before advancing.</a:t>
            </a:r>
            <a:endParaRPr b="0" lang="en-AU" sz="2000" spc="-1" strike="noStrike">
              <a:solidFill>
                <a:srgbClr val="000000"/>
              </a:solidFill>
              <a:latin typeface="Arial"/>
            </a:endParaRPr>
          </a:p>
        </p:txBody>
      </p:sp>
      <p:sp>
        <p:nvSpPr>
          <p:cNvPr id="575"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8956323-F537-40B3-ACDB-591551C37F81}"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1143000" y="685800"/>
            <a:ext cx="4571640" cy="3428640"/>
          </a:xfrm>
          <a:prstGeom prst="rect">
            <a:avLst/>
          </a:prstGeom>
          <a:ln w="0">
            <a:noFill/>
          </a:ln>
        </p:spPr>
      </p:sp>
      <p:sp>
        <p:nvSpPr>
          <p:cNvPr id="5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5:10-5:50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Because I can turn those pieces into a purpose-built machine that does one thing extremely well — like building the car instead of asking the Colosseum to drive.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Or I can add the one thing an existing system is missing: a custom interface, a real-time data path, a hardware accelerator, or some strange piece of glue logic that no standard processor provides.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 FPGA can be the machine, or it can be the missing part of a larger machine.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For this project, the pieces become oscillators, envelopes, filters, mixers, effects, control registers, and an audio interface. The one specific job is real-time digital signal processing.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Contrast the absurdly polished car with the deliberately improvised patch. The joke should lead directly into the serious architectural point.</a:t>
            </a:r>
            <a:endParaRPr b="0" lang="en-AU" sz="2000" spc="-1" strike="noStrike">
              <a:solidFill>
                <a:srgbClr val="000000"/>
              </a:solidFill>
              <a:latin typeface="Arial"/>
            </a:endParaRPr>
          </a:p>
        </p:txBody>
      </p:sp>
      <p:sp>
        <p:nvSpPr>
          <p:cNvPr id="578"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80DD4E9-4276-4287-965B-7832CB78DFD5}"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1143000" y="685800"/>
            <a:ext cx="4571640" cy="3428640"/>
          </a:xfrm>
          <a:prstGeom prst="rect">
            <a:avLst/>
          </a:prstGeom>
          <a:ln w="0">
            <a:noFill/>
          </a:ln>
        </p:spPr>
      </p:sp>
      <p:sp>
        <p:nvSpPr>
          <p:cNvPr id="5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5:50-6:40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Digital signal processing, or DSP, begins with a stream of numbers changing over time. That stream might come from a radio, a camera, a radar, a microphone, or a sensor.</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Sometimes we analyse it to extract information. Sometimes we transform it to create a new signal. Either way, the numbers keep arriving, and the work must keep pace.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In telecommunications, the sample rates and processing loads can be enormous. That combination of regular dataflow, parallel arithmetic, and hard throughput requirements is exactly where FPGAs shine.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Let the phased-array animation establish conventional DSP. Emphasize regular dataflow, parallel arithmetic, and fixed throughput before moving to the CPU comparison.</a:t>
            </a:r>
            <a:endParaRPr b="0" lang="en-AU" sz="2000" spc="-1" strike="noStrike">
              <a:solidFill>
                <a:srgbClr val="000000"/>
              </a:solidFill>
              <a:latin typeface="Arial"/>
            </a:endParaRPr>
          </a:p>
        </p:txBody>
      </p:sp>
      <p:sp>
        <p:nvSpPr>
          <p:cNvPr id="581"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16D7FF-AB34-4EF0-9335-C5CC33D248D7}"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1143000" y="685800"/>
            <a:ext cx="4571640" cy="3428640"/>
          </a:xfrm>
          <a:prstGeom prst="rect">
            <a:avLst/>
          </a:prstGeom>
          <a:ln w="0">
            <a:noFill/>
          </a:ln>
        </p:spPr>
      </p:sp>
      <p:sp>
        <p:nvSpPr>
          <p:cNvPr id="5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6:40-7:20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But when I hear the phrase digital signal processing, I do not first think about phased arrays or radio waves.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am a musician, so I think about sound waves.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Sound is also a never-ending stream of samples. A synthesizer is a particularly nice demonstration because we are not merely analysing the stream. We are constructing it in real time from performance events: sixteen voices, oscillators, wave shaping, filters, envelopes, modulation, mixing, reverb, output filtering, and conversion to PCM.</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And unlike an offline render, the next sample is always due on time.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Let the music picture own the slide. This is the personal pivot from general FPGA DSP to the synthesizer.</a:t>
            </a:r>
            <a:endParaRPr b="0" lang="en-AU" sz="2000" spc="-1" strike="noStrike">
              <a:solidFill>
                <a:srgbClr val="000000"/>
              </a:solidFill>
              <a:latin typeface="Arial"/>
            </a:endParaRPr>
          </a:p>
        </p:txBody>
      </p:sp>
      <p:sp>
        <p:nvSpPr>
          <p:cNvPr id="584"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5D749A6-2FD7-4A86-8C64-F230C7E2329C}"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1143000" y="685800"/>
            <a:ext cx="4571640" cy="3428640"/>
          </a:xfrm>
          <a:prstGeom prst="rect">
            <a:avLst/>
          </a:prstGeom>
          <a:ln w="0">
            <a:noFill/>
          </a:ln>
        </p:spPr>
      </p:sp>
      <p:sp>
        <p:nvSpPr>
          <p:cNvPr id="5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7:20-8:50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CPUs can produce excellent audio. Most commercial music software proves that every day. But they usually do it by buffering.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 CPU has many responsibilities: interrupts, system calls, the operating system, memory management, user interfaces, networking, and whatever else the machine is doing. It is very fast when our audio code gets its turn, but audio is not the only thing asking for attention.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we collect a batch of samples, process the batch, and play it while preparing the next one. The buffer gives the software some scheduling slack.</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Sure, we have lots of audio running on CPUs all day, every day, and it sounds fine. But I guarantee you have heard this sound before.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[CLICK the embedded audio clip.]</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is a deadline miss. Tiny missing sections create discontinuities, and those discontinuities are audible as the familiar crackle and pop.</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works beautifully until a deadline is missed. If the next buffer is not ready, the waveform is discontinuous. You hear a crack or a pop. At sufficient volume, that is not only unpleasant; it can be hostile to ears and speakers.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 real-time operating system helps us control scheduling, but it does not magically prove the whole application will meet every deadline under every condition. We still have software state, scheduling, and failure modes.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FPGA lets us approach the audio path differently.</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MEDIA: The embedded clip is built from the manually edited royalty-free WAV. The deleted sections and resulting discontinuities are intentional. Regenerating the deck preserves the WAV and re-embeds its current contents.</a:t>
            </a:r>
            <a:endParaRPr b="0" lang="en-AU" sz="2000" spc="-1" strike="noStrike">
              <a:solidFill>
                <a:srgbClr val="000000"/>
              </a:solidFill>
              <a:latin typeface="Arial"/>
            </a:endParaRPr>
          </a:p>
        </p:txBody>
      </p:sp>
      <p:sp>
        <p:nvSpPr>
          <p:cNvPr id="587"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030FF98-A0B5-46B4-BCE6-F2D717F97C6B}"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1143000" y="685800"/>
            <a:ext cx="4571640" cy="3428640"/>
          </a:xfrm>
          <a:prstGeom prst="rect">
            <a:avLst/>
          </a:prstGeom>
          <a:ln w="0">
            <a:noFill/>
          </a:ln>
        </p:spPr>
      </p:sp>
      <p:sp>
        <p:nvSpPr>
          <p:cNvPr id="5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8:50-10:10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In the programmable logic, every sample follows the same physical path: voices, mix, effects, output. The circuit has no operating-system scheduler in that path and no software process that can decide to take a little nap.</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Once the design is implemented and meets timing, the stream keeps moving. One input sample leads to one output sample on the same schedule, every time.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And software crashes. My working rule is that software is either so simple as to be useless, or complicated enough to contain bugs.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Hardware can certainly contain design mistakes as well. I have contributed several personally. Hardware can fail, and yes, cosmic rays exist. The claim is not that FPGAs are magic or infallible. The advantage is that the data path and its timing are explicit engineering objects. We can simulate them, constrain them, implement them, measure them, and prove whether they satisfy the required throughput.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determinism is powerful for audio. It is also where the difficulty begins.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Follow the sample path across the slide, then point to the evenly spaced sample train.</a:t>
            </a:r>
            <a:endParaRPr b="0" lang="en-AU" sz="2000" spc="-1" strike="noStrike">
              <a:solidFill>
                <a:srgbClr val="000000"/>
              </a:solidFill>
              <a:latin typeface="Arial"/>
            </a:endParaRPr>
          </a:p>
        </p:txBody>
      </p:sp>
      <p:sp>
        <p:nvSpPr>
          <p:cNvPr id="590"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07FDF86-8BBC-40EA-9C05-637F9BCC38FC}"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1143000" y="685800"/>
            <a:ext cx="4571640" cy="3428640"/>
          </a:xfrm>
          <a:prstGeom prst="rect">
            <a:avLst/>
          </a:prstGeom>
          <a:ln w="0">
            <a:noFill/>
          </a:ln>
        </p:spPr>
      </p:sp>
      <p:sp>
        <p:nvSpPr>
          <p:cNvPr id="5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10:10-11:30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If I am writing software for a Raspberry Pi and want to mix two audio streams, I write a loop, add the samples, manage the numeric range, and move 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If I want to do the same thing efficiently on an FPGA, I must think about representation, pipelines, latency, throughput, resources, interfaces, clock domains, constraints, and timing closure. If you want the full answer, come and see me after class.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FPGA engineering is powerful, but it has a high implementation cost. That is why this synthesizer sat on my FPGA-audio bucket list for years. I wanted the result; I could not justify all of the manual work for a side project.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But this year, in the year of our Lord 2026, a new era has begun.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[PAUSE.]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age of Agentic Engineering has begun.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And I had exactly the kind of slightly unreasonable experiment needed to test it.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Pause before the thesis line. Deliver it with conviction, but let the humour show.</a:t>
            </a:r>
            <a:endParaRPr b="0" lang="en-AU" sz="2000" spc="-1" strike="noStrike">
              <a:solidFill>
                <a:srgbClr val="000000"/>
              </a:solidFill>
              <a:latin typeface="Arial"/>
            </a:endParaRPr>
          </a:p>
        </p:txBody>
      </p:sp>
      <p:sp>
        <p:nvSpPr>
          <p:cNvPr id="593"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01A3D40-15CA-413A-B418-0ADA64DD0B52}"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1143000" y="685800"/>
            <a:ext cx="4571640" cy="3428640"/>
          </a:xfrm>
          <a:prstGeom prst="rect">
            <a:avLst/>
          </a:prstGeom>
          <a:ln w="0">
            <a:noFill/>
          </a:ln>
        </p:spPr>
      </p:sp>
      <p:sp>
        <p:nvSpPr>
          <p:cNvPr id="5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11:30-12:30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AMD recently introduced AMD Ross. In AMD's words, Ross spans software, silicon, and board design to accelerate embedded-system design, optimization, debug, and deployment. Unlike a generic assistant, it is built around AMD embedded development environments, AMD engineering knowledge, and expert-authored methodologies.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had the new tool. I also had this old idea: build a proper polyphonic synthesizer in programmable logic.</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my first thought was not, "Let us make a tiny tutorial that cannot possibly fail." It was, "Let us give Ross the bucket-list project and see what happens."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We have now covered what the object is and why FPGA audio is interesting. The rest of the talk is the engineering story: how intent became a specification, how the agents executed a plan, where they went wrong, how the evidence corrected the trajectory, and how the physical board had the final vote.</a:t>
            </a:r>
            <a:endParaRPr b="0" lang="en-AU" sz="2000" spc="-1" strike="noStrike">
              <a:solidFill>
                <a:srgbClr val="000000"/>
              </a:solidFill>
              <a:latin typeface="Arial"/>
            </a:endParaRPr>
          </a:p>
        </p:txBody>
      </p:sp>
      <p:sp>
        <p:nvSpPr>
          <p:cNvPr id="596"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BF29EB6-D96C-4FBE-879F-E62F09BFCA76}"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1143000" y="685800"/>
            <a:ext cx="4571640" cy="3428640"/>
          </a:xfrm>
          <a:prstGeom prst="rect">
            <a:avLst/>
          </a:prstGeom>
          <a:ln w="0">
            <a:noFill/>
          </a:ln>
        </p:spPr>
      </p:sp>
      <p:sp>
        <p:nvSpPr>
          <p:cNvPr id="5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12:30-13:45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There are four players in this build.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First, the Kria KV260. That is the hardware platform where the instrument runs. The Arm processors run Linux and the control software; the FPGA fabric becomes the audio machine.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Second, a completely ordinary USB MIDI controller. It supplies notes, velocity, and four dial movements. It makes no sound itself.</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Third, Vitis HLS. I describe the signal-processing algorithm in C and C++. Vitis HLS converts that into RTL and provides C simulation, synthesis, co-simulation, latency, resource, and timing estimates. Those estimates guide us; routed Vivado evidence remains the final implementation evidence.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Fourth, AMD Ross. Ross is the agentic collaborator operating across the engineering loop: editing sources, invoking the AMD tools, reading reports, diagnosing failures, and carrying evidence into the next iteration.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Hardware, performance input, implementation evidence, and an agentic collaborator. The engineer coordinates all four.</a:t>
            </a:r>
            <a:endParaRPr b="0" lang="en-AU" sz="2000" spc="-1" strike="noStrike">
              <a:solidFill>
                <a:srgbClr val="000000"/>
              </a:solidFill>
              <a:latin typeface="Arial"/>
            </a:endParaRPr>
          </a:p>
        </p:txBody>
      </p:sp>
      <p:sp>
        <p:nvSpPr>
          <p:cNvPr id="599"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46DD0A0-997F-49F0-A1E7-B868CC52FB97}"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1143000" y="685800"/>
            <a:ext cx="4571640" cy="3428640"/>
          </a:xfrm>
          <a:prstGeom prst="rect">
            <a:avLst/>
          </a:prstGeom>
          <a:ln w="0">
            <a:noFill/>
          </a:ln>
        </p:spPr>
      </p:sp>
      <p:sp>
        <p:nvSpPr>
          <p:cNvPr id="6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13:45-16:15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whole project began with a sentence very close to this: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want to create a polyphonic synthesizer on a KV260, with a MIDI controller connected over USB."</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was intent, not yet a specification. We had a brief conversation. How many voices? What is the signal path? Which side handles MIDI? How does software publish controls without the hardware seeing half an update? What audio interface are we using? What must simulation prove? What does timing closure mean? What must be observed on the real board before we call it accepted?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Those answers became a specification: behavior, interfaces, invariants, performance limits, and acceptance tests. The specification is the stable object. Implementations are allowed to change; the required result is not.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From that specification, the agent generated an ordered plan. The plan identified dependencies and gates: control software, the register interface, HLS DSP, audio serialization, integration, routed implementation, deployment, and hardware-in-the-loop acceptance.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Then subagents followed that plan. Work could be delegated into bounded pieces while preserving a common contract. Ross's Vivado capability handled project construction, synthesis, implementation, timing, CDC, DRC, and the bitstream flow. Its Vitis HLS skills handled algorithm implementation, simulation, synthesis, co-simulation, and optimization evidence.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important point is not merely that several agents were busy. Parallel chaos is still chaos. The specification and plan gave each worker a boundary, an expected result, and a test that determined whether the next stage could begin.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remained responsible for architecture, scope, review, trade-offs, and acceptance. But I did not manually type every layer or babysit every tool invocation. That workflow smashed through the implementation in a few days.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And then, inevitably, one of the agents became very productive in the wrong direction.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Move across the four cards slowly. This is the central process slide; do not rush it.</a:t>
            </a:r>
            <a:endParaRPr b="0" lang="en-AU" sz="2000" spc="-1" strike="noStrike">
              <a:solidFill>
                <a:srgbClr val="000000"/>
              </a:solidFill>
              <a:latin typeface="Arial"/>
            </a:endParaRPr>
          </a:p>
        </p:txBody>
      </p:sp>
      <p:sp>
        <p:nvSpPr>
          <p:cNvPr id="602"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AE7A440-A13C-466F-9293-B44010145069}"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1143000" y="685800"/>
            <a:ext cx="4571640" cy="3428640"/>
          </a:xfrm>
          <a:prstGeom prst="rect">
            <a:avLst/>
          </a:prstGeom>
          <a:ln w="0">
            <a:noFill/>
          </a:ln>
        </p:spPr>
      </p:sp>
      <p:sp>
        <p:nvSpPr>
          <p:cNvPr id="6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16:15-17:30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To understand the mistake, we need two numbers.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At a nominal one-hundred-megahertz clock and forty-eight-kilohertz audio, the HLS engine had roughly two thousand clock cycles available to produce each sample. That meant latency had room to grow. We did not need the smallest possible cycle count.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But the design also had to meet a ten-nanosecond clock-period target. If the logic could not run at that clock rate, the generous cycle budget was irrelevant. Timing closure was the acceptance criterion.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These requirements were already in the system context. This was not a case where the human forgot to say what mattered.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Fewer cycles would be pleasant. A faster critical path was necessary. That distinction set up a very revealing failure mode: the agent optimized metrics that were easy to improve rather than the constraint that determined success.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Watch what happened to the two columns.</a:t>
            </a:r>
            <a:endParaRPr b="0" lang="en-AU" sz="2000" spc="-1" strike="noStrike">
              <a:solidFill>
                <a:srgbClr val="000000"/>
              </a:solidFill>
              <a:latin typeface="Arial"/>
            </a:endParaRPr>
          </a:p>
        </p:txBody>
      </p:sp>
      <p:sp>
        <p:nvSpPr>
          <p:cNvPr id="605"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1BE7F27-A5D9-4A63-A2C5-66A71B36F55F}"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1143000" y="685800"/>
            <a:ext cx="4571640" cy="3428640"/>
          </a:xfrm>
          <a:prstGeom prst="rect">
            <a:avLst/>
          </a:prstGeom>
          <a:ln w="0">
            <a:noFill/>
          </a:ln>
        </p:spPr>
      </p:sp>
      <p:sp>
        <p:nvSpPr>
          <p:cNvPr id="60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17:30-19:30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 early agentic pass found a division and replaced it with reciprocal multiplication.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was not nonsense. The change reduced latency from one hundred and fourteen cycles to one hundred and eleven. It also saved one thousand five hundred and eighty-eight lookup tables. If I were scanning a report for improvements, both numbers look encouraging.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But look at the clock estimate. Before: thirteen point three zero one nanoseconds. After: thirteen point three zero one nanoseconds. Against a ten-nanosecond target, the design remained three point three zero one nanoseconds away from acceptance.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It improved everything except what mattered.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is agentic tunnel vision. The agent found a tractable local optimization, produced a legitimate implementation, ran the tool, and returned real evidence. It simply pursued the wrong definition of better.</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 great deal of engineering failure looks exactly like this. The work is competent. The metrics move. The presentation is green. The system requirement is still not met.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I discarded the pass. Saving area was not harmful, but it did not purchase acceptance. The next instruction had to remove any ambiguity about the optimization objective.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ATTRIBUTION: Describe this only as an early agentic or Codex pass. Do not claim AMD Ross made this specific reciprocal-multiply change.</a:t>
            </a:r>
            <a:endParaRPr b="0" lang="en-AU" sz="2000" spc="-1" strike="noStrike">
              <a:solidFill>
                <a:srgbClr val="000000"/>
              </a:solidFill>
              <a:latin typeface="Arial"/>
            </a:endParaRPr>
          </a:p>
        </p:txBody>
      </p:sp>
      <p:sp>
        <p:nvSpPr>
          <p:cNvPr id="608"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9F414ED-3E60-470C-BC88-1CEB8E853A41}"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1143000" y="685800"/>
            <a:ext cx="4571640" cy="3428640"/>
          </a:xfrm>
          <a:prstGeom prst="rect">
            <a:avLst/>
          </a:prstGeom>
          <a:ln w="0">
            <a:noFill/>
          </a:ln>
        </p:spPr>
      </p:sp>
      <p:sp>
        <p:nvSpPr>
          <p:cNvPr id="61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19:30-21:45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 redirected the trajectory with a very narrow instruction: stop optimizing latency. Optimize for F-max. Eyes on the ten-nanosecond target. Use the cycle budget.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AMD HLS optimization flow examined the critical path and found a serial chain of floating-point additions. That structure was compact, but every addition depended on the previous result, so the delay accumulated along one path.</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optimized version split the work into four partial sums and then combined them through a two-level tree. More operations could proceed in parallel, and the longest dependency chain became much shorter.</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Vitis HLS measured the trade-off. Latency increased from one hundred and fourteen to one hundred and thirty-six cycles. That sounds worse until we remember the system had approximately two thousand cycles available.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estimated clock period fell from thirteen point three zero one nanoseconds to seven point two three zero nanoseconds. The ten-nanosecond target was met with margin.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is why the human remains in the loop. The tool can search, transform, build, and measure at extraordinary speed. It cannot own the product objective for me. I must define what better means, recognize when an attractive metric is irrelevant, and approve the trade-off in system context.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complete loop is intent, implementation, evidence, judgment, and correction. Not prompt, vibes, and ship.</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And even this green HLS result was not the end. An estimate is not a routed design, and a routed design is not yet a working instrument.</a:t>
            </a:r>
            <a:endParaRPr b="0" lang="en-AU" sz="2000" spc="-1" strike="noStrike">
              <a:solidFill>
                <a:srgbClr val="000000"/>
              </a:solidFill>
              <a:latin typeface="Arial"/>
            </a:endParaRPr>
          </a:p>
        </p:txBody>
      </p:sp>
      <p:sp>
        <p:nvSpPr>
          <p:cNvPr id="611"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EFCF6D9-EBEC-4F6A-955C-D374B6C1DF5B}"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1143000" y="685800"/>
            <a:ext cx="4571640" cy="3428640"/>
          </a:xfrm>
          <a:prstGeom prst="rect">
            <a:avLst/>
          </a:prstGeom>
          <a:ln w="0">
            <a:noFill/>
          </a:ln>
        </p:spPr>
      </p:sp>
      <p:sp>
        <p:nvSpPr>
          <p:cNvPr id="6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21:45-25:00</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Reports and simulation are necessary, but this is an embedded instrument. The final vote belongs to the real KV260, the real DAC, the real MIDI controller, and, eventually, my ears.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We used layered hardware-in-the-loop testing so that a failure could be localized instead of producing the technical diagnosis, "It doesn't make noise."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first gate was the control plane. Read the identity register and require the value representing S-Y-N-T. Read the ABI version. Confirm that the audio clock is locked, the HLS engine is in the expected state, and the overrun count is zero.</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Then change shadow controls, increment a commit generation, and verify that the applied generation catches up at an audio-frame boundary. That proves software can publish a coherent snapshot. The DSP never sees half of one control update and half of another.</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second gate was the physical audio path. Select a diagnostic source and prove that known samples travel through the clock crossing, the I2S serializer, the Pmod DAC, the cable, and the speakers.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Then select the HLS source and write a known A4 voice directly through the register interface. Confirm that the DSP returns from busy, generations agree, and no sample overruns are recorded. At that point we have the actual synthesized core producing physical audio without involving MIDI discovery or the live control process.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Only then connect the FC25 over USB and test the complete path: notes, repeated notes, velocity, all four controls, releases, four-note and ten-note chords, register readback, and audible behavior.</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accepted run reached ten simultaneous notes, the physical register state matched the software controls, every note released, commit and applied generations agreed, and the overrun count remained zero. I also got to make the deeply scientific final assessment that it felt responsive and sounded excellent.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Simulation said the architecture should work. HLS and Vivado provided implementation evidence. Hardware in the loop proved that the assembled instrument did work.</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product was not finished when it compiled. It was finished when the physical system behaved as specified and the owner accepted what came out of the speakers.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OPTIONAL LIVE CHECK: If the terminal is already prepared, show identity and overrun count. Do not type or debug commands live.</a:t>
            </a:r>
            <a:endParaRPr b="0" lang="en-AU" sz="2000" spc="-1" strike="noStrike">
              <a:solidFill>
                <a:srgbClr val="000000"/>
              </a:solidFill>
              <a:latin typeface="Arial"/>
            </a:endParaRPr>
          </a:p>
        </p:txBody>
      </p:sp>
      <p:sp>
        <p:nvSpPr>
          <p:cNvPr id="614"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815E2EA-C4FC-444E-8031-64C74ACC77F1}"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1143000" y="685800"/>
            <a:ext cx="4571640" cy="3428640"/>
          </a:xfrm>
          <a:prstGeom prst="rect">
            <a:avLst/>
          </a:prstGeom>
          <a:ln w="0">
            <a:noFill/>
          </a:ln>
        </p:spPr>
      </p:sp>
      <p:sp>
        <p:nvSpPr>
          <p:cNvPr id="61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25:00-27:15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synthesizer had been on my FPGA-audio bucket list for years. The problem was never a lack of interest or even a lack of understanding. The implementation cost, measured in my time, was too high to justify for a side project.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Agentic engineering changed the economics enough that I could simply attempt it.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leads to a point resembling Jevons' paradox. When a resource becomes cheaper to use, total demand for it can rise because new uses become economical.</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If engineering an embedded system becomes cheaper in time and attention, the result is not necessarily less engineering. The set of worthwhile projects expands. Instruments, robots, sensors, experiments, customer prototypes, and products that used to live permanently on the someday list become reasonable things to try.</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That matters to me because writing every line by hand was not my job security. It was a ball and chain. It kept me occupied, certainly, but it also prevented me from exploring architectures, testing more ideas, and building more useful systems.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synthesizer is valuable as a demonstration, but the broader result is permission to attempt more ambitious engineering.</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Which raises the obvious question: if producing the implementation becomes easier, what is the engineer for?</a:t>
            </a:r>
            <a:endParaRPr b="0" lang="en-AU" sz="2000" spc="-1" strike="noStrike">
              <a:solidFill>
                <a:srgbClr val="000000"/>
              </a:solidFill>
              <a:latin typeface="Arial"/>
            </a:endParaRPr>
          </a:p>
        </p:txBody>
      </p:sp>
      <p:sp>
        <p:nvSpPr>
          <p:cNvPr id="617"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534556C-358F-4811-A7D1-2E3EA91121F0}"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1143000" y="685800"/>
            <a:ext cx="4571640" cy="3428640"/>
          </a:xfrm>
          <a:prstGeom prst="rect">
            <a:avLst/>
          </a:prstGeom>
          <a:ln w="0">
            <a:noFill/>
          </a:ln>
        </p:spPr>
      </p:sp>
      <p:sp>
        <p:nvSpPr>
          <p:cNvPr id="61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AU" sz="2000" spc="-1" strike="noStrike">
                <a:solidFill>
                  <a:srgbClr val="000000"/>
                </a:solidFill>
                <a:latin typeface="Arial"/>
              </a:rPr>
              <a:t>TIMING: 27:15-29:15</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SCRIPT:</a:t>
            </a: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scarce skill moves upward.</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We spend less time on syntax, boilerplate, language traps, and typing every line. We spend more time on intent, architecture, evidence, and judgment.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engineer chooses a valuable goal. The engineer turns a conversation into an exact specification. The engineer understands the whole system well enough to define interfaces and invariants. The engineer designs tests that can falsify a bad implementation, distinguishes estimates from routed evidence, and insists that the physical product agrees.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The engineer also recognizes agentic tunnel vision. When an agent proudly saves one thousand five hundred LUTs while missing the clock target by exactly the same amount, somebody must say: impressive, irrelevant, try again.</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AMD Ross and the AMD development stack can perform enormous amounts of implementation and tool work. That does not make engineering judgment less important. It makes judgment the limiting resource.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So my conclusion is not that this is less engineering. It is that we can finally spend more of our time doing the engineering that matters.</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[TURN toward the instrument.]</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This began as one sentence, became a specification and a plan, moved through HLS, Vivado, and hardware-in-the-loop evidence, and ended as an instrument I can play.</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It is not less engineering. It is engineering - and we can do so much more.</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Thank you.</a:t>
            </a:r>
            <a:endParaRPr b="0" lang="en-AU" sz="2000" spc="-1" strike="noStrike">
              <a:solidFill>
                <a:srgbClr val="000000"/>
              </a:solidFill>
              <a:latin typeface="Arial"/>
            </a:endParaRPr>
          </a:p>
          <a:p>
            <a:pPr marL="216000" indent="0">
              <a:lnSpc>
                <a:spcPct val="100000"/>
              </a:lnSpc>
              <a:buNone/>
            </a:pPr>
            <a:endParaRPr b="0" lang="en-AU" sz="2000" spc="-1" strike="noStrike">
              <a:solidFill>
                <a:srgbClr val="000000"/>
              </a:solidFill>
              <a:latin typeface="Arial"/>
            </a:endParaRPr>
          </a:p>
          <a:p>
            <a:pPr marL="216000" indent="0">
              <a:lnSpc>
                <a:spcPct val="100000"/>
              </a:lnSpc>
              <a:buNone/>
            </a:pPr>
            <a:r>
              <a:rPr b="0" lang="en-AU" sz="2000" spc="-1" strike="noStrike">
                <a:solidFill>
                  <a:srgbClr val="000000"/>
                </a:solidFill>
                <a:latin typeface="Arial"/>
              </a:rPr>
              <a:t>CUE: End attention on the physical instrument, not the slide. Leave 45 seconds for overrun, applause, or transition to questions.</a:t>
            </a:r>
            <a:endParaRPr b="0" lang="en-AU" sz="2000" spc="-1" strike="noStrike">
              <a:solidFill>
                <a:srgbClr val="000000"/>
              </a:solidFill>
              <a:latin typeface="Arial"/>
            </a:endParaRPr>
          </a:p>
        </p:txBody>
      </p:sp>
      <p:sp>
        <p:nvSpPr>
          <p:cNvPr id="620"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554EDF3-7F91-4F96-953A-02183448A8CC}" type="slidenum">
              <a:rPr b="0" lang="en-US" sz="1200" spc="-1" strike="noStrike">
                <a:solidFill>
                  <a:srgbClr val="000000"/>
                </a:solidFill>
                <a:latin typeface="Times New Roman"/>
              </a:rPr>
              <a:t>&lt;number&gt;</a:t>
            </a:fld>
            <a:endParaRPr b="0" lang="en-AU"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AU"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674E634-693D-4FAB-A1A6-B92BC3D92328}" type="slidenum">
              <a:t>&lt;#&gt;</a:t>
            </a:fld>
          </a:p>
        </p:txBody>
      </p:sp>
      <p:sp>
        <p:nvSpPr>
          <p:cNvPr id="6" name="PlaceHolder 5"/>
          <p:cNvSpPr>
            <a:spLocks noGrp="1"/>
          </p:cNvSpPr>
          <p:nvPr>
            <p:ph type="dt" idx="1"/>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6224BB3-F32A-4AC5-8231-BB2E07ED054A}" type="slidenum">
              <a:t>&lt;#&gt;</a:t>
            </a:fld>
          </a:p>
        </p:txBody>
      </p:sp>
      <p:sp>
        <p:nvSpPr>
          <p:cNvPr id="4" name="PlaceHolder 3"/>
          <p:cNvSpPr>
            <a:spLocks noGrp="1"/>
          </p:cNvSpPr>
          <p:nvPr>
            <p:ph type="dt" idx="4"/>
          </p:nvPr>
        </p:nvSpPr>
        <p:spPr/>
        <p:txBody>
          <a:bodyPr/>
          <a:p>
            <a:r>
              <a:rPr lang="en-AU"/>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80B0B6F3-C5B3-409D-9557-1A4DAB8C4ADD}" type="slidenum">
              <a:t>&lt;#&gt;</a:t>
            </a:fld>
          </a:p>
        </p:txBody>
      </p:sp>
      <p:sp>
        <p:nvSpPr>
          <p:cNvPr id="4" name="PlaceHolder 3"/>
          <p:cNvSpPr>
            <a:spLocks noGrp="1"/>
          </p:cNvSpPr>
          <p:nvPr>
            <p:ph type="dt" idx="7"/>
          </p:nvPr>
        </p:nvSpPr>
        <p:spPr/>
        <p:txBody>
          <a:bodyPr/>
          <a:p>
            <a:r>
              <a:rPr lang="en-AU"/>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B006E659-F7C3-41A1-BA64-2BF8532B8687}" type="slidenum">
              <a:t>&lt;#&gt;</a:t>
            </a:fld>
          </a:p>
        </p:txBody>
      </p:sp>
      <p:sp>
        <p:nvSpPr>
          <p:cNvPr id="6" name="PlaceHolder 5"/>
          <p:cNvSpPr>
            <a:spLocks noGrp="1"/>
          </p:cNvSpPr>
          <p:nvPr>
            <p:ph type="dt" idx="10"/>
          </p:nvPr>
        </p:nvSpPr>
        <p:spPr/>
        <p:txBody>
          <a:bodyPr/>
          <a:p>
            <a:r>
              <a:rPr lang="en-AU"/>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E363DE0-3331-4E1E-B0CB-7562B93BFC82}" type="slidenum">
              <a:t>&lt;#&gt;</a:t>
            </a:fld>
          </a:p>
        </p:txBody>
      </p:sp>
      <p:sp>
        <p:nvSpPr>
          <p:cNvPr id="4" name="PlaceHolder 3"/>
          <p:cNvSpPr>
            <a:spLocks noGrp="1"/>
          </p:cNvSpPr>
          <p:nvPr>
            <p:ph type="dt" idx="13"/>
          </p:nvPr>
        </p:nvSpPr>
        <p:spPr/>
        <p:txBody>
          <a:bodyPr/>
          <a:p>
            <a:r>
              <a:rPr lang="en-AU"/>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B74D610E-0E60-47D5-B9B4-FB77F22E08CA}" type="slidenum">
              <a:t>&lt;#&gt;</a:t>
            </a:fld>
          </a:p>
        </p:txBody>
      </p:sp>
      <p:sp>
        <p:nvSpPr>
          <p:cNvPr id="7" name="PlaceHolder 6"/>
          <p:cNvSpPr>
            <a:spLocks noGrp="1"/>
          </p:cNvSpPr>
          <p:nvPr>
            <p:ph type="dt" idx="16"/>
          </p:nvPr>
        </p:nvSpPr>
        <p:spPr/>
        <p:txBody>
          <a:bodyPr/>
          <a:p>
            <a:r>
              <a:rPr lang="en-AU"/>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8EED4F57-74DA-4A81-BDA6-773EE19576FD}" type="slidenum">
              <a:t>&lt;#&gt;</a:t>
            </a:fld>
          </a:p>
        </p:txBody>
      </p:sp>
      <p:sp>
        <p:nvSpPr>
          <p:cNvPr id="4" name="PlaceHolder 3"/>
          <p:cNvSpPr>
            <a:spLocks noGrp="1"/>
          </p:cNvSpPr>
          <p:nvPr>
            <p:ph type="dt" idx="19"/>
          </p:nvPr>
        </p:nvSpPr>
        <p:spPr/>
        <p:txBody>
          <a:bodyPr/>
          <a:p>
            <a:r>
              <a:rPr lang="en-AU"/>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0CD0DDD-C3D9-4D5A-8B8B-D1BDC6873154}" type="slidenum">
              <a:t>&lt;#&gt;</a:t>
            </a:fld>
          </a:p>
        </p:txBody>
      </p:sp>
      <p:sp>
        <p:nvSpPr>
          <p:cNvPr id="5" name="PlaceHolder 4"/>
          <p:cNvSpPr>
            <a:spLocks noGrp="1"/>
          </p:cNvSpPr>
          <p:nvPr>
            <p:ph type="dt" idx="22"/>
          </p:nvPr>
        </p:nvSpPr>
        <p:spPr/>
        <p:txBody>
          <a:bodyPr/>
          <a:p>
            <a:r>
              <a:rPr lang="en-AU"/>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FC0BAA5B-F224-4BE5-8704-344336ED0994}" type="slidenum">
              <a:t>&lt;#&gt;</a:t>
            </a:fld>
          </a:p>
        </p:txBody>
      </p:sp>
      <p:sp>
        <p:nvSpPr>
          <p:cNvPr id="4" name="PlaceHolder 3"/>
          <p:cNvSpPr>
            <a:spLocks noGrp="1"/>
          </p:cNvSpPr>
          <p:nvPr>
            <p:ph type="dt" idx="25"/>
          </p:nvPr>
        </p:nvSpPr>
        <p:spPr/>
        <p:txBody>
          <a:bodyPr/>
          <a:p>
            <a:r>
              <a:rPr lang="en-AU"/>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97F76B7-2706-479A-BBC8-AFFBDF6F3558}" type="slidenum">
              <a:t>&lt;#&gt;</a:t>
            </a:fld>
          </a:p>
        </p:txBody>
      </p:sp>
      <p:sp>
        <p:nvSpPr>
          <p:cNvPr id="4" name="PlaceHolder 3"/>
          <p:cNvSpPr>
            <a:spLocks noGrp="1"/>
          </p:cNvSpPr>
          <p:nvPr>
            <p:ph type="dt" idx="28"/>
          </p:nvPr>
        </p:nvSpPr>
        <p:spPr/>
        <p:txBody>
          <a:bodyPr/>
          <a:p>
            <a:r>
              <a:rPr lang="en-AU"/>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B84EB5D6-5CA9-4E71-96FC-3F4A9044D3EF}" type="slidenum">
              <a:t>&lt;#&gt;</a:t>
            </a:fld>
          </a:p>
        </p:txBody>
      </p:sp>
      <p:sp>
        <p:nvSpPr>
          <p:cNvPr id="4" name="PlaceHolder 3"/>
          <p:cNvSpPr>
            <a:spLocks noGrp="1"/>
          </p:cNvSpPr>
          <p:nvPr>
            <p:ph type="dt" idx="31"/>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7AF2569-1F33-40DC-AAFF-9D0E774617AA}"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D3C6100-6AD4-441C-892D-57DCE7AC6A01}"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E352A17-F3BC-4C8D-8CD7-7AE3A96A9340}"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4A45CC4-6E4D-4BED-BF6E-D84925A26970}"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a:t>
            </a:r>
            <a:r>
              <a:rPr b="1" lang="en-US" sz="4000" spc="-1" strike="noStrike" cap="all">
                <a:solidFill>
                  <a:schemeClr val="dk1"/>
                </a:solidFill>
                <a:latin typeface="Calibri"/>
              </a:rPr>
              <a:t>to edit </a:t>
            </a:r>
            <a:r>
              <a:rPr b="1" lang="en-US" sz="4000" spc="-1" strike="noStrike" cap="all">
                <a:solidFill>
                  <a:schemeClr val="dk1"/>
                </a:solidFill>
                <a:latin typeface="Calibri"/>
              </a:rPr>
              <a:t>Master </a:t>
            </a:r>
            <a:r>
              <a:rPr b="1" lang="en-US" sz="4000" spc="-1" strike="noStrike" cap="all">
                <a:solidFill>
                  <a:schemeClr val="dk1"/>
                </a:solidFill>
                <a:latin typeface="Calibri"/>
              </a:rPr>
              <a:t>title </a:t>
            </a:r>
            <a:r>
              <a:rPr b="1" lang="en-US" sz="4000" spc="-1" strike="noStrike" cap="all">
                <a:solidFill>
                  <a:schemeClr val="dk1"/>
                </a:solidFill>
                <a:latin typeface="Calibri"/>
              </a:rPr>
              <a:t>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7F02077-38A0-47EA-AAF1-CB92F2B14DA1}"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F228CE9-916C-4DAC-B6AA-94DD4E4F703E}"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a:t>
            </a:r>
            <a:r>
              <a:rPr b="0" lang="en-US" sz="4400" spc="-1" strike="noStrike">
                <a:solidFill>
                  <a:schemeClr val="dk1"/>
                </a:solidFill>
                <a:latin typeface="Calibri"/>
              </a:rPr>
              <a:t>edit </a:t>
            </a:r>
            <a:r>
              <a:rPr b="0" lang="en-US" sz="4400" spc="-1" strike="noStrike">
                <a:solidFill>
                  <a:schemeClr val="dk1"/>
                </a:solidFill>
                <a:latin typeface="Calibri"/>
              </a:rPr>
              <a:t>Master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489F584-310C-452C-A788-9CE93FBC8AF1}"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644A5CA-123F-4AD3-BD64-AA3DDA5C7B6B}"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5F5CEE8-82D8-4A8D-A1FB-9146335C91B9}"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50DC30D-119E-4E92-904D-DA1F41555AF7}"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AU"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AU" sz="1400" spc="-1" strike="noStrike">
                <a:solidFill>
                  <a:srgbClr val="000000"/>
                </a:solidFill>
                <a:latin typeface="Times New Roman"/>
              </a:defRPr>
            </a:lvl1pPr>
          </a:lstStyle>
          <a:p>
            <a:pPr indent="0" algn="ctr">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3B6DCB1-EBC4-4C45-A456-A352274C0CDA}" type="slidenum">
              <a:rPr b="0" lang="en-US" sz="1200" spc="-1" strike="noStrike">
                <a:solidFill>
                  <a:schemeClr val="dk1">
                    <a:tint val="75000"/>
                  </a:schemeClr>
                </a:solidFill>
                <a:latin typeface="Calibri"/>
              </a:rPr>
              <a:t>&lt;number&gt;</a:t>
            </a:fld>
            <a:endParaRPr b="0" lang="en-AU"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9.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9.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7.gif"/><Relationship Id="rId3" Type="http://schemas.openxmlformats.org/officeDocument/2006/relationships/slideLayout" Target="../slideLayouts/slideLayout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8.png"/><Relationship Id="rId3" Type="http://schemas.openxmlformats.org/officeDocument/2006/relationships/slideLayout" Target="../slideLayouts/slideLayout9.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video" Target="../media/media9.mp4"/><Relationship Id="rId3" Type="http://schemas.microsoft.com/office/2007/relationships/media" Target="../media/media9.mp4"/><Relationship Id="rId4" Type="http://schemas.openxmlformats.org/officeDocument/2006/relationships/image" Target="../media/image10.png"/><Relationship Id="rId5" Type="http://schemas.openxmlformats.org/officeDocument/2006/relationships/slideLayout" Target="../slideLayouts/slideLayout9.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Picture 1" descr="2026-amd-on-wheel-1920x1080.jpg"/>
          <p:cNvPicPr/>
          <p:nvPr/>
        </p:nvPicPr>
        <p:blipFill>
          <a:blip r:embed="rId1"/>
          <a:stretch/>
        </p:blipFill>
        <p:spPr>
          <a:xfrm>
            <a:off x="0" y="0"/>
            <a:ext cx="12191400" cy="6857640"/>
          </a:xfrm>
          <a:prstGeom prst="rect">
            <a:avLst/>
          </a:prstGeom>
          <a:ln w="0">
            <a:noFill/>
          </a:ln>
        </p:spPr>
      </p:pic>
      <p:sp>
        <p:nvSpPr>
          <p:cNvPr id="74" name="Rectangle 2"/>
          <p:cNvSpPr/>
          <p:nvPr/>
        </p:nvSpPr>
        <p:spPr>
          <a:xfrm>
            <a:off x="0" y="0"/>
            <a:ext cx="6903360" cy="6857640"/>
          </a:xfrm>
          <a:prstGeom prst="rect">
            <a:avLst/>
          </a:prstGeom>
          <a:solidFill>
            <a:srgbClr val="07102a">
              <a:alpha val="82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TextBox 3"/>
          <p:cNvSpPr/>
          <p:nvPr/>
        </p:nvSpPr>
        <p:spPr>
          <a:xfrm>
            <a:off x="640080" y="1234440"/>
            <a:ext cx="594324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00" spc="-1" strike="noStrike">
                <a:solidFill>
                  <a:srgbClr val="18d5f3"/>
                </a:solidFill>
                <a:latin typeface="Arial"/>
              </a:rPr>
              <a:t>AMD ON WHEELS NZ  ·  2026  ·  WORKSHOP</a:t>
            </a:r>
            <a:endParaRPr b="0" lang="en-AU" sz="1300" spc="-1" strike="noStrike">
              <a:solidFill>
                <a:srgbClr val="000000"/>
              </a:solidFill>
              <a:latin typeface="Arial"/>
            </a:endParaRPr>
          </a:p>
        </p:txBody>
      </p:sp>
      <p:sp>
        <p:nvSpPr>
          <p:cNvPr id="76" name="TextBox 4"/>
          <p:cNvSpPr/>
          <p:nvPr/>
        </p:nvSpPr>
        <p:spPr>
          <a:xfrm>
            <a:off x="640080" y="2148840"/>
            <a:ext cx="5806080" cy="640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200" spc="-1" strike="noStrike">
                <a:solidFill>
                  <a:srgbClr val="ffffff"/>
                </a:solidFill>
                <a:latin typeface="Arial"/>
              </a:rPr>
              <a:t>Vitis Agentic AI HLS</a:t>
            </a:r>
            <a:endParaRPr b="0" lang="en-AU" sz="4200" spc="-1" strike="noStrike">
              <a:solidFill>
                <a:srgbClr val="000000"/>
              </a:solidFill>
              <a:latin typeface="Arial"/>
            </a:endParaRPr>
          </a:p>
        </p:txBody>
      </p:sp>
      <p:sp>
        <p:nvSpPr>
          <p:cNvPr id="77" name="TextBox 5"/>
          <p:cNvSpPr/>
          <p:nvPr/>
        </p:nvSpPr>
        <p:spPr>
          <a:xfrm>
            <a:off x="640080" y="4343400"/>
            <a:ext cx="5577480" cy="640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2100" spc="-1" strike="noStrike">
                <a:solidFill>
                  <a:srgbClr val="ffffff"/>
                </a:solidFill>
                <a:latin typeface="Arial"/>
              </a:rPr>
              <a:t>From a musical idea to working adaptive hardware</a:t>
            </a:r>
            <a:endParaRPr b="0" lang="en-AU" sz="2100" spc="-1" strike="noStrike">
              <a:solidFill>
                <a:srgbClr val="000000"/>
              </a:solidFill>
              <a:latin typeface="Arial"/>
            </a:endParaRPr>
          </a:p>
        </p:txBody>
      </p:sp>
      <p:sp>
        <p:nvSpPr>
          <p:cNvPr id="78" name="TextBox 6"/>
          <p:cNvSpPr/>
          <p:nvPr/>
        </p:nvSpPr>
        <p:spPr>
          <a:xfrm>
            <a:off x="640080" y="6144840"/>
            <a:ext cx="54860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00" spc="-1" strike="noStrike">
                <a:solidFill>
                  <a:srgbClr val="bac3da"/>
                </a:solidFill>
                <a:latin typeface="Arial"/>
              </a:rPr>
              <a:t>David Farrell  ·  Field Application Engineer  ·  Avnet</a:t>
            </a:r>
            <a:endParaRPr b="0" lang="en-AU"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79"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80"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1"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THE QUESTION ON THE TABLE</a:t>
            </a:r>
            <a:endParaRPr b="0" lang="en-AU" sz="1200" spc="-1" strike="noStrike">
              <a:solidFill>
                <a:srgbClr val="ffffff"/>
              </a:solidFill>
              <a:latin typeface="Arial"/>
            </a:endParaRPr>
          </a:p>
        </p:txBody>
      </p:sp>
      <p:sp>
        <p:nvSpPr>
          <p:cNvPr id="82" name="TextBox 4"/>
          <p:cNvSpPr/>
          <p:nvPr/>
        </p:nvSpPr>
        <p:spPr>
          <a:xfrm>
            <a:off x="548640" y="594360"/>
            <a:ext cx="10972440" cy="457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000" spc="-1" strike="noStrike">
                <a:solidFill>
                  <a:srgbClr val="ffffff"/>
                </a:solidFill>
                <a:latin typeface="Arial"/>
              </a:rPr>
              <a:t>Why is there a synthesizer at AMD on Wheels?</a:t>
            </a:r>
            <a:endParaRPr b="0" lang="en-AU" sz="3000" spc="-1" strike="noStrike">
              <a:solidFill>
                <a:srgbClr val="ffffff"/>
              </a:solidFill>
              <a:latin typeface="Arial"/>
            </a:endParaRPr>
          </a:p>
        </p:txBody>
      </p:sp>
      <p:sp>
        <p:nvSpPr>
          <p:cNvPr id="83" name="Rounded Rectangle 5"/>
          <p:cNvSpPr/>
          <p:nvPr/>
        </p:nvSpPr>
        <p:spPr>
          <a:xfrm>
            <a:off x="4343400" y="2057400"/>
            <a:ext cx="3520080" cy="223992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 name="TextBox 6"/>
          <p:cNvSpPr/>
          <p:nvPr/>
        </p:nvSpPr>
        <p:spPr>
          <a:xfrm>
            <a:off x="4526280" y="2376720"/>
            <a:ext cx="3154320" cy="4125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700" spc="-1" strike="noStrike">
                <a:solidFill>
                  <a:srgbClr val="18d5f3"/>
                </a:solidFill>
                <a:latin typeface="Arial"/>
              </a:rPr>
              <a:t>THE DEMO</a:t>
            </a:r>
            <a:endParaRPr b="0" lang="en-AU" sz="2700" spc="-1" strike="noStrike">
              <a:solidFill>
                <a:srgbClr val="ffffff"/>
              </a:solidFill>
              <a:latin typeface="Arial"/>
            </a:endParaRPr>
          </a:p>
        </p:txBody>
      </p:sp>
      <p:sp>
        <p:nvSpPr>
          <p:cNvPr id="85" name="TextBox 7"/>
          <p:cNvSpPr/>
          <p:nvPr/>
        </p:nvSpPr>
        <p:spPr>
          <a:xfrm>
            <a:off x="4526280" y="3215160"/>
            <a:ext cx="3154320" cy="381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500" spc="-1" strike="noStrike">
                <a:solidFill>
                  <a:srgbClr val="e91880"/>
                </a:solidFill>
                <a:latin typeface="Arial"/>
              </a:rPr>
              <a:t>SYNTHESIZER</a:t>
            </a:r>
            <a:endParaRPr b="0" lang="en-AU" sz="2500" spc="-1" strike="noStrike">
              <a:solidFill>
                <a:srgbClr val="ffffff"/>
              </a:solidFill>
              <a:latin typeface="Arial"/>
            </a:endParaRPr>
          </a:p>
        </p:txBody>
      </p:sp>
      <p:sp>
        <p:nvSpPr>
          <p:cNvPr id="86" name="TextBox 8"/>
          <p:cNvSpPr/>
          <p:nvPr/>
        </p:nvSpPr>
        <p:spPr>
          <a:xfrm>
            <a:off x="4617720" y="3840480"/>
            <a:ext cx="297144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100" spc="-1" strike="noStrike">
                <a:solidFill>
                  <a:srgbClr val="bac3da"/>
                </a:solidFill>
                <a:latin typeface="Arial"/>
              </a:rPr>
              <a:t>the synthesizer on the table</a:t>
            </a:r>
            <a:endParaRPr b="0" lang="en-AU" sz="1100" spc="-1" strike="noStrike">
              <a:solidFill>
                <a:srgbClr val="ffffff"/>
              </a:solidFill>
              <a:latin typeface="Arial"/>
            </a:endParaRPr>
          </a:p>
        </p:txBody>
      </p:sp>
      <p:sp>
        <p:nvSpPr>
          <p:cNvPr id="87" name="Rounded Rectangle 9"/>
          <p:cNvSpPr/>
          <p:nvPr/>
        </p:nvSpPr>
        <p:spPr>
          <a:xfrm>
            <a:off x="594360" y="1828800"/>
            <a:ext cx="2788560" cy="114264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 name="TextBox 10"/>
          <p:cNvSpPr/>
          <p:nvPr/>
        </p:nvSpPr>
        <p:spPr>
          <a:xfrm>
            <a:off x="822960" y="2066040"/>
            <a:ext cx="2331360" cy="6408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100" spc="-1" strike="noStrike">
                <a:solidFill>
                  <a:srgbClr val="ffffff"/>
                </a:solidFill>
                <a:latin typeface="Arial"/>
              </a:rPr>
              <a:t>Why a</a:t>
            </a:r>
            <a:endParaRPr b="0" lang="en-AU" sz="2100" spc="-1" strike="noStrike">
              <a:solidFill>
                <a:srgbClr val="ffffff"/>
              </a:solidFill>
              <a:latin typeface="Arial"/>
            </a:endParaRPr>
          </a:p>
          <a:p>
            <a:pPr algn="ctr" defTabSz="457200">
              <a:lnSpc>
                <a:spcPct val="100000"/>
              </a:lnSpc>
            </a:pPr>
            <a:r>
              <a:rPr b="1" lang="en-US" sz="2100" spc="-1" strike="noStrike">
                <a:solidFill>
                  <a:srgbClr val="ffffff"/>
                </a:solidFill>
                <a:latin typeface="Arial"/>
              </a:rPr>
              <a:t>synthesizer?</a:t>
            </a:r>
            <a:endParaRPr b="0" lang="en-AU" sz="2100" spc="-1" strike="noStrike">
              <a:solidFill>
                <a:srgbClr val="ffffff"/>
              </a:solidFill>
              <a:latin typeface="Arial"/>
            </a:endParaRPr>
          </a:p>
        </p:txBody>
      </p:sp>
      <p:cxnSp>
        <p:nvCxnSpPr>
          <p:cNvPr id="89" name="Connector 11"/>
          <p:cNvCxnSpPr/>
          <p:nvPr/>
        </p:nvCxnSpPr>
        <p:spPr>
          <a:xfrm>
            <a:off x="3383280" y="2423160"/>
            <a:ext cx="960480" cy="320400"/>
          </a:xfrm>
          <a:prstGeom prst="straightConnector1">
            <a:avLst/>
          </a:prstGeom>
          <a:ln>
            <a:solidFill>
              <a:srgbClr val="ff7821"/>
            </a:solidFill>
            <a:round/>
          </a:ln>
        </p:spPr>
      </p:cxnSp>
      <p:sp>
        <p:nvSpPr>
          <p:cNvPr id="90" name="Rounded Rectangle 12"/>
          <p:cNvSpPr/>
          <p:nvPr/>
        </p:nvSpPr>
        <p:spPr>
          <a:xfrm>
            <a:off x="594360" y="3840480"/>
            <a:ext cx="2788560" cy="114264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 name="TextBox 13"/>
          <p:cNvSpPr/>
          <p:nvPr/>
        </p:nvSpPr>
        <p:spPr>
          <a:xfrm>
            <a:off x="822960" y="4077720"/>
            <a:ext cx="2331360" cy="6408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100" spc="-1" strike="noStrike">
                <a:solidFill>
                  <a:srgbClr val="ffffff"/>
                </a:solidFill>
                <a:latin typeface="Arial"/>
              </a:rPr>
              <a:t>What does</a:t>
            </a:r>
            <a:endParaRPr b="0" lang="en-AU" sz="2100" spc="-1" strike="noStrike">
              <a:solidFill>
                <a:srgbClr val="ffffff"/>
              </a:solidFill>
              <a:latin typeface="Arial"/>
            </a:endParaRPr>
          </a:p>
          <a:p>
            <a:pPr algn="ctr" defTabSz="457200">
              <a:lnSpc>
                <a:spcPct val="100000"/>
              </a:lnSpc>
            </a:pPr>
            <a:r>
              <a:rPr b="1" lang="en-US" sz="2100" spc="-1" strike="noStrike">
                <a:solidFill>
                  <a:srgbClr val="ffffff"/>
                </a:solidFill>
                <a:latin typeface="Arial"/>
              </a:rPr>
              <a:t>it do?</a:t>
            </a:r>
            <a:endParaRPr b="0" lang="en-AU" sz="2100" spc="-1" strike="noStrike">
              <a:solidFill>
                <a:srgbClr val="ffffff"/>
              </a:solidFill>
              <a:latin typeface="Arial"/>
            </a:endParaRPr>
          </a:p>
        </p:txBody>
      </p:sp>
      <p:cxnSp>
        <p:nvCxnSpPr>
          <p:cNvPr id="92" name="Connector 14"/>
          <p:cNvCxnSpPr/>
          <p:nvPr/>
        </p:nvCxnSpPr>
        <p:spPr>
          <a:xfrm flipV="1">
            <a:off x="3383280" y="3703320"/>
            <a:ext cx="960480" cy="640440"/>
          </a:xfrm>
          <a:prstGeom prst="straightConnector1">
            <a:avLst/>
          </a:prstGeom>
          <a:ln>
            <a:solidFill>
              <a:srgbClr val="18d5f3"/>
            </a:solidFill>
            <a:round/>
          </a:ln>
        </p:spPr>
      </p:cxnSp>
      <p:sp>
        <p:nvSpPr>
          <p:cNvPr id="93" name="Rounded Rectangle 15"/>
          <p:cNvSpPr/>
          <p:nvPr/>
        </p:nvSpPr>
        <p:spPr>
          <a:xfrm>
            <a:off x="8732520" y="2331720"/>
            <a:ext cx="2880000" cy="164556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 name="TextBox 16"/>
          <p:cNvSpPr/>
          <p:nvPr/>
        </p:nvSpPr>
        <p:spPr>
          <a:xfrm>
            <a:off x="8961120" y="2646720"/>
            <a:ext cx="2422800" cy="96084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100" spc="-1" strike="noStrike">
                <a:solidFill>
                  <a:srgbClr val="ffffff"/>
                </a:solidFill>
                <a:latin typeface="Arial"/>
              </a:rPr>
              <a:t>What does this have to do with AMD?</a:t>
            </a:r>
            <a:endParaRPr b="0" lang="en-AU" sz="2100" spc="-1" strike="noStrike">
              <a:solidFill>
                <a:srgbClr val="ffffff"/>
              </a:solidFill>
              <a:latin typeface="Arial"/>
            </a:endParaRPr>
          </a:p>
        </p:txBody>
      </p:sp>
      <p:cxnSp>
        <p:nvCxnSpPr>
          <p:cNvPr id="95" name="Connector 17"/>
          <p:cNvCxnSpPr/>
          <p:nvPr/>
        </p:nvCxnSpPr>
        <p:spPr>
          <a:xfrm>
            <a:off x="7863840" y="3154680"/>
            <a:ext cx="869040" cy="360"/>
          </a:xfrm>
          <a:prstGeom prst="straightConnector1">
            <a:avLst/>
          </a:prstGeom>
          <a:ln>
            <a:solidFill>
              <a:srgbClr val="e91880"/>
            </a:solidFill>
            <a:round/>
          </a:ln>
        </p:spPr>
      </p:cxnSp>
      <p:sp>
        <p:nvSpPr>
          <p:cNvPr id="96" name="TextBox 18"/>
          <p:cNvSpPr/>
          <p:nvPr/>
        </p:nvSpPr>
        <p:spPr>
          <a:xfrm>
            <a:off x="594360" y="5650920"/>
            <a:ext cx="11018160" cy="3963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600" spc="-1" strike="noStrike">
                <a:solidFill>
                  <a:srgbClr val="ffffff"/>
                </a:solidFill>
                <a:latin typeface="Arial"/>
              </a:rPr>
              <a:t>What is the point of the demo?</a:t>
            </a:r>
            <a:endParaRPr b="0" lang="en-AU" sz="2600" spc="-1" strike="noStrike">
              <a:solidFill>
                <a:srgbClr val="ffffff"/>
              </a:solidFill>
              <a:latin typeface="Arial"/>
            </a:endParaRPr>
          </a:p>
        </p:txBody>
      </p:sp>
      <p:sp>
        <p:nvSpPr>
          <p:cNvPr id="97" name="TextBox 19"/>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98" name="TextBox 20"/>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2</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99"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00"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WHAT IT ACTUALLY IS</a:t>
            </a:r>
            <a:endParaRPr b="0" lang="en-AU" sz="1200" spc="-1" strike="noStrike">
              <a:solidFill>
                <a:srgbClr val="ffffff"/>
              </a:solidFill>
              <a:latin typeface="Arial"/>
            </a:endParaRPr>
          </a:p>
        </p:txBody>
      </p:sp>
      <p:sp>
        <p:nvSpPr>
          <p:cNvPr id="102" name="TextBox 4"/>
          <p:cNvSpPr/>
          <p:nvPr/>
        </p:nvSpPr>
        <p:spPr>
          <a:xfrm>
            <a:off x="548640" y="594360"/>
            <a:ext cx="10972440" cy="457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000" spc="-1" strike="noStrike">
                <a:solidFill>
                  <a:srgbClr val="ffffff"/>
                </a:solidFill>
                <a:latin typeface="Arial"/>
              </a:rPr>
              <a:t>The keyboard makes no sound at all</a:t>
            </a:r>
            <a:endParaRPr b="0" lang="en-AU" sz="3000" spc="-1" strike="noStrike">
              <a:solidFill>
                <a:srgbClr val="ffffff"/>
              </a:solidFill>
              <a:latin typeface="Arial"/>
            </a:endParaRPr>
          </a:p>
        </p:txBody>
      </p:sp>
      <p:sp>
        <p:nvSpPr>
          <p:cNvPr id="103" name="Rounded Rectangle 5"/>
          <p:cNvSpPr/>
          <p:nvPr/>
        </p:nvSpPr>
        <p:spPr>
          <a:xfrm>
            <a:off x="594360" y="1920240"/>
            <a:ext cx="2925720" cy="297144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 name="TextBox 6"/>
          <p:cNvSpPr/>
          <p:nvPr/>
        </p:nvSpPr>
        <p:spPr>
          <a:xfrm>
            <a:off x="822960" y="2148840"/>
            <a:ext cx="246852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7821"/>
                </a:solidFill>
                <a:latin typeface="Arial"/>
              </a:rPr>
              <a:t>MIDI CONTROLLER</a:t>
            </a:r>
            <a:endParaRPr b="0" lang="en-AU" sz="1800" spc="-1" strike="noStrike">
              <a:solidFill>
                <a:srgbClr val="ffffff"/>
              </a:solidFill>
              <a:latin typeface="Arial"/>
            </a:endParaRPr>
          </a:p>
        </p:txBody>
      </p:sp>
      <p:sp>
        <p:nvSpPr>
          <p:cNvPr id="105" name="Rectangle 7"/>
          <p:cNvSpPr/>
          <p:nvPr/>
        </p:nvSpPr>
        <p:spPr>
          <a:xfrm>
            <a:off x="91440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 name="Rectangle 8"/>
          <p:cNvSpPr/>
          <p:nvPr/>
        </p:nvSpPr>
        <p:spPr>
          <a:xfrm>
            <a:off x="118872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Rectangle 9"/>
          <p:cNvSpPr/>
          <p:nvPr/>
        </p:nvSpPr>
        <p:spPr>
          <a:xfrm>
            <a:off x="146304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 name="Rectangle 10"/>
          <p:cNvSpPr/>
          <p:nvPr/>
        </p:nvSpPr>
        <p:spPr>
          <a:xfrm>
            <a:off x="173736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Rectangle 11"/>
          <p:cNvSpPr/>
          <p:nvPr/>
        </p:nvSpPr>
        <p:spPr>
          <a:xfrm>
            <a:off x="201168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0" name="Rectangle 12"/>
          <p:cNvSpPr/>
          <p:nvPr/>
        </p:nvSpPr>
        <p:spPr>
          <a:xfrm>
            <a:off x="228600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 name="Rectangle 13"/>
          <p:cNvSpPr/>
          <p:nvPr/>
        </p:nvSpPr>
        <p:spPr>
          <a:xfrm>
            <a:off x="256032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 name="Rectangle 14"/>
          <p:cNvSpPr/>
          <p:nvPr/>
        </p:nvSpPr>
        <p:spPr>
          <a:xfrm>
            <a:off x="2834640" y="2907720"/>
            <a:ext cx="237240" cy="959760"/>
          </a:xfrm>
          <a:prstGeom prst="rect">
            <a:avLst/>
          </a:prstGeom>
          <a:solidFill>
            <a:srgbClr val="ffffff"/>
          </a:solidFill>
          <a:ln w="1016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 name="Rectangle 15"/>
          <p:cNvSpPr/>
          <p:nvPr/>
        </p:nvSpPr>
        <p:spPr>
          <a:xfrm>
            <a:off x="1106280" y="2907720"/>
            <a:ext cx="155160" cy="56664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 name="Rectangle 16"/>
          <p:cNvSpPr/>
          <p:nvPr/>
        </p:nvSpPr>
        <p:spPr>
          <a:xfrm>
            <a:off x="1380600" y="2907720"/>
            <a:ext cx="155160" cy="56664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Rectangle 17"/>
          <p:cNvSpPr/>
          <p:nvPr/>
        </p:nvSpPr>
        <p:spPr>
          <a:xfrm>
            <a:off x="1929240" y="2907720"/>
            <a:ext cx="155160" cy="56664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Rectangle 18"/>
          <p:cNvSpPr/>
          <p:nvPr/>
        </p:nvSpPr>
        <p:spPr>
          <a:xfrm>
            <a:off x="2203560" y="2907720"/>
            <a:ext cx="155160" cy="56664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Rectangle 19"/>
          <p:cNvSpPr/>
          <p:nvPr/>
        </p:nvSpPr>
        <p:spPr>
          <a:xfrm>
            <a:off x="2477880" y="2907720"/>
            <a:ext cx="155160" cy="56664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TextBox 20"/>
          <p:cNvSpPr/>
          <p:nvPr/>
        </p:nvSpPr>
        <p:spPr>
          <a:xfrm>
            <a:off x="868680" y="4187880"/>
            <a:ext cx="23770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400" spc="-1" strike="noStrike">
                <a:solidFill>
                  <a:srgbClr val="bac3da"/>
                </a:solidFill>
                <a:latin typeface="Arial"/>
              </a:rPr>
              <a:t>keys and dials only</a:t>
            </a:r>
            <a:endParaRPr b="0" lang="en-AU" sz="1400" spc="-1" strike="noStrike">
              <a:solidFill>
                <a:srgbClr val="ffffff"/>
              </a:solidFill>
              <a:latin typeface="Arial"/>
            </a:endParaRPr>
          </a:p>
        </p:txBody>
      </p:sp>
      <p:cxnSp>
        <p:nvCxnSpPr>
          <p:cNvPr id="119" name="Connector 21"/>
          <p:cNvCxnSpPr/>
          <p:nvPr/>
        </p:nvCxnSpPr>
        <p:spPr>
          <a:xfrm>
            <a:off x="3520440" y="3246120"/>
            <a:ext cx="1143360" cy="360"/>
          </a:xfrm>
          <a:prstGeom prst="straightConnector1">
            <a:avLst/>
          </a:prstGeom>
          <a:ln>
            <a:solidFill>
              <a:srgbClr val="18d5f3"/>
            </a:solidFill>
            <a:round/>
          </a:ln>
        </p:spPr>
      </p:cxnSp>
      <p:sp>
        <p:nvSpPr>
          <p:cNvPr id="120" name="TextBox 22"/>
          <p:cNvSpPr/>
          <p:nvPr/>
        </p:nvSpPr>
        <p:spPr>
          <a:xfrm>
            <a:off x="3657600" y="2148840"/>
            <a:ext cx="9140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18d5f3"/>
                </a:solidFill>
                <a:latin typeface="Arial"/>
              </a:rPr>
              <a:t>MIDI</a:t>
            </a:r>
            <a:endParaRPr b="0" lang="en-AU" sz="1300" spc="-1" strike="noStrike">
              <a:solidFill>
                <a:srgbClr val="ffffff"/>
              </a:solidFill>
              <a:latin typeface="Arial"/>
            </a:endParaRPr>
          </a:p>
        </p:txBody>
      </p:sp>
      <p:sp>
        <p:nvSpPr>
          <p:cNvPr id="121" name="TextBox 23"/>
          <p:cNvSpPr/>
          <p:nvPr/>
        </p:nvSpPr>
        <p:spPr>
          <a:xfrm>
            <a:off x="3657600" y="2487240"/>
            <a:ext cx="914040" cy="9147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Arial"/>
              </a:rPr>
              <a:t>KEY 60</a:t>
            </a:r>
            <a:endParaRPr b="0" lang="en-AU" sz="1200" spc="-1" strike="noStrike">
              <a:solidFill>
                <a:srgbClr val="ffffff"/>
              </a:solidFill>
              <a:latin typeface="Arial"/>
            </a:endParaRPr>
          </a:p>
          <a:p>
            <a:pPr algn="ctr" defTabSz="457200">
              <a:lnSpc>
                <a:spcPct val="100000"/>
              </a:lnSpc>
            </a:pPr>
            <a:r>
              <a:rPr b="1" lang="en-US" sz="1200" spc="-1" strike="noStrike">
                <a:solidFill>
                  <a:srgbClr val="ffffff"/>
                </a:solidFill>
                <a:latin typeface="Arial"/>
              </a:rPr>
              <a:t>ON</a:t>
            </a:r>
            <a:endParaRPr b="0" lang="en-AU" sz="1200" spc="-1" strike="noStrike">
              <a:solidFill>
                <a:srgbClr val="ffffff"/>
              </a:solidFill>
              <a:latin typeface="Arial"/>
            </a:endParaRPr>
          </a:p>
          <a:p>
            <a:pPr algn="ctr" defTabSz="457200">
              <a:lnSpc>
                <a:spcPct val="100000"/>
              </a:lnSpc>
            </a:pPr>
            <a:endParaRPr b="0" lang="en-AU" sz="1200" spc="-1" strike="noStrike">
              <a:solidFill>
                <a:srgbClr val="ffffff"/>
              </a:solidFill>
              <a:latin typeface="Arial"/>
            </a:endParaRPr>
          </a:p>
          <a:p>
            <a:pPr algn="ctr" defTabSz="457200">
              <a:lnSpc>
                <a:spcPct val="100000"/>
              </a:lnSpc>
            </a:pPr>
            <a:r>
              <a:rPr b="1" lang="en-US" sz="1200" spc="-1" strike="noStrike">
                <a:solidFill>
                  <a:srgbClr val="ffffff"/>
                </a:solidFill>
                <a:latin typeface="Arial"/>
              </a:rPr>
              <a:t>DIAL 1</a:t>
            </a:r>
            <a:endParaRPr b="0" lang="en-AU" sz="1200" spc="-1" strike="noStrike">
              <a:solidFill>
                <a:srgbClr val="ffffff"/>
              </a:solidFill>
              <a:latin typeface="Arial"/>
            </a:endParaRPr>
          </a:p>
          <a:p>
            <a:pPr algn="ctr" defTabSz="457200">
              <a:lnSpc>
                <a:spcPct val="100000"/>
              </a:lnSpc>
            </a:pPr>
            <a:r>
              <a:rPr b="1" lang="en-US" sz="1200" spc="-1" strike="noStrike">
                <a:solidFill>
                  <a:srgbClr val="ffffff"/>
                </a:solidFill>
                <a:latin typeface="Arial"/>
              </a:rPr>
              <a:t>= 87</a:t>
            </a:r>
            <a:endParaRPr b="0" lang="en-AU" sz="1200" spc="-1" strike="noStrike">
              <a:solidFill>
                <a:srgbClr val="ffffff"/>
              </a:solidFill>
              <a:latin typeface="Arial"/>
            </a:endParaRPr>
          </a:p>
        </p:txBody>
      </p:sp>
      <p:sp>
        <p:nvSpPr>
          <p:cNvPr id="122" name="TextBox 24"/>
          <p:cNvSpPr/>
          <p:nvPr/>
        </p:nvSpPr>
        <p:spPr>
          <a:xfrm>
            <a:off x="3657600" y="4005000"/>
            <a:ext cx="9140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300" spc="-1" strike="noStrike">
                <a:solidFill>
                  <a:srgbClr val="bac3da"/>
                </a:solidFill>
                <a:latin typeface="Arial"/>
              </a:rPr>
              <a:t>just bytes</a:t>
            </a:r>
            <a:endParaRPr b="0" lang="en-AU" sz="1300" spc="-1" strike="noStrike">
              <a:solidFill>
                <a:srgbClr val="ffffff"/>
              </a:solidFill>
              <a:latin typeface="Arial"/>
            </a:endParaRPr>
          </a:p>
        </p:txBody>
      </p:sp>
      <p:sp>
        <p:nvSpPr>
          <p:cNvPr id="123" name="Rounded Rectangle 25"/>
          <p:cNvSpPr/>
          <p:nvPr/>
        </p:nvSpPr>
        <p:spPr>
          <a:xfrm>
            <a:off x="4663440" y="1828800"/>
            <a:ext cx="3702960" cy="315432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6"/>
          <p:cNvSpPr/>
          <p:nvPr/>
        </p:nvSpPr>
        <p:spPr>
          <a:xfrm>
            <a:off x="4937760" y="2057400"/>
            <a:ext cx="315432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4ade80"/>
                </a:solidFill>
                <a:latin typeface="Arial"/>
              </a:rPr>
              <a:t>THE AMD KRIA BOARD</a:t>
            </a:r>
            <a:endParaRPr b="0" lang="en-AU" sz="1800" spc="-1" strike="noStrike">
              <a:solidFill>
                <a:srgbClr val="ffffff"/>
              </a:solidFill>
              <a:latin typeface="Arial"/>
            </a:endParaRPr>
          </a:p>
        </p:txBody>
      </p:sp>
      <p:sp>
        <p:nvSpPr>
          <p:cNvPr id="125" name="Rounded Rectangle 27"/>
          <p:cNvSpPr/>
          <p:nvPr/>
        </p:nvSpPr>
        <p:spPr>
          <a:xfrm>
            <a:off x="5120640" y="2761560"/>
            <a:ext cx="1188360" cy="1142640"/>
          </a:xfrm>
          <a:prstGeom prst="roundRect">
            <a:avLst>
              <a:gd name="adj" fmla="val 16667"/>
            </a:avLst>
          </a:prstGeom>
          <a:solidFill>
            <a:srgbClr val="1a232f"/>
          </a:solidFill>
          <a:ln w="19050">
            <a:solidFill>
              <a:srgbClr val="bac3d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TextBox 28"/>
          <p:cNvSpPr/>
          <p:nvPr/>
        </p:nvSpPr>
        <p:spPr>
          <a:xfrm>
            <a:off x="5230440" y="3090600"/>
            <a:ext cx="968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K26 SOM</a:t>
            </a:r>
            <a:endParaRPr b="0" lang="en-AU" sz="1400" spc="-1" strike="noStrike">
              <a:solidFill>
                <a:srgbClr val="ffffff"/>
              </a:solidFill>
              <a:latin typeface="Arial"/>
            </a:endParaRPr>
          </a:p>
        </p:txBody>
      </p:sp>
      <p:sp>
        <p:nvSpPr>
          <p:cNvPr id="127" name="Rounded Rectangle 29"/>
          <p:cNvSpPr/>
          <p:nvPr/>
        </p:nvSpPr>
        <p:spPr>
          <a:xfrm>
            <a:off x="6537960" y="2761560"/>
            <a:ext cx="1325520" cy="502560"/>
          </a:xfrm>
          <a:prstGeom prst="roundRect">
            <a:avLst>
              <a:gd name="adj" fmla="val 16667"/>
            </a:avLst>
          </a:prstGeom>
          <a:solidFill>
            <a:srgbClr val="d5b565"/>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Rounded Rectangle 30"/>
          <p:cNvSpPr/>
          <p:nvPr/>
        </p:nvSpPr>
        <p:spPr>
          <a:xfrm>
            <a:off x="6537960" y="3429000"/>
            <a:ext cx="1325520" cy="47520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 name="TextBox 31"/>
          <p:cNvSpPr/>
          <p:nvPr/>
        </p:nvSpPr>
        <p:spPr>
          <a:xfrm>
            <a:off x="5029200" y="4251960"/>
            <a:ext cx="333720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this is where the sound is made</a:t>
            </a:r>
            <a:endParaRPr b="0" lang="en-AU" sz="1400" spc="-1" strike="noStrike">
              <a:solidFill>
                <a:srgbClr val="ffffff"/>
              </a:solidFill>
              <a:latin typeface="Arial"/>
            </a:endParaRPr>
          </a:p>
        </p:txBody>
      </p:sp>
      <p:cxnSp>
        <p:nvCxnSpPr>
          <p:cNvPr id="130" name="Connector 32"/>
          <p:cNvCxnSpPr/>
          <p:nvPr/>
        </p:nvCxnSpPr>
        <p:spPr>
          <a:xfrm>
            <a:off x="8366760" y="3246120"/>
            <a:ext cx="914760" cy="360"/>
          </a:xfrm>
          <a:prstGeom prst="straightConnector1">
            <a:avLst/>
          </a:prstGeom>
          <a:ln>
            <a:solidFill>
              <a:srgbClr val="e91880"/>
            </a:solidFill>
            <a:round/>
          </a:ln>
        </p:spPr>
      </p:cxnSp>
      <p:sp>
        <p:nvSpPr>
          <p:cNvPr id="131" name="Rounded Rectangle 33"/>
          <p:cNvSpPr/>
          <p:nvPr/>
        </p:nvSpPr>
        <p:spPr>
          <a:xfrm>
            <a:off x="9281160" y="2148840"/>
            <a:ext cx="2331360" cy="214848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 name="TextBox 34"/>
          <p:cNvSpPr/>
          <p:nvPr/>
        </p:nvSpPr>
        <p:spPr>
          <a:xfrm>
            <a:off x="9528120" y="2450520"/>
            <a:ext cx="182844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e91880"/>
                </a:solidFill>
                <a:latin typeface="Arial"/>
              </a:rPr>
              <a:t>SOUND</a:t>
            </a:r>
            <a:endParaRPr b="0" lang="en-AU" sz="2200" spc="-1" strike="noStrike">
              <a:solidFill>
                <a:srgbClr val="ffffff"/>
              </a:solidFill>
              <a:latin typeface="Arial"/>
            </a:endParaRPr>
          </a:p>
        </p:txBody>
      </p:sp>
      <p:sp>
        <p:nvSpPr>
          <p:cNvPr id="133" name="TextBox 35"/>
          <p:cNvSpPr/>
          <p:nvPr/>
        </p:nvSpPr>
        <p:spPr>
          <a:xfrm>
            <a:off x="9528120" y="3063240"/>
            <a:ext cx="1828440" cy="487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ffff"/>
                </a:solidFill>
                <a:latin typeface="Arial"/>
              </a:rPr>
              <a:t>audio samples</a:t>
            </a:r>
            <a:endParaRPr b="0" lang="en-AU" sz="1600" spc="-1" strike="noStrike">
              <a:solidFill>
                <a:srgbClr val="ffffff"/>
              </a:solidFill>
              <a:latin typeface="Arial"/>
            </a:endParaRPr>
          </a:p>
          <a:p>
            <a:pPr algn="ctr" defTabSz="457200">
              <a:lnSpc>
                <a:spcPct val="100000"/>
              </a:lnSpc>
            </a:pPr>
            <a:r>
              <a:rPr b="1" lang="en-US" sz="1600" spc="-1" strike="noStrike">
                <a:solidFill>
                  <a:srgbClr val="ffffff"/>
                </a:solidFill>
                <a:latin typeface="Arial"/>
              </a:rPr>
              <a:t>to the speakers</a:t>
            </a:r>
            <a:endParaRPr b="0" lang="en-AU" sz="1600" spc="-1" strike="noStrike">
              <a:solidFill>
                <a:srgbClr val="ffffff"/>
              </a:solidFill>
              <a:latin typeface="Arial"/>
            </a:endParaRPr>
          </a:p>
        </p:txBody>
      </p:sp>
      <p:sp>
        <p:nvSpPr>
          <p:cNvPr id="134" name="TextBox 36"/>
          <p:cNvSpPr/>
          <p:nvPr/>
        </p:nvSpPr>
        <p:spPr>
          <a:xfrm>
            <a:off x="594360" y="5559480"/>
            <a:ext cx="10972440" cy="3506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300" spc="-1" strike="noStrike">
                <a:solidFill>
                  <a:srgbClr val="ffffff"/>
                </a:solidFill>
                <a:latin typeface="Arial"/>
              </a:rPr>
              <a:t>The controller sends instructions. The AMD board creates the instrument.</a:t>
            </a:r>
            <a:endParaRPr b="0" lang="en-AU" sz="2300" spc="-1" strike="noStrike">
              <a:solidFill>
                <a:srgbClr val="ffffff"/>
              </a:solidFill>
              <a:latin typeface="Arial"/>
            </a:endParaRPr>
          </a:p>
        </p:txBody>
      </p:sp>
      <p:sp>
        <p:nvSpPr>
          <p:cNvPr id="135" name="TextBox 37"/>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136" name="TextBox 38"/>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3</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137"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38"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9"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INSIDE THE GREEN BOARD</a:t>
            </a:r>
            <a:endParaRPr b="0" lang="en-AU" sz="1200" spc="-1" strike="noStrike">
              <a:solidFill>
                <a:srgbClr val="ffffff"/>
              </a:solidFill>
              <a:latin typeface="Arial"/>
            </a:endParaRPr>
          </a:p>
        </p:txBody>
      </p:sp>
      <p:sp>
        <p:nvSpPr>
          <p:cNvPr id="140" name="TextBox 4"/>
          <p:cNvSpPr/>
          <p:nvPr/>
        </p:nvSpPr>
        <p:spPr>
          <a:xfrm>
            <a:off x="548640" y="594360"/>
            <a:ext cx="10972440" cy="457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000" spc="-1" strike="noStrike">
                <a:solidFill>
                  <a:srgbClr val="ffffff"/>
                </a:solidFill>
                <a:latin typeface="Arial"/>
              </a:rPr>
              <a:t>An FPGA is a box of digital building blocks</a:t>
            </a:r>
            <a:endParaRPr b="0" lang="en-AU" sz="3000" spc="-1" strike="noStrike">
              <a:solidFill>
                <a:srgbClr val="ffffff"/>
              </a:solidFill>
              <a:latin typeface="Arial"/>
            </a:endParaRPr>
          </a:p>
        </p:txBody>
      </p:sp>
      <p:sp>
        <p:nvSpPr>
          <p:cNvPr id="141" name="Rounded Rectangle 5"/>
          <p:cNvSpPr/>
          <p:nvPr/>
        </p:nvSpPr>
        <p:spPr>
          <a:xfrm>
            <a:off x="548640" y="1600200"/>
            <a:ext cx="5348880" cy="406872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2" name="Picture 6" descr="lego_col.jpg"/>
          <p:cNvPicPr/>
          <p:nvPr/>
        </p:nvPicPr>
        <p:blipFill>
          <a:blip r:embed="rId2"/>
          <a:srcRect l="0" t="1013" r="0" b="1013"/>
          <a:stretch/>
        </p:blipFill>
        <p:spPr>
          <a:xfrm>
            <a:off x="658440" y="1710000"/>
            <a:ext cx="5129280" cy="3337200"/>
          </a:xfrm>
          <a:prstGeom prst="rect">
            <a:avLst/>
          </a:prstGeom>
          <a:ln w="0">
            <a:noFill/>
          </a:ln>
        </p:spPr>
      </p:pic>
      <p:sp>
        <p:nvSpPr>
          <p:cNvPr id="143" name="TextBox 7"/>
          <p:cNvSpPr/>
          <p:nvPr/>
        </p:nvSpPr>
        <p:spPr>
          <a:xfrm>
            <a:off x="822960" y="5166360"/>
            <a:ext cx="48002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7821"/>
                </a:solidFill>
                <a:latin typeface="Arial"/>
              </a:rPr>
              <a:t>CPU: a finished, complicated machine</a:t>
            </a:r>
            <a:endParaRPr b="0" lang="en-AU" sz="1600" spc="-1" strike="noStrike">
              <a:solidFill>
                <a:srgbClr val="ffffff"/>
              </a:solidFill>
              <a:latin typeface="Arial"/>
            </a:endParaRPr>
          </a:p>
        </p:txBody>
      </p:sp>
      <p:sp>
        <p:nvSpPr>
          <p:cNvPr id="144" name="TextBox 8"/>
          <p:cNvSpPr/>
          <p:nvPr/>
        </p:nvSpPr>
        <p:spPr>
          <a:xfrm>
            <a:off x="5897880" y="3154680"/>
            <a:ext cx="392760" cy="427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800" spc="-1" strike="noStrike">
                <a:solidFill>
                  <a:srgbClr val="ffffff"/>
                </a:solidFill>
                <a:latin typeface="Arial"/>
              </a:rPr>
              <a:t>→</a:t>
            </a:r>
            <a:endParaRPr b="0" lang="en-AU" sz="2800" spc="-1" strike="noStrike">
              <a:solidFill>
                <a:srgbClr val="ffffff"/>
              </a:solidFill>
              <a:latin typeface="Arial"/>
            </a:endParaRPr>
          </a:p>
        </p:txBody>
      </p:sp>
      <p:sp>
        <p:nvSpPr>
          <p:cNvPr id="145" name="Rounded Rectangle 9"/>
          <p:cNvSpPr/>
          <p:nvPr/>
        </p:nvSpPr>
        <p:spPr>
          <a:xfrm>
            <a:off x="6291000" y="1600200"/>
            <a:ext cx="5348880" cy="406872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6" name="Picture 10" descr="lego_pile.jpg"/>
          <p:cNvPicPr/>
          <p:nvPr/>
        </p:nvPicPr>
        <p:blipFill>
          <a:blip r:embed="rId3"/>
          <a:srcRect l="0" t="6625" r="0" b="6625"/>
          <a:stretch/>
        </p:blipFill>
        <p:spPr>
          <a:xfrm>
            <a:off x="6400800" y="1710000"/>
            <a:ext cx="5129280" cy="3337200"/>
          </a:xfrm>
          <a:prstGeom prst="rect">
            <a:avLst/>
          </a:prstGeom>
          <a:ln w="0">
            <a:noFill/>
          </a:ln>
        </p:spPr>
      </p:pic>
      <p:sp>
        <p:nvSpPr>
          <p:cNvPr id="147" name="TextBox 11"/>
          <p:cNvSpPr/>
          <p:nvPr/>
        </p:nvSpPr>
        <p:spPr>
          <a:xfrm>
            <a:off x="6565320" y="5166360"/>
            <a:ext cx="48002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18d5f3"/>
                </a:solidFill>
                <a:latin typeface="Arial"/>
              </a:rPr>
              <a:t>FPGA: pieces waiting to become your machine</a:t>
            </a:r>
            <a:endParaRPr b="0" lang="en-AU" sz="1600" spc="-1" strike="noStrike">
              <a:solidFill>
                <a:srgbClr val="ffffff"/>
              </a:solidFill>
              <a:latin typeface="Arial"/>
            </a:endParaRPr>
          </a:p>
        </p:txBody>
      </p:sp>
      <p:sp>
        <p:nvSpPr>
          <p:cNvPr id="148" name="TextBox 12"/>
          <p:cNvSpPr/>
          <p:nvPr/>
        </p:nvSpPr>
        <p:spPr>
          <a:xfrm>
            <a:off x="594360" y="5596200"/>
            <a:ext cx="10972440" cy="3506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300" spc="-1" strike="noStrike">
                <a:solidFill>
                  <a:srgbClr val="ffffff"/>
                </a:solidFill>
                <a:latin typeface="Arial"/>
              </a:rPr>
              <a:t>A CPU runs instructions. An FPGA becomes the circuit.</a:t>
            </a:r>
            <a:endParaRPr b="0" lang="en-AU" sz="2300" spc="-1" strike="noStrike">
              <a:solidFill>
                <a:srgbClr val="ffffff"/>
              </a:solidFill>
              <a:latin typeface="Arial"/>
            </a:endParaRPr>
          </a:p>
        </p:txBody>
      </p:sp>
      <p:sp>
        <p:nvSpPr>
          <p:cNvPr id="149" name="TextBox 13"/>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150" name="TextBox 14"/>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4</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151"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52"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ff7821"/>
                </a:solidFill>
                <a:latin typeface="Arial"/>
              </a:rPr>
              <a:t>WHY WOULD YOU WANT THAT?</a:t>
            </a:r>
            <a:endParaRPr b="0" lang="en-AU" sz="1200" spc="-1" strike="noStrike">
              <a:solidFill>
                <a:srgbClr val="ffffff"/>
              </a:solidFill>
              <a:latin typeface="Arial"/>
            </a:endParaRPr>
          </a:p>
        </p:txBody>
      </p:sp>
      <p:sp>
        <p:nvSpPr>
          <p:cNvPr id="154"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Build the missing machine</a:t>
            </a:r>
            <a:endParaRPr b="0" lang="en-AU" sz="3100" spc="-1" strike="noStrike">
              <a:solidFill>
                <a:srgbClr val="ffffff"/>
              </a:solidFill>
              <a:latin typeface="Arial"/>
            </a:endParaRPr>
          </a:p>
        </p:txBody>
      </p:sp>
      <p:sp>
        <p:nvSpPr>
          <p:cNvPr id="155" name="Rounded Rectangle 5"/>
          <p:cNvSpPr/>
          <p:nvPr/>
        </p:nvSpPr>
        <p:spPr>
          <a:xfrm>
            <a:off x="548640" y="1600200"/>
            <a:ext cx="5348880" cy="406872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6" name="Picture 6" descr="lego_car.jpg"/>
          <p:cNvPicPr/>
          <p:nvPr/>
        </p:nvPicPr>
        <p:blipFill>
          <a:blip r:embed="rId2"/>
          <a:srcRect l="0" t="6624" r="0" b="6624"/>
          <a:stretch/>
        </p:blipFill>
        <p:spPr>
          <a:xfrm>
            <a:off x="658440" y="1710000"/>
            <a:ext cx="5129280" cy="3337200"/>
          </a:xfrm>
          <a:prstGeom prst="rect">
            <a:avLst/>
          </a:prstGeom>
          <a:ln w="0">
            <a:noFill/>
          </a:ln>
        </p:spPr>
      </p:pic>
      <p:sp>
        <p:nvSpPr>
          <p:cNvPr id="157" name="TextBox 7"/>
          <p:cNvSpPr/>
          <p:nvPr/>
        </p:nvSpPr>
        <p:spPr>
          <a:xfrm>
            <a:off x="822960" y="5166360"/>
            <a:ext cx="48002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DO ONE THING EXTREMELY WELL</a:t>
            </a:r>
            <a:endParaRPr b="0" lang="en-AU" sz="1600" spc="-1" strike="noStrike">
              <a:solidFill>
                <a:srgbClr val="ffffff"/>
              </a:solidFill>
              <a:latin typeface="Arial"/>
            </a:endParaRPr>
          </a:p>
        </p:txBody>
      </p:sp>
      <p:sp>
        <p:nvSpPr>
          <p:cNvPr id="158" name="Rounded Rectangle 8"/>
          <p:cNvSpPr/>
          <p:nvPr/>
        </p:nvSpPr>
        <p:spPr>
          <a:xfrm>
            <a:off x="6291000" y="1600200"/>
            <a:ext cx="5348880" cy="4068720"/>
          </a:xfrm>
          <a:prstGeom prst="roundRect">
            <a:avLst>
              <a:gd name="adj" fmla="val 16667"/>
            </a:avLst>
          </a:prstGeom>
          <a:solidFill>
            <a:srgbClr val="121e4a"/>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9" name="Picture 9" descr="lego_patch.jpg"/>
          <p:cNvPicPr/>
          <p:nvPr/>
        </p:nvPicPr>
        <p:blipFill>
          <a:blip r:embed="rId3"/>
          <a:srcRect l="0" t="25602" r="0" b="25602"/>
          <a:stretch/>
        </p:blipFill>
        <p:spPr>
          <a:xfrm>
            <a:off x="6400800" y="1710000"/>
            <a:ext cx="5129280" cy="3337200"/>
          </a:xfrm>
          <a:prstGeom prst="rect">
            <a:avLst/>
          </a:prstGeom>
          <a:ln w="0">
            <a:noFill/>
          </a:ln>
        </p:spPr>
      </p:pic>
      <p:sp>
        <p:nvSpPr>
          <p:cNvPr id="160" name="TextBox 10"/>
          <p:cNvSpPr/>
          <p:nvPr/>
        </p:nvSpPr>
        <p:spPr>
          <a:xfrm>
            <a:off x="6565320" y="5166360"/>
            <a:ext cx="48002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4ade80"/>
                </a:solidFill>
                <a:latin typeface="Arial"/>
              </a:rPr>
              <a:t>ADD WHAT THE SYSTEM IS MISSING</a:t>
            </a:r>
            <a:endParaRPr b="0" lang="en-AU" sz="1600" spc="-1" strike="noStrike">
              <a:solidFill>
                <a:srgbClr val="ffffff"/>
              </a:solidFill>
              <a:latin typeface="Arial"/>
            </a:endParaRPr>
          </a:p>
        </p:txBody>
      </p:sp>
      <p:sp>
        <p:nvSpPr>
          <p:cNvPr id="161" name="TextBox 11"/>
          <p:cNvSpPr/>
          <p:nvPr/>
        </p:nvSpPr>
        <p:spPr>
          <a:xfrm>
            <a:off x="594360" y="5870520"/>
            <a:ext cx="10972440" cy="320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100" spc="-1" strike="noStrike">
                <a:solidFill>
                  <a:srgbClr val="ffffff"/>
                </a:solidFill>
                <a:latin typeface="Arial"/>
              </a:rPr>
              <a:t>Purpose-built accelerator  ·  adaptable companion</a:t>
            </a:r>
            <a:endParaRPr b="0" lang="en-AU" sz="2100" spc="-1" strike="noStrike">
              <a:solidFill>
                <a:srgbClr val="ffffff"/>
              </a:solidFill>
              <a:latin typeface="Arial"/>
            </a:endParaRPr>
          </a:p>
        </p:txBody>
      </p:sp>
      <p:sp>
        <p:nvSpPr>
          <p:cNvPr id="162" name="TextBox 12"/>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163" name="TextBox 13"/>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5</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164"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65"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WHY THIS APPLICATION</a:t>
            </a:r>
            <a:endParaRPr b="0" lang="en-AU" sz="1200" spc="-1" strike="noStrike">
              <a:solidFill>
                <a:srgbClr val="ffffff"/>
              </a:solidFill>
              <a:latin typeface="Arial"/>
            </a:endParaRPr>
          </a:p>
        </p:txBody>
      </p:sp>
      <p:sp>
        <p:nvSpPr>
          <p:cNvPr id="167"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FPGAs excel at real-time digital signal processing</a:t>
            </a:r>
            <a:endParaRPr b="0" lang="en-AU" sz="2900" spc="-1" strike="noStrike">
              <a:solidFill>
                <a:srgbClr val="ffffff"/>
              </a:solidFill>
              <a:latin typeface="Arial"/>
            </a:endParaRPr>
          </a:p>
        </p:txBody>
      </p:sp>
      <p:sp>
        <p:nvSpPr>
          <p:cNvPr id="168" name="Rounded Rectangle 5"/>
          <p:cNvSpPr/>
          <p:nvPr/>
        </p:nvSpPr>
        <p:spPr>
          <a:xfrm>
            <a:off x="548640" y="1572840"/>
            <a:ext cx="6903360" cy="409608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9" name="Picture 6" descr="Phasearray.gif"/>
          <p:cNvPicPr/>
          <p:nvPr/>
        </p:nvPicPr>
        <p:blipFill>
          <a:blip r:embed="rId2"/>
          <a:srcRect l="0" t="14223" r="0" b="14223"/>
          <a:stretch/>
        </p:blipFill>
        <p:spPr>
          <a:xfrm>
            <a:off x="900000" y="1888200"/>
            <a:ext cx="6181560" cy="3331800"/>
          </a:xfrm>
          <a:prstGeom prst="rect">
            <a:avLst/>
          </a:prstGeom>
          <a:ln w="0">
            <a:noFill/>
          </a:ln>
        </p:spPr>
      </p:pic>
      <p:sp>
        <p:nvSpPr>
          <p:cNvPr id="170" name="TextBox 7"/>
          <p:cNvSpPr/>
          <p:nvPr/>
        </p:nvSpPr>
        <p:spPr>
          <a:xfrm>
            <a:off x="822960" y="5285160"/>
            <a:ext cx="635472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18d5f3"/>
                </a:solidFill>
                <a:latin typeface="Arial"/>
              </a:rPr>
              <a:t>RADIO: enormous streams of samples, processed as they arrive</a:t>
            </a:r>
            <a:endParaRPr b="0" lang="en-AU" sz="1300" spc="-1" strike="noStrike">
              <a:solidFill>
                <a:srgbClr val="ffffff"/>
              </a:solidFill>
              <a:latin typeface="Arial"/>
            </a:endParaRPr>
          </a:p>
        </p:txBody>
      </p:sp>
      <p:cxnSp>
        <p:nvCxnSpPr>
          <p:cNvPr id="171" name="Connector 8"/>
          <p:cNvCxnSpPr/>
          <p:nvPr/>
        </p:nvCxnSpPr>
        <p:spPr>
          <a:xfrm>
            <a:off x="7452360" y="3611880"/>
            <a:ext cx="366120" cy="360"/>
          </a:xfrm>
          <a:prstGeom prst="straightConnector1">
            <a:avLst/>
          </a:prstGeom>
          <a:ln>
            <a:solidFill>
              <a:srgbClr val="ff7821"/>
            </a:solidFill>
            <a:round/>
          </a:ln>
        </p:spPr>
      </p:cxnSp>
      <p:sp>
        <p:nvSpPr>
          <p:cNvPr id="172" name="Rounded Rectangle 9"/>
          <p:cNvSpPr/>
          <p:nvPr/>
        </p:nvSpPr>
        <p:spPr>
          <a:xfrm>
            <a:off x="7818120" y="1572840"/>
            <a:ext cx="3821760" cy="409608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 name="TextBox 10"/>
          <p:cNvSpPr/>
          <p:nvPr/>
        </p:nvSpPr>
        <p:spPr>
          <a:xfrm>
            <a:off x="8092440" y="1847160"/>
            <a:ext cx="327312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ff7821"/>
                </a:solidFill>
                <a:latin typeface="Arial"/>
              </a:rPr>
              <a:t>WHY FPGA?</a:t>
            </a:r>
            <a:endParaRPr b="0" lang="en-AU" sz="1700" spc="-1" strike="noStrike">
              <a:solidFill>
                <a:srgbClr val="ffffff"/>
              </a:solidFill>
              <a:latin typeface="Arial"/>
            </a:endParaRPr>
          </a:p>
        </p:txBody>
      </p:sp>
      <p:sp>
        <p:nvSpPr>
          <p:cNvPr id="174" name="Rounded Rectangle 11"/>
          <p:cNvSpPr/>
          <p:nvPr/>
        </p:nvSpPr>
        <p:spPr>
          <a:xfrm>
            <a:off x="8165520" y="2578680"/>
            <a:ext cx="3126960" cy="566640"/>
          </a:xfrm>
          <a:prstGeom prst="roundRect">
            <a:avLst>
              <a:gd name="adj" fmla="val 16667"/>
            </a:avLst>
          </a:prstGeom>
          <a:solidFill>
            <a:srgbClr val="05091c"/>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 name="TextBox 12"/>
          <p:cNvSpPr/>
          <p:nvPr/>
        </p:nvSpPr>
        <p:spPr>
          <a:xfrm>
            <a:off x="8302680" y="2715840"/>
            <a:ext cx="28526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PARALLEL ARITHMETIC</a:t>
            </a:r>
            <a:endParaRPr b="0" lang="en-AU" sz="1300" spc="-1" strike="noStrike">
              <a:solidFill>
                <a:srgbClr val="ffffff"/>
              </a:solidFill>
              <a:latin typeface="Arial"/>
            </a:endParaRPr>
          </a:p>
        </p:txBody>
      </p:sp>
      <p:sp>
        <p:nvSpPr>
          <p:cNvPr id="176" name="Rounded Rectangle 13"/>
          <p:cNvSpPr/>
          <p:nvPr/>
        </p:nvSpPr>
        <p:spPr>
          <a:xfrm>
            <a:off x="8165520" y="3364920"/>
            <a:ext cx="3126960" cy="566640"/>
          </a:xfrm>
          <a:prstGeom prst="roundRect">
            <a:avLst>
              <a:gd name="adj" fmla="val 16667"/>
            </a:avLst>
          </a:prstGeom>
          <a:solidFill>
            <a:srgbClr val="05091c"/>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 name="TextBox 14"/>
          <p:cNvSpPr/>
          <p:nvPr/>
        </p:nvSpPr>
        <p:spPr>
          <a:xfrm>
            <a:off x="8302680" y="3502080"/>
            <a:ext cx="28526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STREAMING DATAFLOW</a:t>
            </a:r>
            <a:endParaRPr b="0" lang="en-AU" sz="1300" spc="-1" strike="noStrike">
              <a:solidFill>
                <a:srgbClr val="ffffff"/>
              </a:solidFill>
              <a:latin typeface="Arial"/>
            </a:endParaRPr>
          </a:p>
        </p:txBody>
      </p:sp>
      <p:sp>
        <p:nvSpPr>
          <p:cNvPr id="178" name="Rounded Rectangle 15"/>
          <p:cNvSpPr/>
          <p:nvPr/>
        </p:nvSpPr>
        <p:spPr>
          <a:xfrm>
            <a:off x="8165520" y="4151520"/>
            <a:ext cx="3126960" cy="566640"/>
          </a:xfrm>
          <a:prstGeom prst="roundRect">
            <a:avLst>
              <a:gd name="adj" fmla="val 16667"/>
            </a:avLst>
          </a:prstGeom>
          <a:solidFill>
            <a:srgbClr val="05091c"/>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 name="TextBox 16"/>
          <p:cNvSpPr/>
          <p:nvPr/>
        </p:nvSpPr>
        <p:spPr>
          <a:xfrm>
            <a:off x="8302680" y="4288680"/>
            <a:ext cx="28526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FIXED THROUGHPUT</a:t>
            </a:r>
            <a:endParaRPr b="0" lang="en-AU" sz="1300" spc="-1" strike="noStrike">
              <a:solidFill>
                <a:srgbClr val="ffffff"/>
              </a:solidFill>
              <a:latin typeface="Arial"/>
            </a:endParaRPr>
          </a:p>
        </p:txBody>
      </p:sp>
      <p:sp>
        <p:nvSpPr>
          <p:cNvPr id="180" name="TextBox 17"/>
          <p:cNvSpPr/>
          <p:nvPr/>
        </p:nvSpPr>
        <p:spPr>
          <a:xfrm>
            <a:off x="8138160" y="5010840"/>
            <a:ext cx="31816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bac3da"/>
                </a:solidFill>
                <a:latin typeface="Arial"/>
              </a:rPr>
              <a:t>work keeps pace with the samples</a:t>
            </a:r>
            <a:endParaRPr b="0" lang="en-AU" sz="1400" spc="-1" strike="noStrike">
              <a:solidFill>
                <a:srgbClr val="ffffff"/>
              </a:solidFill>
              <a:latin typeface="Arial"/>
            </a:endParaRPr>
          </a:p>
        </p:txBody>
      </p:sp>
      <p:sp>
        <p:nvSpPr>
          <p:cNvPr id="181" name="TextBox 18"/>
          <p:cNvSpPr/>
          <p:nvPr/>
        </p:nvSpPr>
        <p:spPr>
          <a:xfrm>
            <a:off x="594360" y="5916240"/>
            <a:ext cx="10972440" cy="289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900" spc="-1" strike="noStrike">
                <a:solidFill>
                  <a:srgbClr val="ffffff"/>
                </a:solidFill>
                <a:latin typeface="Arial"/>
              </a:rPr>
              <a:t>DSP turns a stream of numbers into information — or into a new signal.</a:t>
            </a:r>
            <a:endParaRPr b="0" lang="en-AU" sz="1900" spc="-1" strike="noStrike">
              <a:solidFill>
                <a:srgbClr val="ffffff"/>
              </a:solidFill>
              <a:latin typeface="Arial"/>
            </a:endParaRPr>
          </a:p>
        </p:txBody>
      </p:sp>
      <p:sp>
        <p:nvSpPr>
          <p:cNvPr id="182" name="TextBox 19"/>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183" name="TextBox 20"/>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6</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184"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85"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ff7821"/>
                </a:solidFill>
                <a:latin typeface="Arial"/>
              </a:rPr>
              <a:t>THE PERSONAL PIVOT</a:t>
            </a:r>
            <a:endParaRPr b="0" lang="en-AU" sz="1200" spc="-1" strike="noStrike">
              <a:solidFill>
                <a:srgbClr val="ffffff"/>
              </a:solidFill>
              <a:latin typeface="Arial"/>
            </a:endParaRPr>
          </a:p>
        </p:txBody>
      </p:sp>
      <p:sp>
        <p:nvSpPr>
          <p:cNvPr id="187"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When I think of DSP...</a:t>
            </a:r>
            <a:endParaRPr b="0" lang="en-AU" sz="3100" spc="-1" strike="noStrike">
              <a:solidFill>
                <a:srgbClr val="ffffff"/>
              </a:solidFill>
              <a:latin typeface="Arial"/>
            </a:endParaRPr>
          </a:p>
        </p:txBody>
      </p:sp>
      <p:sp>
        <p:nvSpPr>
          <p:cNvPr id="188" name="Rounded Rectangle 5"/>
          <p:cNvSpPr/>
          <p:nvPr/>
        </p:nvSpPr>
        <p:spPr>
          <a:xfrm>
            <a:off x="685800" y="1572840"/>
            <a:ext cx="10816920" cy="4407120"/>
          </a:xfrm>
          <a:prstGeom prst="roundRect">
            <a:avLst>
              <a:gd name="adj" fmla="val 16667"/>
            </a:avLst>
          </a:prstGeom>
          <a:solidFill>
            <a:srgbClr val="05091c"/>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9" name="Picture 6" descr="musician.png"/>
          <p:cNvPicPr/>
          <p:nvPr/>
        </p:nvPicPr>
        <p:blipFill>
          <a:blip r:embed="rId2"/>
          <a:srcRect l="0" t="19957" r="0" b="19957"/>
          <a:stretch/>
        </p:blipFill>
        <p:spPr>
          <a:xfrm>
            <a:off x="1225080" y="1800000"/>
            <a:ext cx="9754920" cy="3904920"/>
          </a:xfrm>
          <a:prstGeom prst="rect">
            <a:avLst/>
          </a:prstGeom>
          <a:ln w="0">
            <a:noFill/>
          </a:ln>
        </p:spPr>
      </p:pic>
      <p:sp>
        <p:nvSpPr>
          <p:cNvPr id="190" name="Rounded Rectangle 7"/>
          <p:cNvSpPr/>
          <p:nvPr/>
        </p:nvSpPr>
        <p:spPr>
          <a:xfrm>
            <a:off x="6903720" y="4919400"/>
            <a:ext cx="4160160" cy="658080"/>
          </a:xfrm>
          <a:prstGeom prst="roundRect">
            <a:avLst>
              <a:gd name="adj" fmla="val 16667"/>
            </a:avLst>
          </a:prstGeom>
          <a:solidFill>
            <a:srgbClr val="07102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 name="TextBox 8"/>
          <p:cNvSpPr/>
          <p:nvPr/>
        </p:nvSpPr>
        <p:spPr>
          <a:xfrm>
            <a:off x="7113960" y="5074920"/>
            <a:ext cx="3739680" cy="3052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000" spc="-1" strike="noStrike">
                <a:solidFill>
                  <a:srgbClr val="ffffff"/>
                </a:solidFill>
                <a:latin typeface="Arial"/>
              </a:rPr>
              <a:t>I think about sound waves</a:t>
            </a:r>
            <a:endParaRPr b="0" lang="en-AU" sz="2000" spc="-1" strike="noStrike">
              <a:solidFill>
                <a:srgbClr val="ffffff"/>
              </a:solidFill>
              <a:latin typeface="Arial"/>
            </a:endParaRPr>
          </a:p>
        </p:txBody>
      </p:sp>
      <p:sp>
        <p:nvSpPr>
          <p:cNvPr id="192" name="TextBox 9"/>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193" name="TextBox 10"/>
          <p:cNvSpPr/>
          <p:nvPr/>
        </p:nvSpPr>
        <p:spPr>
          <a:xfrm>
            <a:off x="11155680" y="6473880"/>
            <a:ext cx="456840" cy="273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800" spc="-1" strike="noStrike">
                <a:solidFill>
                  <a:schemeClr val="dk1"/>
                </a:solidFill>
                <a:latin typeface="Calibri"/>
              </a:rPr>
              <a:t>7</a:t>
            </a:r>
            <a:endParaRPr b="0" lang="en-AU"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194"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195"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WHY FPGA AUDIO</a:t>
            </a:r>
            <a:endParaRPr b="0" lang="en-AU" sz="1200" spc="-1" strike="noStrike">
              <a:solidFill>
                <a:srgbClr val="ffffff"/>
              </a:solidFill>
              <a:latin typeface="Arial"/>
            </a:endParaRPr>
          </a:p>
        </p:txBody>
      </p:sp>
      <p:sp>
        <p:nvSpPr>
          <p:cNvPr id="197" name="TextBox 4"/>
          <p:cNvSpPr/>
          <p:nvPr/>
        </p:nvSpPr>
        <p:spPr>
          <a:xfrm>
            <a:off x="548640" y="594360"/>
            <a:ext cx="10972440" cy="457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000" spc="-1" strike="noStrike">
                <a:solidFill>
                  <a:srgbClr val="ffffff"/>
                </a:solidFill>
                <a:latin typeface="Arial"/>
              </a:rPr>
              <a:t>A CPU is fast — when audio gets its turn</a:t>
            </a:r>
            <a:endParaRPr b="0" lang="en-AU" sz="3000" spc="-1" strike="noStrike">
              <a:solidFill>
                <a:srgbClr val="ffffff"/>
              </a:solidFill>
              <a:latin typeface="Arial"/>
            </a:endParaRPr>
          </a:p>
        </p:txBody>
      </p:sp>
      <p:sp>
        <p:nvSpPr>
          <p:cNvPr id="198" name="Rounded Rectangle 5"/>
          <p:cNvSpPr/>
          <p:nvPr/>
        </p:nvSpPr>
        <p:spPr>
          <a:xfrm>
            <a:off x="548640" y="1627560"/>
            <a:ext cx="3657240" cy="404136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 name="TextBox 6"/>
          <p:cNvSpPr/>
          <p:nvPr/>
        </p:nvSpPr>
        <p:spPr>
          <a:xfrm>
            <a:off x="822960" y="1847160"/>
            <a:ext cx="310860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7821"/>
                </a:solidFill>
                <a:latin typeface="Arial"/>
              </a:rPr>
              <a:t>THE CPU'S DAY</a:t>
            </a:r>
            <a:endParaRPr b="0" lang="en-AU" sz="1800" spc="-1" strike="noStrike">
              <a:solidFill>
                <a:srgbClr val="ffffff"/>
              </a:solidFill>
              <a:latin typeface="Arial"/>
            </a:endParaRPr>
          </a:p>
        </p:txBody>
      </p:sp>
      <p:sp>
        <p:nvSpPr>
          <p:cNvPr id="200" name="Rounded Rectangle 7"/>
          <p:cNvSpPr/>
          <p:nvPr/>
        </p:nvSpPr>
        <p:spPr>
          <a:xfrm>
            <a:off x="914400" y="2423160"/>
            <a:ext cx="2925720" cy="282960"/>
          </a:xfrm>
          <a:prstGeom prst="roundRect">
            <a:avLst>
              <a:gd name="adj" fmla="val 16667"/>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 name="TextBox 8"/>
          <p:cNvSpPr/>
          <p:nvPr/>
        </p:nvSpPr>
        <p:spPr>
          <a:xfrm>
            <a:off x="1024200" y="249696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AUDIO</a:t>
            </a:r>
            <a:endParaRPr b="0" lang="en-AU" sz="1000" spc="-1" strike="noStrike">
              <a:solidFill>
                <a:srgbClr val="ffffff"/>
              </a:solidFill>
              <a:latin typeface="Arial"/>
            </a:endParaRPr>
          </a:p>
        </p:txBody>
      </p:sp>
      <p:sp>
        <p:nvSpPr>
          <p:cNvPr id="202" name="Rounded Rectangle 9"/>
          <p:cNvSpPr/>
          <p:nvPr/>
        </p:nvSpPr>
        <p:spPr>
          <a:xfrm>
            <a:off x="914400" y="2756880"/>
            <a:ext cx="2925720" cy="347040"/>
          </a:xfrm>
          <a:prstGeom prst="roundRect">
            <a:avLst>
              <a:gd name="adj" fmla="val 16667"/>
            </a:avLst>
          </a:prstGeom>
          <a:solidFill>
            <a:srgbClr val="e918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3" name="TextBox 10"/>
          <p:cNvSpPr/>
          <p:nvPr/>
        </p:nvSpPr>
        <p:spPr>
          <a:xfrm>
            <a:off x="1024200" y="286272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INTERRUPT</a:t>
            </a:r>
            <a:endParaRPr b="0" lang="en-AU" sz="1000" spc="-1" strike="noStrike">
              <a:solidFill>
                <a:srgbClr val="ffffff"/>
              </a:solidFill>
              <a:latin typeface="Arial"/>
            </a:endParaRPr>
          </a:p>
        </p:txBody>
      </p:sp>
      <p:sp>
        <p:nvSpPr>
          <p:cNvPr id="204" name="Rounded Rectangle 11"/>
          <p:cNvSpPr/>
          <p:nvPr/>
        </p:nvSpPr>
        <p:spPr>
          <a:xfrm>
            <a:off x="914400" y="3154680"/>
            <a:ext cx="2925720" cy="319680"/>
          </a:xfrm>
          <a:prstGeom prst="roundRect">
            <a:avLst>
              <a:gd name="adj" fmla="val 16667"/>
            </a:avLst>
          </a:prstGeom>
          <a:solidFill>
            <a:srgbClr val="ff782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 name="TextBox 12"/>
          <p:cNvSpPr/>
          <p:nvPr/>
        </p:nvSpPr>
        <p:spPr>
          <a:xfrm>
            <a:off x="1024200" y="324684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KERNEL</a:t>
            </a:r>
            <a:endParaRPr b="0" lang="en-AU" sz="1000" spc="-1" strike="noStrike">
              <a:solidFill>
                <a:srgbClr val="ffffff"/>
              </a:solidFill>
              <a:latin typeface="Arial"/>
            </a:endParaRPr>
          </a:p>
        </p:txBody>
      </p:sp>
      <p:sp>
        <p:nvSpPr>
          <p:cNvPr id="206" name="Rounded Rectangle 13"/>
          <p:cNvSpPr/>
          <p:nvPr/>
        </p:nvSpPr>
        <p:spPr>
          <a:xfrm>
            <a:off x="914400" y="3525120"/>
            <a:ext cx="2925720" cy="282960"/>
          </a:xfrm>
          <a:prstGeom prst="roundRect">
            <a:avLst>
              <a:gd name="adj" fmla="val 16667"/>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7" name="TextBox 14"/>
          <p:cNvSpPr/>
          <p:nvPr/>
        </p:nvSpPr>
        <p:spPr>
          <a:xfrm>
            <a:off x="1024200" y="359892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AUDIO</a:t>
            </a:r>
            <a:endParaRPr b="0" lang="en-AU" sz="1000" spc="-1" strike="noStrike">
              <a:solidFill>
                <a:srgbClr val="ffffff"/>
              </a:solidFill>
              <a:latin typeface="Arial"/>
            </a:endParaRPr>
          </a:p>
        </p:txBody>
      </p:sp>
      <p:sp>
        <p:nvSpPr>
          <p:cNvPr id="208" name="Rounded Rectangle 15"/>
          <p:cNvSpPr/>
          <p:nvPr/>
        </p:nvSpPr>
        <p:spPr>
          <a:xfrm>
            <a:off x="914400" y="3858840"/>
            <a:ext cx="2925720" cy="365400"/>
          </a:xfrm>
          <a:prstGeom prst="roundRect">
            <a:avLst>
              <a:gd name="adj" fmla="val 16667"/>
            </a:avLst>
          </a:prstGeom>
          <a:solidFill>
            <a:srgbClr val="4ade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9" name="TextBox 16"/>
          <p:cNvSpPr/>
          <p:nvPr/>
        </p:nvSpPr>
        <p:spPr>
          <a:xfrm>
            <a:off x="1024200" y="397404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SYSTEM CALL</a:t>
            </a:r>
            <a:endParaRPr b="0" lang="en-AU" sz="1000" spc="-1" strike="noStrike">
              <a:solidFill>
                <a:srgbClr val="ffffff"/>
              </a:solidFill>
              <a:latin typeface="Arial"/>
            </a:endParaRPr>
          </a:p>
        </p:txBody>
      </p:sp>
      <p:sp>
        <p:nvSpPr>
          <p:cNvPr id="210" name="Rounded Rectangle 17"/>
          <p:cNvSpPr/>
          <p:nvPr/>
        </p:nvSpPr>
        <p:spPr>
          <a:xfrm>
            <a:off x="914400" y="4275000"/>
            <a:ext cx="2925720" cy="365400"/>
          </a:xfrm>
          <a:prstGeom prst="roundRect">
            <a:avLst>
              <a:gd name="adj" fmla="val 16667"/>
            </a:avLst>
          </a:prstGeom>
          <a:solidFill>
            <a:srgbClr val="5679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1" name="TextBox 18"/>
          <p:cNvSpPr/>
          <p:nvPr/>
        </p:nvSpPr>
        <p:spPr>
          <a:xfrm>
            <a:off x="1024200" y="439020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OTHER TASK</a:t>
            </a:r>
            <a:endParaRPr b="0" lang="en-AU" sz="1000" spc="-1" strike="noStrike">
              <a:solidFill>
                <a:srgbClr val="ffffff"/>
              </a:solidFill>
              <a:latin typeface="Arial"/>
            </a:endParaRPr>
          </a:p>
        </p:txBody>
      </p:sp>
      <p:sp>
        <p:nvSpPr>
          <p:cNvPr id="212" name="Rounded Rectangle 19"/>
          <p:cNvSpPr/>
          <p:nvPr/>
        </p:nvSpPr>
        <p:spPr>
          <a:xfrm>
            <a:off x="914400" y="4690800"/>
            <a:ext cx="2925720" cy="282960"/>
          </a:xfrm>
          <a:prstGeom prst="roundRect">
            <a:avLst>
              <a:gd name="adj" fmla="val 16667"/>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 name="TextBox 20"/>
          <p:cNvSpPr/>
          <p:nvPr/>
        </p:nvSpPr>
        <p:spPr>
          <a:xfrm>
            <a:off x="1024200" y="4764600"/>
            <a:ext cx="2706120" cy="153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000" spc="-1" strike="noStrike">
                <a:solidFill>
                  <a:srgbClr val="07102a"/>
                </a:solidFill>
                <a:latin typeface="Arial"/>
              </a:rPr>
              <a:t>AUDIO</a:t>
            </a:r>
            <a:endParaRPr b="0" lang="en-AU" sz="1000" spc="-1" strike="noStrike">
              <a:solidFill>
                <a:srgbClr val="ffffff"/>
              </a:solidFill>
              <a:latin typeface="Arial"/>
            </a:endParaRPr>
          </a:p>
        </p:txBody>
      </p:sp>
      <p:sp>
        <p:nvSpPr>
          <p:cNvPr id="214" name="TextBox 21"/>
          <p:cNvSpPr/>
          <p:nvPr/>
        </p:nvSpPr>
        <p:spPr>
          <a:xfrm>
            <a:off x="804600" y="5074920"/>
            <a:ext cx="315432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bac3da"/>
                </a:solidFill>
                <a:latin typeface="Arial"/>
              </a:rPr>
              <a:t>fast, but shared</a:t>
            </a:r>
            <a:endParaRPr b="0" lang="en-AU" sz="1400" spc="-1" strike="noStrike">
              <a:solidFill>
                <a:srgbClr val="ffffff"/>
              </a:solidFill>
              <a:latin typeface="Arial"/>
            </a:endParaRPr>
          </a:p>
        </p:txBody>
      </p:sp>
      <p:cxnSp>
        <p:nvCxnSpPr>
          <p:cNvPr id="215" name="Connector 22"/>
          <p:cNvCxnSpPr/>
          <p:nvPr/>
        </p:nvCxnSpPr>
        <p:spPr>
          <a:xfrm>
            <a:off x="4206240" y="3584160"/>
            <a:ext cx="411840" cy="360"/>
          </a:xfrm>
          <a:prstGeom prst="straightConnector1">
            <a:avLst/>
          </a:prstGeom>
          <a:ln>
            <a:solidFill>
              <a:srgbClr val="bac3da"/>
            </a:solidFill>
            <a:round/>
          </a:ln>
        </p:spPr>
      </p:cxnSp>
      <p:sp>
        <p:nvSpPr>
          <p:cNvPr id="216" name="Rounded Rectangle 23"/>
          <p:cNvSpPr/>
          <p:nvPr/>
        </p:nvSpPr>
        <p:spPr>
          <a:xfrm>
            <a:off x="4617720" y="1627560"/>
            <a:ext cx="3657240" cy="404136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 name="TextBox 24"/>
          <p:cNvSpPr/>
          <p:nvPr/>
        </p:nvSpPr>
        <p:spPr>
          <a:xfrm>
            <a:off x="4892040" y="1847160"/>
            <a:ext cx="310860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18d5f3"/>
                </a:solidFill>
                <a:latin typeface="Arial"/>
              </a:rPr>
              <a:t>AUDIO IN BATCHES</a:t>
            </a:r>
            <a:endParaRPr b="0" lang="en-AU" sz="1800" spc="-1" strike="noStrike">
              <a:solidFill>
                <a:srgbClr val="ffffff"/>
              </a:solidFill>
              <a:latin typeface="Arial"/>
            </a:endParaRPr>
          </a:p>
        </p:txBody>
      </p:sp>
      <p:sp>
        <p:nvSpPr>
          <p:cNvPr id="218" name="Rectangle 25"/>
          <p:cNvSpPr/>
          <p:nvPr/>
        </p:nvSpPr>
        <p:spPr>
          <a:xfrm>
            <a:off x="4956120" y="2898720"/>
            <a:ext cx="68400" cy="4384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 name="Rectangle 26"/>
          <p:cNvSpPr/>
          <p:nvPr/>
        </p:nvSpPr>
        <p:spPr>
          <a:xfrm>
            <a:off x="5052240" y="2745360"/>
            <a:ext cx="68400" cy="5918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 name="Rectangle 27"/>
          <p:cNvSpPr/>
          <p:nvPr/>
        </p:nvSpPr>
        <p:spPr>
          <a:xfrm>
            <a:off x="5148000" y="2787480"/>
            <a:ext cx="68400" cy="54972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 name="Rectangle 28"/>
          <p:cNvSpPr/>
          <p:nvPr/>
        </p:nvSpPr>
        <p:spPr>
          <a:xfrm>
            <a:off x="5244120" y="2971440"/>
            <a:ext cx="68400" cy="36576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 name="Rectangle 29"/>
          <p:cNvSpPr/>
          <p:nvPr/>
        </p:nvSpPr>
        <p:spPr>
          <a:xfrm>
            <a:off x="5340240" y="3062520"/>
            <a:ext cx="68400" cy="2746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 name="Rectangle 30"/>
          <p:cNvSpPr/>
          <p:nvPr/>
        </p:nvSpPr>
        <p:spPr>
          <a:xfrm>
            <a:off x="5436000" y="2944800"/>
            <a:ext cx="68400" cy="39240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 name="Rectangle 31"/>
          <p:cNvSpPr/>
          <p:nvPr/>
        </p:nvSpPr>
        <p:spPr>
          <a:xfrm>
            <a:off x="5532120" y="2768040"/>
            <a:ext cx="68400" cy="56916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 name="Rectangle 32"/>
          <p:cNvSpPr/>
          <p:nvPr/>
        </p:nvSpPr>
        <p:spPr>
          <a:xfrm>
            <a:off x="5628240" y="2757960"/>
            <a:ext cx="68400" cy="5792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TextBox 33"/>
          <p:cNvSpPr/>
          <p:nvPr/>
        </p:nvSpPr>
        <p:spPr>
          <a:xfrm>
            <a:off x="4956120" y="3493080"/>
            <a:ext cx="80424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bac3da"/>
                </a:solidFill>
                <a:latin typeface="Arial"/>
              </a:rPr>
              <a:t>batch 1</a:t>
            </a:r>
            <a:endParaRPr b="0" lang="en-AU" sz="1000" spc="-1" strike="noStrike">
              <a:solidFill>
                <a:srgbClr val="ffffff"/>
              </a:solidFill>
              <a:latin typeface="Arial"/>
            </a:endParaRPr>
          </a:p>
        </p:txBody>
      </p:sp>
      <p:sp>
        <p:nvSpPr>
          <p:cNvPr id="227" name="Rectangle 34"/>
          <p:cNvSpPr/>
          <p:nvPr/>
        </p:nvSpPr>
        <p:spPr>
          <a:xfrm>
            <a:off x="5943600" y="2760120"/>
            <a:ext cx="68400" cy="5770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8" name="Rectangle 35"/>
          <p:cNvSpPr/>
          <p:nvPr/>
        </p:nvSpPr>
        <p:spPr>
          <a:xfrm>
            <a:off x="6039720" y="2765520"/>
            <a:ext cx="68400" cy="5716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Rectangle 36"/>
          <p:cNvSpPr/>
          <p:nvPr/>
        </p:nvSpPr>
        <p:spPr>
          <a:xfrm>
            <a:off x="6135480" y="2940840"/>
            <a:ext cx="68400" cy="39636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0" name="Rectangle 37"/>
          <p:cNvSpPr/>
          <p:nvPr/>
        </p:nvSpPr>
        <p:spPr>
          <a:xfrm>
            <a:off x="6231600" y="3062160"/>
            <a:ext cx="68400" cy="2750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Rectangle 38"/>
          <p:cNvSpPr/>
          <p:nvPr/>
        </p:nvSpPr>
        <p:spPr>
          <a:xfrm>
            <a:off x="6327720" y="2975040"/>
            <a:ext cx="68400" cy="36216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Rectangle 39"/>
          <p:cNvSpPr/>
          <p:nvPr/>
        </p:nvSpPr>
        <p:spPr>
          <a:xfrm>
            <a:off x="6423840" y="2790360"/>
            <a:ext cx="68400" cy="5468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Rectangle 40"/>
          <p:cNvSpPr/>
          <p:nvPr/>
        </p:nvSpPr>
        <p:spPr>
          <a:xfrm>
            <a:off x="6519600" y="2743920"/>
            <a:ext cx="68400" cy="5932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 name="Rectangle 41"/>
          <p:cNvSpPr/>
          <p:nvPr/>
        </p:nvSpPr>
        <p:spPr>
          <a:xfrm>
            <a:off x="6615720" y="2894400"/>
            <a:ext cx="68400" cy="44280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 name="TextBox 42"/>
          <p:cNvSpPr/>
          <p:nvPr/>
        </p:nvSpPr>
        <p:spPr>
          <a:xfrm>
            <a:off x="5943600" y="3493080"/>
            <a:ext cx="80424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bac3da"/>
                </a:solidFill>
                <a:latin typeface="Arial"/>
              </a:rPr>
              <a:t>batch 2</a:t>
            </a:r>
            <a:endParaRPr b="0" lang="en-AU" sz="1000" spc="-1" strike="noStrike">
              <a:solidFill>
                <a:srgbClr val="ffffff"/>
              </a:solidFill>
              <a:latin typeface="Arial"/>
            </a:endParaRPr>
          </a:p>
        </p:txBody>
      </p:sp>
      <p:sp>
        <p:nvSpPr>
          <p:cNvPr id="236" name="Rectangle 43"/>
          <p:cNvSpPr/>
          <p:nvPr/>
        </p:nvSpPr>
        <p:spPr>
          <a:xfrm>
            <a:off x="6931080" y="2748960"/>
            <a:ext cx="68400" cy="5882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 name="Rectangle 44"/>
          <p:cNvSpPr/>
          <p:nvPr/>
        </p:nvSpPr>
        <p:spPr>
          <a:xfrm>
            <a:off x="7027200" y="2908080"/>
            <a:ext cx="68400" cy="42912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8" name="Rectangle 45"/>
          <p:cNvSpPr/>
          <p:nvPr/>
        </p:nvSpPr>
        <p:spPr>
          <a:xfrm>
            <a:off x="7123320" y="3055320"/>
            <a:ext cx="68400" cy="28188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9" name="Rectangle 46"/>
          <p:cNvSpPr/>
          <p:nvPr/>
        </p:nvSpPr>
        <p:spPr>
          <a:xfrm>
            <a:off x="7219080" y="3002400"/>
            <a:ext cx="68400" cy="33480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 name="Rectangle 47"/>
          <p:cNvSpPr/>
          <p:nvPr/>
        </p:nvSpPr>
        <p:spPr>
          <a:xfrm>
            <a:off x="7315200" y="2817360"/>
            <a:ext cx="68400" cy="51984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 name="Rectangle 48"/>
          <p:cNvSpPr/>
          <p:nvPr/>
        </p:nvSpPr>
        <p:spPr>
          <a:xfrm>
            <a:off x="7411320" y="2735640"/>
            <a:ext cx="68400" cy="60156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2" name="Rectangle 49"/>
          <p:cNvSpPr/>
          <p:nvPr/>
        </p:nvSpPr>
        <p:spPr>
          <a:xfrm>
            <a:off x="7507080" y="2862000"/>
            <a:ext cx="68400" cy="47520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3" name="Rectangle 50"/>
          <p:cNvSpPr/>
          <p:nvPr/>
        </p:nvSpPr>
        <p:spPr>
          <a:xfrm>
            <a:off x="7603200" y="3034800"/>
            <a:ext cx="68400" cy="302400"/>
          </a:xfrm>
          <a:prstGeom prst="rect">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 name="TextBox 51"/>
          <p:cNvSpPr/>
          <p:nvPr/>
        </p:nvSpPr>
        <p:spPr>
          <a:xfrm>
            <a:off x="6931080" y="3493080"/>
            <a:ext cx="80424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bac3da"/>
                </a:solidFill>
                <a:latin typeface="Arial"/>
              </a:rPr>
              <a:t>batch 3</a:t>
            </a:r>
            <a:endParaRPr b="0" lang="en-AU" sz="1000" spc="-1" strike="noStrike">
              <a:solidFill>
                <a:srgbClr val="ffffff"/>
              </a:solidFill>
              <a:latin typeface="Arial"/>
            </a:endParaRPr>
          </a:p>
        </p:txBody>
      </p:sp>
      <p:cxnSp>
        <p:nvCxnSpPr>
          <p:cNvPr id="245" name="Connector 52"/>
          <p:cNvCxnSpPr/>
          <p:nvPr/>
        </p:nvCxnSpPr>
        <p:spPr>
          <a:xfrm>
            <a:off x="5074920" y="4160520"/>
            <a:ext cx="2743560" cy="360"/>
          </a:xfrm>
          <a:prstGeom prst="straightConnector1">
            <a:avLst/>
          </a:prstGeom>
          <a:ln>
            <a:solidFill>
              <a:srgbClr val="ff7821"/>
            </a:solidFill>
            <a:round/>
          </a:ln>
        </p:spPr>
      </p:cxnSp>
      <p:sp>
        <p:nvSpPr>
          <p:cNvPr id="246" name="TextBox 53"/>
          <p:cNvSpPr/>
          <p:nvPr/>
        </p:nvSpPr>
        <p:spPr>
          <a:xfrm>
            <a:off x="4919400" y="4352400"/>
            <a:ext cx="3035520" cy="640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collect samples</a:t>
            </a:r>
            <a:endParaRPr b="0" lang="en-AU" sz="1400" spc="-1" strike="noStrike">
              <a:solidFill>
                <a:srgbClr val="ffffff"/>
              </a:solidFill>
              <a:latin typeface="Arial"/>
            </a:endParaRPr>
          </a:p>
          <a:p>
            <a:pPr algn="ctr" defTabSz="457200">
              <a:lnSpc>
                <a:spcPct val="100000"/>
              </a:lnSpc>
            </a:pPr>
            <a:r>
              <a:rPr b="1" lang="en-US" sz="1400" spc="-1" strike="noStrike">
                <a:solidFill>
                  <a:srgbClr val="ffffff"/>
                </a:solidFill>
                <a:latin typeface="Arial"/>
              </a:rPr>
              <a:t>wait for CPU time</a:t>
            </a:r>
            <a:endParaRPr b="0" lang="en-AU" sz="1400" spc="-1" strike="noStrike">
              <a:solidFill>
                <a:srgbClr val="ffffff"/>
              </a:solidFill>
              <a:latin typeface="Arial"/>
            </a:endParaRPr>
          </a:p>
          <a:p>
            <a:pPr algn="ctr" defTabSz="457200">
              <a:lnSpc>
                <a:spcPct val="100000"/>
              </a:lnSpc>
            </a:pPr>
            <a:r>
              <a:rPr b="1" lang="en-US" sz="1400" spc="-1" strike="noStrike">
                <a:solidFill>
                  <a:srgbClr val="ffffff"/>
                </a:solidFill>
                <a:latin typeface="Arial"/>
              </a:rPr>
              <a:t>process the batch</a:t>
            </a:r>
            <a:endParaRPr b="0" lang="en-AU" sz="1400" spc="-1" strike="noStrike">
              <a:solidFill>
                <a:srgbClr val="ffffff"/>
              </a:solidFill>
              <a:latin typeface="Arial"/>
            </a:endParaRPr>
          </a:p>
        </p:txBody>
      </p:sp>
      <p:sp>
        <p:nvSpPr>
          <p:cNvPr id="247" name="TextBox 54"/>
          <p:cNvSpPr/>
          <p:nvPr/>
        </p:nvSpPr>
        <p:spPr>
          <a:xfrm>
            <a:off x="4892040" y="5230440"/>
            <a:ext cx="310860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bac3da"/>
                </a:solidFill>
                <a:latin typeface="Arial"/>
              </a:rPr>
              <a:t>usually good enough</a:t>
            </a:r>
            <a:endParaRPr b="0" lang="en-AU" sz="1400" spc="-1" strike="noStrike">
              <a:solidFill>
                <a:srgbClr val="ffffff"/>
              </a:solidFill>
              <a:latin typeface="Arial"/>
            </a:endParaRPr>
          </a:p>
        </p:txBody>
      </p:sp>
      <p:cxnSp>
        <p:nvCxnSpPr>
          <p:cNvPr id="248" name="Connector 55"/>
          <p:cNvCxnSpPr/>
          <p:nvPr/>
        </p:nvCxnSpPr>
        <p:spPr>
          <a:xfrm>
            <a:off x="8275320" y="3584160"/>
            <a:ext cx="411840" cy="360"/>
          </a:xfrm>
          <a:prstGeom prst="straightConnector1">
            <a:avLst/>
          </a:prstGeom>
          <a:ln>
            <a:solidFill>
              <a:srgbClr val="e91880"/>
            </a:solidFill>
            <a:round/>
          </a:ln>
        </p:spPr>
      </p:cxnSp>
      <p:sp>
        <p:nvSpPr>
          <p:cNvPr id="249" name="Rounded Rectangle 56"/>
          <p:cNvSpPr/>
          <p:nvPr/>
        </p:nvSpPr>
        <p:spPr>
          <a:xfrm>
            <a:off x="8686800" y="1627560"/>
            <a:ext cx="2953080" cy="404136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 name="TextBox 57"/>
          <p:cNvSpPr/>
          <p:nvPr/>
        </p:nvSpPr>
        <p:spPr>
          <a:xfrm>
            <a:off x="8915400" y="1847160"/>
            <a:ext cx="249588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e91880"/>
                </a:solidFill>
                <a:latin typeface="Arial"/>
              </a:rPr>
              <a:t>MISS ONE DEADLINE</a:t>
            </a:r>
            <a:endParaRPr b="0" lang="en-AU" sz="1700" spc="-1" strike="noStrike">
              <a:solidFill>
                <a:srgbClr val="ffffff"/>
              </a:solidFill>
              <a:latin typeface="Arial"/>
            </a:endParaRPr>
          </a:p>
        </p:txBody>
      </p:sp>
      <p:pic>
        <p:nvPicPr>
          <p:cNvPr id="251" name="" descr="">
            <a:hlinkClick r:id="" action="ppaction://media"/>
          </p:cNvPr>
          <p:cNvPicPr/>
          <p:nvPr>
            <a:videoFile r:link="rId2"/>
            <p:extLst>
              <p:ext uri="{DAA4B4D4-6D71-4841-9C94-3DE7FCFB9230}">
                <p14:media r:embed="rId3"/>
              </p:ext>
            </p:extLst>
          </p:nvPr>
        </p:nvPicPr>
        <p:blipFill>
          <a:blip r:embed="rId4"/>
          <a:stretch>
            <a:fillRect/>
          </a:stretch>
        </p:blipFill>
        <p:spPr>
          <a:xfrm>
            <a:off x="8979480" y="2395800"/>
            <a:ext cx="2358720" cy="1325520"/>
          </a:xfrm>
          <a:prstGeom prst="rect">
            <a:avLst/>
          </a:prstGeom>
          <a:ln w="0">
            <a:noFill/>
          </a:ln>
        </p:spPr>
      </p:pic>
      <p:sp>
        <p:nvSpPr>
          <p:cNvPr id="252" name="TextBox 59"/>
          <p:cNvSpPr/>
          <p:nvPr/>
        </p:nvSpPr>
        <p:spPr>
          <a:xfrm>
            <a:off x="8979480" y="3794760"/>
            <a:ext cx="235872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e91880"/>
                </a:solidFill>
                <a:latin typeface="Arial"/>
              </a:rPr>
              <a:t>CLICK TO HEAR IT</a:t>
            </a:r>
            <a:endParaRPr b="0" lang="en-AU" sz="1100" spc="-1" strike="noStrike">
              <a:solidFill>
                <a:srgbClr val="ffffff"/>
              </a:solidFill>
              <a:latin typeface="Arial"/>
            </a:endParaRPr>
          </a:p>
        </p:txBody>
      </p:sp>
      <p:sp>
        <p:nvSpPr>
          <p:cNvPr id="253" name="TextBox 60"/>
          <p:cNvSpPr/>
          <p:nvPr/>
        </p:nvSpPr>
        <p:spPr>
          <a:xfrm>
            <a:off x="8961120" y="4224600"/>
            <a:ext cx="2404440" cy="777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ffffff"/>
                </a:solidFill>
                <a:latin typeface="Arial"/>
              </a:rPr>
              <a:t>CRACK</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POP</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DISCONTINUITY</a:t>
            </a:r>
            <a:endParaRPr b="0" lang="en-AU" sz="1700" spc="-1" strike="noStrike">
              <a:solidFill>
                <a:srgbClr val="ffffff"/>
              </a:solidFill>
              <a:latin typeface="Arial"/>
            </a:endParaRPr>
          </a:p>
        </p:txBody>
      </p:sp>
      <p:sp>
        <p:nvSpPr>
          <p:cNvPr id="254" name="TextBox 61"/>
          <p:cNvSpPr/>
          <p:nvPr/>
        </p:nvSpPr>
        <p:spPr>
          <a:xfrm>
            <a:off x="8961120" y="5266800"/>
            <a:ext cx="240444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bac3da"/>
                </a:solidFill>
                <a:latin typeface="Arial"/>
              </a:rPr>
              <a:t>sounds awful</a:t>
            </a:r>
            <a:endParaRPr b="0" lang="en-AU" sz="1400" spc="-1" strike="noStrike">
              <a:solidFill>
                <a:srgbClr val="ffffff"/>
              </a:solidFill>
              <a:latin typeface="Arial"/>
            </a:endParaRPr>
          </a:p>
        </p:txBody>
      </p:sp>
      <p:sp>
        <p:nvSpPr>
          <p:cNvPr id="255" name="TextBox 62"/>
          <p:cNvSpPr/>
          <p:nvPr/>
        </p:nvSpPr>
        <p:spPr>
          <a:xfrm>
            <a:off x="594360" y="5925240"/>
            <a:ext cx="10972440" cy="289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900" spc="-1" strike="noStrike">
                <a:solidFill>
                  <a:srgbClr val="ffffff"/>
                </a:solidFill>
                <a:latin typeface="Arial"/>
              </a:rPr>
              <a:t>Buffered audio needs every batch finished before the next deadline.</a:t>
            </a:r>
            <a:endParaRPr b="0" lang="en-AU" sz="1900" spc="-1" strike="noStrike">
              <a:solidFill>
                <a:srgbClr val="ffffff"/>
              </a:solidFill>
              <a:latin typeface="Arial"/>
            </a:endParaRPr>
          </a:p>
        </p:txBody>
      </p:sp>
      <p:sp>
        <p:nvSpPr>
          <p:cNvPr id="256" name="TextBox 63"/>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257" name="TextBox 64"/>
          <p:cNvSpPr/>
          <p:nvPr/>
        </p:nvSpPr>
        <p:spPr>
          <a:xfrm>
            <a:off x="11155680" y="6473880"/>
            <a:ext cx="456840" cy="273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800" spc="-1" strike="noStrike">
                <a:solidFill>
                  <a:schemeClr val="dk1"/>
                </a:solidFill>
                <a:latin typeface="Calibri"/>
              </a:rPr>
              <a:t>8</a:t>
            </a:r>
            <a:endParaRPr b="0" lang="en-AU"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video>
              <p:cMediaNode>
                <p:cTn>
                  <p:stCondLst>
                    <p:cond delay="indefinite"/>
                  </p:stCondLst>
                </p:cTn>
                <p:tgtEl>
                  <p:spTgt spid="251"/>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258"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259"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DETERMINISTIC BY CONSTRUCTION</a:t>
            </a:r>
            <a:endParaRPr b="0" lang="en-AU" sz="1200" spc="-1" strike="noStrike">
              <a:solidFill>
                <a:srgbClr val="ffffff"/>
              </a:solidFill>
              <a:latin typeface="Arial"/>
            </a:endParaRPr>
          </a:p>
        </p:txBody>
      </p:sp>
      <p:sp>
        <p:nvSpPr>
          <p:cNvPr id="261"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The FPGA gives every sample its own hardware path</a:t>
            </a:r>
            <a:endParaRPr b="0" lang="en-AU" sz="2900" spc="-1" strike="noStrike">
              <a:solidFill>
                <a:srgbClr val="ffffff"/>
              </a:solidFill>
              <a:latin typeface="Arial"/>
            </a:endParaRPr>
          </a:p>
        </p:txBody>
      </p:sp>
      <p:sp>
        <p:nvSpPr>
          <p:cNvPr id="262" name="Rounded Rectangle 5"/>
          <p:cNvSpPr/>
          <p:nvPr/>
        </p:nvSpPr>
        <p:spPr>
          <a:xfrm>
            <a:off x="658440" y="2057400"/>
            <a:ext cx="1874160" cy="129816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TextBox 6"/>
          <p:cNvSpPr/>
          <p:nvPr/>
        </p:nvSpPr>
        <p:spPr>
          <a:xfrm>
            <a:off x="795600" y="2530440"/>
            <a:ext cx="159984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18d5f3"/>
                </a:solidFill>
                <a:latin typeface="Arial"/>
              </a:rPr>
              <a:t>SAMPLE IN</a:t>
            </a:r>
            <a:endParaRPr b="0" lang="en-AU" sz="1700" spc="-1" strike="noStrike">
              <a:solidFill>
                <a:srgbClr val="ffffff"/>
              </a:solidFill>
              <a:latin typeface="Arial"/>
            </a:endParaRPr>
          </a:p>
        </p:txBody>
      </p:sp>
      <p:cxnSp>
        <p:nvCxnSpPr>
          <p:cNvPr id="264" name="Connector 7"/>
          <p:cNvCxnSpPr/>
          <p:nvPr/>
        </p:nvCxnSpPr>
        <p:spPr>
          <a:xfrm>
            <a:off x="2532600" y="2706480"/>
            <a:ext cx="384480" cy="360"/>
          </a:xfrm>
          <a:prstGeom prst="straightConnector1">
            <a:avLst/>
          </a:prstGeom>
          <a:ln>
            <a:solidFill>
              <a:srgbClr val="ffffff"/>
            </a:solidFill>
            <a:round/>
          </a:ln>
        </p:spPr>
      </p:cxnSp>
      <p:sp>
        <p:nvSpPr>
          <p:cNvPr id="265" name="Rounded Rectangle 8"/>
          <p:cNvSpPr/>
          <p:nvPr/>
        </p:nvSpPr>
        <p:spPr>
          <a:xfrm>
            <a:off x="2962800" y="2057400"/>
            <a:ext cx="1874160" cy="129816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 name="TextBox 9"/>
          <p:cNvSpPr/>
          <p:nvPr/>
        </p:nvSpPr>
        <p:spPr>
          <a:xfrm>
            <a:off x="3099960" y="2530440"/>
            <a:ext cx="159984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ff7821"/>
                </a:solidFill>
                <a:latin typeface="Arial"/>
              </a:rPr>
              <a:t>VOICES</a:t>
            </a:r>
            <a:endParaRPr b="0" lang="en-AU" sz="1700" spc="-1" strike="noStrike">
              <a:solidFill>
                <a:srgbClr val="ffffff"/>
              </a:solidFill>
              <a:latin typeface="Arial"/>
            </a:endParaRPr>
          </a:p>
        </p:txBody>
      </p:sp>
      <p:cxnSp>
        <p:nvCxnSpPr>
          <p:cNvPr id="267" name="Connector 10"/>
          <p:cNvCxnSpPr/>
          <p:nvPr/>
        </p:nvCxnSpPr>
        <p:spPr>
          <a:xfrm>
            <a:off x="4836960" y="2706480"/>
            <a:ext cx="384480" cy="360"/>
          </a:xfrm>
          <a:prstGeom prst="straightConnector1">
            <a:avLst/>
          </a:prstGeom>
          <a:ln>
            <a:solidFill>
              <a:srgbClr val="ffffff"/>
            </a:solidFill>
            <a:round/>
          </a:ln>
        </p:spPr>
      </p:cxnSp>
      <p:sp>
        <p:nvSpPr>
          <p:cNvPr id="268" name="Rounded Rectangle 11"/>
          <p:cNvSpPr/>
          <p:nvPr/>
        </p:nvSpPr>
        <p:spPr>
          <a:xfrm>
            <a:off x="5266800" y="2057400"/>
            <a:ext cx="1874160" cy="129816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 name="TextBox 12"/>
          <p:cNvSpPr/>
          <p:nvPr/>
        </p:nvSpPr>
        <p:spPr>
          <a:xfrm>
            <a:off x="5403960" y="2530440"/>
            <a:ext cx="159984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e91880"/>
                </a:solidFill>
                <a:latin typeface="Arial"/>
              </a:rPr>
              <a:t>MIX</a:t>
            </a:r>
            <a:endParaRPr b="0" lang="en-AU" sz="1700" spc="-1" strike="noStrike">
              <a:solidFill>
                <a:srgbClr val="ffffff"/>
              </a:solidFill>
              <a:latin typeface="Arial"/>
            </a:endParaRPr>
          </a:p>
        </p:txBody>
      </p:sp>
      <p:cxnSp>
        <p:nvCxnSpPr>
          <p:cNvPr id="270" name="Connector 13"/>
          <p:cNvCxnSpPr/>
          <p:nvPr/>
        </p:nvCxnSpPr>
        <p:spPr>
          <a:xfrm>
            <a:off x="7141320" y="2706480"/>
            <a:ext cx="384480" cy="360"/>
          </a:xfrm>
          <a:prstGeom prst="straightConnector1">
            <a:avLst/>
          </a:prstGeom>
          <a:ln>
            <a:solidFill>
              <a:srgbClr val="ffffff"/>
            </a:solidFill>
            <a:round/>
          </a:ln>
        </p:spPr>
      </p:cxnSp>
      <p:sp>
        <p:nvSpPr>
          <p:cNvPr id="271" name="Rounded Rectangle 14"/>
          <p:cNvSpPr/>
          <p:nvPr/>
        </p:nvSpPr>
        <p:spPr>
          <a:xfrm>
            <a:off x="7571160" y="2057400"/>
            <a:ext cx="1874160" cy="1298160"/>
          </a:xfrm>
          <a:prstGeom prst="roundRect">
            <a:avLst>
              <a:gd name="adj" fmla="val 16667"/>
            </a:avLst>
          </a:prstGeom>
          <a:solidFill>
            <a:srgbClr val="121e4a"/>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 name="TextBox 15"/>
          <p:cNvSpPr/>
          <p:nvPr/>
        </p:nvSpPr>
        <p:spPr>
          <a:xfrm>
            <a:off x="7708320" y="2530440"/>
            <a:ext cx="159984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4ade80"/>
                </a:solidFill>
                <a:latin typeface="Arial"/>
              </a:rPr>
              <a:t>EFFECTS</a:t>
            </a:r>
            <a:endParaRPr b="0" lang="en-AU" sz="1700" spc="-1" strike="noStrike">
              <a:solidFill>
                <a:srgbClr val="ffffff"/>
              </a:solidFill>
              <a:latin typeface="Arial"/>
            </a:endParaRPr>
          </a:p>
        </p:txBody>
      </p:sp>
      <p:cxnSp>
        <p:nvCxnSpPr>
          <p:cNvPr id="273" name="Connector 16"/>
          <p:cNvCxnSpPr/>
          <p:nvPr/>
        </p:nvCxnSpPr>
        <p:spPr>
          <a:xfrm>
            <a:off x="9445680" y="2706480"/>
            <a:ext cx="384480" cy="360"/>
          </a:xfrm>
          <a:prstGeom prst="straightConnector1">
            <a:avLst/>
          </a:prstGeom>
          <a:ln>
            <a:solidFill>
              <a:srgbClr val="ffffff"/>
            </a:solidFill>
            <a:round/>
          </a:ln>
        </p:spPr>
      </p:cxnSp>
      <p:sp>
        <p:nvSpPr>
          <p:cNvPr id="274" name="Rounded Rectangle 17"/>
          <p:cNvSpPr/>
          <p:nvPr/>
        </p:nvSpPr>
        <p:spPr>
          <a:xfrm>
            <a:off x="9875520" y="2057400"/>
            <a:ext cx="1874160" cy="129816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 name="TextBox 18"/>
          <p:cNvSpPr/>
          <p:nvPr/>
        </p:nvSpPr>
        <p:spPr>
          <a:xfrm>
            <a:off x="10012680" y="2530440"/>
            <a:ext cx="159984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18d5f3"/>
                </a:solidFill>
                <a:latin typeface="Arial"/>
              </a:rPr>
              <a:t>SAMPLE OUT</a:t>
            </a:r>
            <a:endParaRPr b="0" lang="en-AU" sz="1700" spc="-1" strike="noStrike">
              <a:solidFill>
                <a:srgbClr val="ffffff"/>
              </a:solidFill>
              <a:latin typeface="Arial"/>
            </a:endParaRPr>
          </a:p>
        </p:txBody>
      </p:sp>
      <p:sp>
        <p:nvSpPr>
          <p:cNvPr id="276" name="Oval 19"/>
          <p:cNvSpPr/>
          <p:nvPr/>
        </p:nvSpPr>
        <p:spPr>
          <a:xfrm>
            <a:off x="91440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 name="Oval 20"/>
          <p:cNvSpPr/>
          <p:nvPr/>
        </p:nvSpPr>
        <p:spPr>
          <a:xfrm>
            <a:off x="157284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8" name="Oval 21"/>
          <p:cNvSpPr/>
          <p:nvPr/>
        </p:nvSpPr>
        <p:spPr>
          <a:xfrm>
            <a:off x="223128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 name="Oval 22"/>
          <p:cNvSpPr/>
          <p:nvPr/>
        </p:nvSpPr>
        <p:spPr>
          <a:xfrm>
            <a:off x="288936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 name="Oval 23"/>
          <p:cNvSpPr/>
          <p:nvPr/>
        </p:nvSpPr>
        <p:spPr>
          <a:xfrm>
            <a:off x="354780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1" name="Oval 24"/>
          <p:cNvSpPr/>
          <p:nvPr/>
        </p:nvSpPr>
        <p:spPr>
          <a:xfrm>
            <a:off x="420624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2" name="Oval 25"/>
          <p:cNvSpPr/>
          <p:nvPr/>
        </p:nvSpPr>
        <p:spPr>
          <a:xfrm>
            <a:off x="486468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 name="Oval 26"/>
          <p:cNvSpPr/>
          <p:nvPr/>
        </p:nvSpPr>
        <p:spPr>
          <a:xfrm>
            <a:off x="552312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 name="Oval 27"/>
          <p:cNvSpPr/>
          <p:nvPr/>
        </p:nvSpPr>
        <p:spPr>
          <a:xfrm>
            <a:off x="618120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5" name="Oval 28"/>
          <p:cNvSpPr/>
          <p:nvPr/>
        </p:nvSpPr>
        <p:spPr>
          <a:xfrm>
            <a:off x="683964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6" name="Oval 29"/>
          <p:cNvSpPr/>
          <p:nvPr/>
        </p:nvSpPr>
        <p:spPr>
          <a:xfrm>
            <a:off x="749808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 name="Oval 30"/>
          <p:cNvSpPr/>
          <p:nvPr/>
        </p:nvSpPr>
        <p:spPr>
          <a:xfrm>
            <a:off x="815652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Oval 31"/>
          <p:cNvSpPr/>
          <p:nvPr/>
        </p:nvSpPr>
        <p:spPr>
          <a:xfrm>
            <a:off x="881496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9" name="Oval 32"/>
          <p:cNvSpPr/>
          <p:nvPr/>
        </p:nvSpPr>
        <p:spPr>
          <a:xfrm>
            <a:off x="947304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0" name="Oval 33"/>
          <p:cNvSpPr/>
          <p:nvPr/>
        </p:nvSpPr>
        <p:spPr>
          <a:xfrm>
            <a:off x="10131480" y="3886200"/>
            <a:ext cx="164160" cy="16416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1" name="Oval 34"/>
          <p:cNvSpPr/>
          <p:nvPr/>
        </p:nvSpPr>
        <p:spPr>
          <a:xfrm>
            <a:off x="10789920" y="3886200"/>
            <a:ext cx="164160" cy="16416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cxnSp>
        <p:nvCxnSpPr>
          <p:cNvPr id="292" name="Connector 35"/>
          <p:cNvCxnSpPr/>
          <p:nvPr/>
        </p:nvCxnSpPr>
        <p:spPr>
          <a:xfrm>
            <a:off x="987480" y="3968280"/>
            <a:ext cx="9967320" cy="360"/>
          </a:xfrm>
          <a:prstGeom prst="straightConnector1">
            <a:avLst/>
          </a:prstGeom>
          <a:ln>
            <a:solidFill>
              <a:srgbClr val="bac3da"/>
            </a:solidFill>
            <a:round/>
          </a:ln>
        </p:spPr>
      </p:cxnSp>
      <p:sp>
        <p:nvSpPr>
          <p:cNvPr id="293" name="TextBox 36"/>
          <p:cNvSpPr/>
          <p:nvPr/>
        </p:nvSpPr>
        <p:spPr>
          <a:xfrm>
            <a:off x="685800" y="4316040"/>
            <a:ext cx="109724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bac3da"/>
                </a:solidFill>
                <a:latin typeface="Arial"/>
              </a:rPr>
              <a:t>same path  ·  same schedule  ·  one result for every input sample</a:t>
            </a:r>
            <a:endParaRPr b="0" lang="en-AU" sz="1800" spc="-1" strike="noStrike">
              <a:solidFill>
                <a:srgbClr val="ffffff"/>
              </a:solidFill>
              <a:latin typeface="Arial"/>
            </a:endParaRPr>
          </a:p>
        </p:txBody>
      </p:sp>
      <p:sp>
        <p:nvSpPr>
          <p:cNvPr id="294" name="Rounded Rectangle 37"/>
          <p:cNvSpPr/>
          <p:nvPr/>
        </p:nvSpPr>
        <p:spPr>
          <a:xfrm>
            <a:off x="1097280" y="4956120"/>
            <a:ext cx="4525920" cy="65808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5" name="TextBox 38"/>
          <p:cNvSpPr/>
          <p:nvPr/>
        </p:nvSpPr>
        <p:spPr>
          <a:xfrm>
            <a:off x="1261800" y="5102280"/>
            <a:ext cx="420588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ffff"/>
                </a:solidFill>
                <a:latin typeface="Arial"/>
              </a:rPr>
              <a:t>No scheduler in the audio path</a:t>
            </a:r>
            <a:endParaRPr b="0" lang="en-AU" sz="1600" spc="-1" strike="noStrike">
              <a:solidFill>
                <a:srgbClr val="ffffff"/>
              </a:solidFill>
              <a:latin typeface="Arial"/>
            </a:endParaRPr>
          </a:p>
        </p:txBody>
      </p:sp>
      <p:sp>
        <p:nvSpPr>
          <p:cNvPr id="296" name="Rounded Rectangle 39"/>
          <p:cNvSpPr/>
          <p:nvPr/>
        </p:nvSpPr>
        <p:spPr>
          <a:xfrm>
            <a:off x="6565320" y="4956120"/>
            <a:ext cx="4525920" cy="65808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7" name="TextBox 40"/>
          <p:cNvSpPr/>
          <p:nvPr/>
        </p:nvSpPr>
        <p:spPr>
          <a:xfrm>
            <a:off x="6729840" y="5102280"/>
            <a:ext cx="420588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ffff"/>
                </a:solidFill>
                <a:latin typeface="Arial"/>
              </a:rPr>
              <a:t>No software process to crash</a:t>
            </a:r>
            <a:endParaRPr b="0" lang="en-AU" sz="1600" spc="-1" strike="noStrike">
              <a:solidFill>
                <a:srgbClr val="ffffff"/>
              </a:solidFill>
              <a:latin typeface="Arial"/>
            </a:endParaRPr>
          </a:p>
        </p:txBody>
      </p:sp>
      <p:sp>
        <p:nvSpPr>
          <p:cNvPr id="298" name="TextBox 41"/>
          <p:cNvSpPr/>
          <p:nvPr/>
        </p:nvSpPr>
        <p:spPr>
          <a:xfrm>
            <a:off x="594360" y="5925240"/>
            <a:ext cx="10972440" cy="3052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000" spc="-1" strike="noStrike">
                <a:solidFill>
                  <a:srgbClr val="ffffff"/>
                </a:solidFill>
                <a:latin typeface="Arial"/>
              </a:rPr>
              <a:t>If the circuit meets timing, the stream keeps moving.</a:t>
            </a:r>
            <a:endParaRPr b="0" lang="en-AU" sz="2000" spc="-1" strike="noStrike">
              <a:solidFill>
                <a:srgbClr val="ffffff"/>
              </a:solidFill>
              <a:latin typeface="Arial"/>
            </a:endParaRPr>
          </a:p>
        </p:txBody>
      </p:sp>
      <p:sp>
        <p:nvSpPr>
          <p:cNvPr id="299" name="TextBox 42"/>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300" name="TextBox 43"/>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9</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301"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302"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3"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THE CATCH</a:t>
            </a:r>
            <a:endParaRPr b="0" lang="en-AU" sz="1200" spc="-1" strike="noStrike">
              <a:solidFill>
                <a:srgbClr val="ffffff"/>
              </a:solidFill>
              <a:latin typeface="Arial"/>
            </a:endParaRPr>
          </a:p>
        </p:txBody>
      </p:sp>
      <p:sp>
        <p:nvSpPr>
          <p:cNvPr id="304"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Deterministic hardware is powerful — and difficult</a:t>
            </a:r>
            <a:endParaRPr b="0" lang="en-AU" sz="2900" spc="-1" strike="noStrike">
              <a:solidFill>
                <a:srgbClr val="ffffff"/>
              </a:solidFill>
              <a:latin typeface="Arial"/>
            </a:endParaRPr>
          </a:p>
        </p:txBody>
      </p:sp>
      <p:sp>
        <p:nvSpPr>
          <p:cNvPr id="305" name="Rounded Rectangle 5"/>
          <p:cNvSpPr/>
          <p:nvPr/>
        </p:nvSpPr>
        <p:spPr>
          <a:xfrm>
            <a:off x="594360" y="1664280"/>
            <a:ext cx="5074560" cy="333720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6" name="TextBox 6"/>
          <p:cNvSpPr/>
          <p:nvPr/>
        </p:nvSpPr>
        <p:spPr>
          <a:xfrm>
            <a:off x="868680" y="1901880"/>
            <a:ext cx="452592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7821"/>
                </a:solidFill>
                <a:latin typeface="Arial"/>
              </a:rPr>
              <a:t>ON A RASPBERRY PI</a:t>
            </a:r>
            <a:endParaRPr b="0" lang="en-AU" sz="1800" spc="-1" strike="noStrike">
              <a:solidFill>
                <a:srgbClr val="ffffff"/>
              </a:solidFill>
              <a:latin typeface="Arial"/>
            </a:endParaRPr>
          </a:p>
        </p:txBody>
      </p:sp>
      <p:sp>
        <p:nvSpPr>
          <p:cNvPr id="307" name="Rounded Rectangle 7"/>
          <p:cNvSpPr/>
          <p:nvPr/>
        </p:nvSpPr>
        <p:spPr>
          <a:xfrm>
            <a:off x="960120" y="2541960"/>
            <a:ext cx="4343040" cy="1234080"/>
          </a:xfrm>
          <a:prstGeom prst="roundRect">
            <a:avLst>
              <a:gd name="adj" fmla="val 16667"/>
            </a:avLst>
          </a:prstGeom>
          <a:solidFill>
            <a:srgbClr val="05091c"/>
          </a:solidFill>
          <a:ln w="19050">
            <a:solidFill>
              <a:srgbClr val="bac3d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8" name="TextBox 8"/>
          <p:cNvSpPr/>
          <p:nvPr/>
        </p:nvSpPr>
        <p:spPr>
          <a:xfrm>
            <a:off x="1188720" y="2831760"/>
            <a:ext cx="3885840" cy="609120"/>
          </a:xfrm>
          <a:prstGeom prst="rect">
            <a:avLst/>
          </a:prstGeom>
          <a:noFill/>
          <a:ln w="0">
            <a:noFill/>
          </a:ln>
        </p:spPr>
        <p:style>
          <a:lnRef idx="0"/>
          <a:fillRef idx="0"/>
          <a:effectRef idx="0"/>
          <a:fontRef idx="minor"/>
        </p:style>
        <p:txBody>
          <a:bodyPr lIns="0" rIns="0" tIns="0" bIns="0" anchor="ctr">
            <a:spAutoFit/>
          </a:bodyPr>
          <a:p>
            <a:pPr defTabSz="457200">
              <a:lnSpc>
                <a:spcPct val="100000"/>
              </a:lnSpc>
            </a:pPr>
            <a:r>
              <a:rPr b="1" lang="en-US" sz="2000" spc="-1" strike="noStrike">
                <a:solidFill>
                  <a:srgbClr val="ffffff"/>
                </a:solidFill>
                <a:latin typeface="Arial"/>
              </a:rPr>
              <a:t>for each sample:</a:t>
            </a:r>
            <a:endParaRPr b="0" lang="en-AU" sz="2000" spc="-1" strike="noStrike">
              <a:solidFill>
                <a:srgbClr val="ffffff"/>
              </a:solidFill>
              <a:latin typeface="Arial"/>
            </a:endParaRPr>
          </a:p>
          <a:p>
            <a:pPr defTabSz="457200">
              <a:lnSpc>
                <a:spcPct val="100000"/>
              </a:lnSpc>
            </a:pPr>
            <a:r>
              <a:rPr b="1" lang="en-US" sz="2000" spc="-1" strike="noStrike">
                <a:solidFill>
                  <a:srgbClr val="ffffff"/>
                </a:solidFill>
                <a:latin typeface="Arial"/>
              </a:rPr>
              <a:t>    </a:t>
            </a:r>
            <a:r>
              <a:rPr b="1" lang="en-US" sz="2000" spc="-1" strike="noStrike">
                <a:solidFill>
                  <a:srgbClr val="ffffff"/>
                </a:solidFill>
                <a:latin typeface="Arial"/>
              </a:rPr>
              <a:t>output = left + right</a:t>
            </a:r>
            <a:endParaRPr b="0" lang="en-AU" sz="2000" spc="-1" strike="noStrike">
              <a:solidFill>
                <a:srgbClr val="ffffff"/>
              </a:solidFill>
              <a:latin typeface="Arial"/>
            </a:endParaRPr>
          </a:p>
        </p:txBody>
      </p:sp>
      <p:sp>
        <p:nvSpPr>
          <p:cNvPr id="309" name="TextBox 9"/>
          <p:cNvSpPr/>
          <p:nvPr/>
        </p:nvSpPr>
        <p:spPr>
          <a:xfrm>
            <a:off x="914400" y="4160520"/>
            <a:ext cx="443448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bac3da"/>
                </a:solidFill>
                <a:latin typeface="Arial"/>
              </a:rPr>
              <a:t>a loop and a few operations</a:t>
            </a:r>
            <a:endParaRPr b="0" lang="en-AU" sz="1600" spc="-1" strike="noStrike">
              <a:solidFill>
                <a:srgbClr val="ffffff"/>
              </a:solidFill>
              <a:latin typeface="Arial"/>
            </a:endParaRPr>
          </a:p>
        </p:txBody>
      </p:sp>
      <p:sp>
        <p:nvSpPr>
          <p:cNvPr id="310" name="Rounded Rectangle 10"/>
          <p:cNvSpPr/>
          <p:nvPr/>
        </p:nvSpPr>
        <p:spPr>
          <a:xfrm>
            <a:off x="6519600" y="1664280"/>
            <a:ext cx="5074560" cy="333720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1" name="TextBox 11"/>
          <p:cNvSpPr/>
          <p:nvPr/>
        </p:nvSpPr>
        <p:spPr>
          <a:xfrm>
            <a:off x="6793920" y="1901880"/>
            <a:ext cx="452592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e91880"/>
                </a:solidFill>
                <a:latin typeface="Arial"/>
              </a:rPr>
              <a:t>ON AN FPGA</a:t>
            </a:r>
            <a:endParaRPr b="0" lang="en-AU" sz="1800" spc="-1" strike="noStrike">
              <a:solidFill>
                <a:srgbClr val="ffffff"/>
              </a:solidFill>
              <a:latin typeface="Arial"/>
            </a:endParaRPr>
          </a:p>
        </p:txBody>
      </p:sp>
      <p:sp>
        <p:nvSpPr>
          <p:cNvPr id="312" name="Rounded Rectangle 12"/>
          <p:cNvSpPr/>
          <p:nvPr/>
        </p:nvSpPr>
        <p:spPr>
          <a:xfrm>
            <a:off x="6876360" y="2633400"/>
            <a:ext cx="1261440" cy="62136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3" name="TextBox 13"/>
          <p:cNvSpPr/>
          <p:nvPr/>
        </p:nvSpPr>
        <p:spPr>
          <a:xfrm>
            <a:off x="6949440" y="281556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fixed point</a:t>
            </a:r>
            <a:endParaRPr b="0" lang="en-AU" sz="1200" spc="-1" strike="noStrike">
              <a:solidFill>
                <a:srgbClr val="ffffff"/>
              </a:solidFill>
              <a:latin typeface="Arial"/>
            </a:endParaRPr>
          </a:p>
        </p:txBody>
      </p:sp>
      <p:sp>
        <p:nvSpPr>
          <p:cNvPr id="314" name="Rounded Rectangle 14"/>
          <p:cNvSpPr/>
          <p:nvPr/>
        </p:nvSpPr>
        <p:spPr>
          <a:xfrm>
            <a:off x="8321040" y="2633400"/>
            <a:ext cx="1261440" cy="621360"/>
          </a:xfrm>
          <a:prstGeom prst="roundRect">
            <a:avLst>
              <a:gd name="adj" fmla="val 16667"/>
            </a:avLst>
          </a:prstGeom>
          <a:solidFill>
            <a:srgbClr val="05091c"/>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5" name="TextBox 15"/>
          <p:cNvSpPr/>
          <p:nvPr/>
        </p:nvSpPr>
        <p:spPr>
          <a:xfrm>
            <a:off x="8394120" y="281556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pipeline</a:t>
            </a:r>
            <a:endParaRPr b="0" lang="en-AU" sz="1200" spc="-1" strike="noStrike">
              <a:solidFill>
                <a:srgbClr val="ffffff"/>
              </a:solidFill>
              <a:latin typeface="Arial"/>
            </a:endParaRPr>
          </a:p>
        </p:txBody>
      </p:sp>
      <p:sp>
        <p:nvSpPr>
          <p:cNvPr id="316" name="Rounded Rectangle 16"/>
          <p:cNvSpPr/>
          <p:nvPr/>
        </p:nvSpPr>
        <p:spPr>
          <a:xfrm>
            <a:off x="9765720" y="2633400"/>
            <a:ext cx="1261440" cy="621360"/>
          </a:xfrm>
          <a:prstGeom prst="roundRect">
            <a:avLst>
              <a:gd name="adj" fmla="val 16667"/>
            </a:avLst>
          </a:prstGeom>
          <a:solidFill>
            <a:srgbClr val="05091c"/>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7" name="TextBox 17"/>
          <p:cNvSpPr/>
          <p:nvPr/>
        </p:nvSpPr>
        <p:spPr>
          <a:xfrm>
            <a:off x="9838800" y="281556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latency</a:t>
            </a:r>
            <a:endParaRPr b="0" lang="en-AU" sz="1200" spc="-1" strike="noStrike">
              <a:solidFill>
                <a:srgbClr val="ffffff"/>
              </a:solidFill>
              <a:latin typeface="Arial"/>
            </a:endParaRPr>
          </a:p>
        </p:txBody>
      </p:sp>
      <p:sp>
        <p:nvSpPr>
          <p:cNvPr id="318" name="Rounded Rectangle 18"/>
          <p:cNvSpPr/>
          <p:nvPr/>
        </p:nvSpPr>
        <p:spPr>
          <a:xfrm>
            <a:off x="6876360" y="3474720"/>
            <a:ext cx="1261440" cy="621360"/>
          </a:xfrm>
          <a:prstGeom prst="roundRect">
            <a:avLst>
              <a:gd name="adj" fmla="val 16667"/>
            </a:avLst>
          </a:prstGeom>
          <a:solidFill>
            <a:srgbClr val="05091c"/>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9" name="TextBox 19"/>
          <p:cNvSpPr/>
          <p:nvPr/>
        </p:nvSpPr>
        <p:spPr>
          <a:xfrm>
            <a:off x="6949440" y="365688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resources</a:t>
            </a:r>
            <a:endParaRPr b="0" lang="en-AU" sz="1200" spc="-1" strike="noStrike">
              <a:solidFill>
                <a:srgbClr val="ffffff"/>
              </a:solidFill>
              <a:latin typeface="Arial"/>
            </a:endParaRPr>
          </a:p>
        </p:txBody>
      </p:sp>
      <p:sp>
        <p:nvSpPr>
          <p:cNvPr id="320" name="Rounded Rectangle 20"/>
          <p:cNvSpPr/>
          <p:nvPr/>
        </p:nvSpPr>
        <p:spPr>
          <a:xfrm>
            <a:off x="8321040" y="3474720"/>
            <a:ext cx="1261440" cy="621360"/>
          </a:xfrm>
          <a:prstGeom prst="roundRect">
            <a:avLst>
              <a:gd name="adj" fmla="val 16667"/>
            </a:avLst>
          </a:prstGeom>
          <a:solidFill>
            <a:srgbClr val="05091c"/>
          </a:solidFill>
          <a:ln w="19050">
            <a:solidFill>
              <a:srgbClr val="5679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1" name="TextBox 21"/>
          <p:cNvSpPr/>
          <p:nvPr/>
        </p:nvSpPr>
        <p:spPr>
          <a:xfrm>
            <a:off x="8394120" y="365688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timing</a:t>
            </a:r>
            <a:endParaRPr b="0" lang="en-AU" sz="1200" spc="-1" strike="noStrike">
              <a:solidFill>
                <a:srgbClr val="ffffff"/>
              </a:solidFill>
              <a:latin typeface="Arial"/>
            </a:endParaRPr>
          </a:p>
        </p:txBody>
      </p:sp>
      <p:sp>
        <p:nvSpPr>
          <p:cNvPr id="322" name="Rounded Rectangle 22"/>
          <p:cNvSpPr/>
          <p:nvPr/>
        </p:nvSpPr>
        <p:spPr>
          <a:xfrm>
            <a:off x="9765720" y="3474720"/>
            <a:ext cx="1261440" cy="62136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3" name="TextBox 23"/>
          <p:cNvSpPr/>
          <p:nvPr/>
        </p:nvSpPr>
        <p:spPr>
          <a:xfrm>
            <a:off x="9838800" y="3656880"/>
            <a:ext cx="1115280" cy="1836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200" spc="-1" strike="noStrike">
                <a:solidFill>
                  <a:srgbClr val="ffffff"/>
                </a:solidFill>
                <a:latin typeface="Arial"/>
              </a:rPr>
              <a:t>interfaces</a:t>
            </a:r>
            <a:endParaRPr b="0" lang="en-AU" sz="1200" spc="-1" strike="noStrike">
              <a:solidFill>
                <a:srgbClr val="ffffff"/>
              </a:solidFill>
              <a:latin typeface="Arial"/>
            </a:endParaRPr>
          </a:p>
        </p:txBody>
      </p:sp>
      <p:sp>
        <p:nvSpPr>
          <p:cNvPr id="324" name="TextBox 24"/>
          <p:cNvSpPr/>
          <p:nvPr/>
        </p:nvSpPr>
        <p:spPr>
          <a:xfrm>
            <a:off x="6839640" y="4316040"/>
            <a:ext cx="443448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bac3da"/>
                </a:solidFill>
                <a:latin typeface="Arial"/>
              </a:rPr>
              <a:t>come see me after class</a:t>
            </a:r>
            <a:endParaRPr b="0" lang="en-AU" sz="1600" spc="-1" strike="noStrike">
              <a:solidFill>
                <a:srgbClr val="ffffff"/>
              </a:solidFill>
              <a:latin typeface="Arial"/>
            </a:endParaRPr>
          </a:p>
        </p:txBody>
      </p:sp>
      <p:sp>
        <p:nvSpPr>
          <p:cNvPr id="325" name="TextBox 25"/>
          <p:cNvSpPr/>
          <p:nvPr/>
        </p:nvSpPr>
        <p:spPr>
          <a:xfrm>
            <a:off x="594360" y="5349240"/>
            <a:ext cx="10972440" cy="3052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000" spc="-1" strike="noStrike">
                <a:solidFill>
                  <a:srgbClr val="18d5f3"/>
                </a:solidFill>
                <a:latin typeface="Arial"/>
              </a:rPr>
              <a:t>BUT — 2026 changes the equation</a:t>
            </a:r>
            <a:endParaRPr b="0" lang="en-AU" sz="2000" spc="-1" strike="noStrike">
              <a:solidFill>
                <a:srgbClr val="ffffff"/>
              </a:solidFill>
              <a:latin typeface="Arial"/>
            </a:endParaRPr>
          </a:p>
        </p:txBody>
      </p:sp>
      <p:sp>
        <p:nvSpPr>
          <p:cNvPr id="326" name="Rounded Rectangle 26"/>
          <p:cNvSpPr/>
          <p:nvPr/>
        </p:nvSpPr>
        <p:spPr>
          <a:xfrm>
            <a:off x="1965960" y="5706000"/>
            <a:ext cx="8256600" cy="62136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7" name="TextBox 27"/>
          <p:cNvSpPr/>
          <p:nvPr/>
        </p:nvSpPr>
        <p:spPr>
          <a:xfrm>
            <a:off x="2103120" y="5830200"/>
            <a:ext cx="7982280" cy="335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ffffff"/>
                </a:solidFill>
                <a:latin typeface="Arial"/>
              </a:rPr>
              <a:t>THE AGE OF AGENTIC ENGINEERING HAS BEGUN</a:t>
            </a:r>
            <a:endParaRPr b="0" lang="en-AU" sz="2200" spc="-1" strike="noStrike">
              <a:solidFill>
                <a:srgbClr val="ffffff"/>
              </a:solidFill>
              <a:latin typeface="Arial"/>
            </a:endParaRPr>
          </a:p>
        </p:txBody>
      </p:sp>
      <p:sp>
        <p:nvSpPr>
          <p:cNvPr id="328" name="TextBox 28"/>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329" name="TextBox 29"/>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330"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331"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2"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THE EXPERIMENT</a:t>
            </a:r>
            <a:endParaRPr b="0" lang="en-AU" sz="1200" spc="-1" strike="noStrike">
              <a:solidFill>
                <a:srgbClr val="ffffff"/>
              </a:solidFill>
              <a:latin typeface="Arial"/>
            </a:endParaRPr>
          </a:p>
        </p:txBody>
      </p:sp>
      <p:sp>
        <p:nvSpPr>
          <p:cNvPr id="333"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A new tool met an old idea</a:t>
            </a:r>
            <a:endParaRPr b="0" lang="en-AU" sz="3100" spc="-1" strike="noStrike">
              <a:solidFill>
                <a:srgbClr val="ffffff"/>
              </a:solidFill>
              <a:latin typeface="Arial"/>
            </a:endParaRPr>
          </a:p>
        </p:txBody>
      </p:sp>
      <p:sp>
        <p:nvSpPr>
          <p:cNvPr id="334" name="Rounded Rectangle 5"/>
          <p:cNvSpPr/>
          <p:nvPr/>
        </p:nvSpPr>
        <p:spPr>
          <a:xfrm>
            <a:off x="640080" y="1691640"/>
            <a:ext cx="4434480" cy="356580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5" name="TextBox 6"/>
          <p:cNvSpPr/>
          <p:nvPr/>
        </p:nvSpPr>
        <p:spPr>
          <a:xfrm>
            <a:off x="914400" y="1993320"/>
            <a:ext cx="388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NEW</a:t>
            </a:r>
            <a:endParaRPr b="0" lang="en-AU" sz="1600" spc="-1" strike="noStrike">
              <a:solidFill>
                <a:srgbClr val="ffffff"/>
              </a:solidFill>
              <a:latin typeface="Arial"/>
            </a:endParaRPr>
          </a:p>
        </p:txBody>
      </p:sp>
      <p:sp>
        <p:nvSpPr>
          <p:cNvPr id="336" name="Rounded Rectangle 7"/>
          <p:cNvSpPr/>
          <p:nvPr/>
        </p:nvSpPr>
        <p:spPr>
          <a:xfrm>
            <a:off x="1234440" y="2606040"/>
            <a:ext cx="3245760" cy="123408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7" name="TextBox 8"/>
          <p:cNvSpPr/>
          <p:nvPr/>
        </p:nvSpPr>
        <p:spPr>
          <a:xfrm>
            <a:off x="1444680" y="2942280"/>
            <a:ext cx="2825280" cy="44280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900" spc="-1" strike="noStrike">
                <a:solidFill>
                  <a:srgbClr val="ffffff"/>
                </a:solidFill>
                <a:latin typeface="Arial"/>
              </a:rPr>
              <a:t>AMD ROSS</a:t>
            </a:r>
            <a:endParaRPr b="0" lang="en-AU" sz="2900" spc="-1" strike="noStrike">
              <a:solidFill>
                <a:srgbClr val="ffffff"/>
              </a:solidFill>
              <a:latin typeface="Arial"/>
            </a:endParaRPr>
          </a:p>
        </p:txBody>
      </p:sp>
      <p:sp>
        <p:nvSpPr>
          <p:cNvPr id="338" name="TextBox 9"/>
          <p:cNvSpPr/>
          <p:nvPr/>
        </p:nvSpPr>
        <p:spPr>
          <a:xfrm>
            <a:off x="914400" y="4224600"/>
            <a:ext cx="3885840" cy="5187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bac3da"/>
                </a:solidFill>
                <a:latin typeface="Arial"/>
              </a:rPr>
              <a:t>Agentic AI for AMD</a:t>
            </a:r>
            <a:endParaRPr b="0" lang="en-AU" sz="1700" spc="-1" strike="noStrike">
              <a:solidFill>
                <a:srgbClr val="ffffff"/>
              </a:solidFill>
              <a:latin typeface="Arial"/>
            </a:endParaRPr>
          </a:p>
          <a:p>
            <a:pPr algn="ctr" defTabSz="457200">
              <a:lnSpc>
                <a:spcPct val="100000"/>
              </a:lnSpc>
            </a:pPr>
            <a:r>
              <a:rPr b="1" lang="en-US" sz="1700" spc="-1" strike="noStrike">
                <a:solidFill>
                  <a:srgbClr val="bac3da"/>
                </a:solidFill>
                <a:latin typeface="Arial"/>
              </a:rPr>
              <a:t>embedded development</a:t>
            </a:r>
            <a:endParaRPr b="0" lang="en-AU" sz="1700" spc="-1" strike="noStrike">
              <a:solidFill>
                <a:srgbClr val="ffffff"/>
              </a:solidFill>
              <a:latin typeface="Arial"/>
            </a:endParaRPr>
          </a:p>
        </p:txBody>
      </p:sp>
      <p:cxnSp>
        <p:nvCxnSpPr>
          <p:cNvPr id="339" name="Connector 10"/>
          <p:cNvCxnSpPr/>
          <p:nvPr/>
        </p:nvCxnSpPr>
        <p:spPr>
          <a:xfrm>
            <a:off x="5074920" y="3492720"/>
            <a:ext cx="640440" cy="360"/>
          </a:xfrm>
          <a:prstGeom prst="straightConnector1">
            <a:avLst/>
          </a:prstGeom>
          <a:ln>
            <a:solidFill>
              <a:srgbClr val="ffffff"/>
            </a:solidFill>
            <a:round/>
          </a:ln>
        </p:spPr>
      </p:cxnSp>
      <p:sp>
        <p:nvSpPr>
          <p:cNvPr id="340" name="TextBox 11"/>
          <p:cNvSpPr/>
          <p:nvPr/>
        </p:nvSpPr>
        <p:spPr>
          <a:xfrm>
            <a:off x="5102280" y="3123720"/>
            <a:ext cx="585000" cy="5187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3400" spc="-1" strike="noStrike">
                <a:solidFill>
                  <a:srgbClr val="18d5f3"/>
                </a:solidFill>
                <a:latin typeface="Arial"/>
              </a:rPr>
              <a:t>+</a:t>
            </a:r>
            <a:endParaRPr b="0" lang="en-AU" sz="3400" spc="-1" strike="noStrike">
              <a:solidFill>
                <a:srgbClr val="ffffff"/>
              </a:solidFill>
              <a:latin typeface="Arial"/>
            </a:endParaRPr>
          </a:p>
        </p:txBody>
      </p:sp>
      <p:sp>
        <p:nvSpPr>
          <p:cNvPr id="341" name="Rounded Rectangle 12"/>
          <p:cNvSpPr/>
          <p:nvPr/>
        </p:nvSpPr>
        <p:spPr>
          <a:xfrm>
            <a:off x="5715000" y="1691640"/>
            <a:ext cx="4434480" cy="356580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2" name="TextBox 13"/>
          <p:cNvSpPr/>
          <p:nvPr/>
        </p:nvSpPr>
        <p:spPr>
          <a:xfrm>
            <a:off x="5989320" y="1993320"/>
            <a:ext cx="388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7821"/>
                </a:solidFill>
                <a:latin typeface="Arial"/>
              </a:rPr>
              <a:t>OLD</a:t>
            </a:r>
            <a:endParaRPr b="0" lang="en-AU" sz="1600" spc="-1" strike="noStrike">
              <a:solidFill>
                <a:srgbClr val="ffffff"/>
              </a:solidFill>
              <a:latin typeface="Arial"/>
            </a:endParaRPr>
          </a:p>
        </p:txBody>
      </p:sp>
      <p:sp>
        <p:nvSpPr>
          <p:cNvPr id="343" name="Rectangle 14"/>
          <p:cNvSpPr/>
          <p:nvPr/>
        </p:nvSpPr>
        <p:spPr>
          <a:xfrm>
            <a:off x="629100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4" name="Rectangle 15"/>
          <p:cNvSpPr/>
          <p:nvPr/>
        </p:nvSpPr>
        <p:spPr>
          <a:xfrm>
            <a:off x="664776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5" name="Rectangle 16"/>
          <p:cNvSpPr/>
          <p:nvPr/>
        </p:nvSpPr>
        <p:spPr>
          <a:xfrm>
            <a:off x="700416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6" name="Rectangle 17"/>
          <p:cNvSpPr/>
          <p:nvPr/>
        </p:nvSpPr>
        <p:spPr>
          <a:xfrm>
            <a:off x="736092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7" name="Rectangle 18"/>
          <p:cNvSpPr/>
          <p:nvPr/>
        </p:nvSpPr>
        <p:spPr>
          <a:xfrm>
            <a:off x="771768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8" name="Rectangle 19"/>
          <p:cNvSpPr/>
          <p:nvPr/>
        </p:nvSpPr>
        <p:spPr>
          <a:xfrm>
            <a:off x="807408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9" name="Rectangle 20"/>
          <p:cNvSpPr/>
          <p:nvPr/>
        </p:nvSpPr>
        <p:spPr>
          <a:xfrm>
            <a:off x="843084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0" name="Rectangle 21"/>
          <p:cNvSpPr/>
          <p:nvPr/>
        </p:nvSpPr>
        <p:spPr>
          <a:xfrm>
            <a:off x="878724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1" name="Rectangle 22"/>
          <p:cNvSpPr/>
          <p:nvPr/>
        </p:nvSpPr>
        <p:spPr>
          <a:xfrm>
            <a:off x="9144000" y="2761560"/>
            <a:ext cx="310680" cy="1023840"/>
          </a:xfrm>
          <a:prstGeom prst="rect">
            <a:avLst/>
          </a:prstGeom>
          <a:solidFill>
            <a:srgbClr val="ffffff"/>
          </a:solidFill>
          <a:ln w="19050">
            <a:solidFill>
              <a:srgbClr val="0710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2" name="Rectangle 23"/>
          <p:cNvSpPr/>
          <p:nvPr/>
        </p:nvSpPr>
        <p:spPr>
          <a:xfrm>
            <a:off x="6546960" y="2761560"/>
            <a:ext cx="182520" cy="58500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3" name="Rectangle 24"/>
          <p:cNvSpPr/>
          <p:nvPr/>
        </p:nvSpPr>
        <p:spPr>
          <a:xfrm>
            <a:off x="6903720" y="2761560"/>
            <a:ext cx="182520" cy="58500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4" name="Rectangle 25"/>
          <p:cNvSpPr/>
          <p:nvPr/>
        </p:nvSpPr>
        <p:spPr>
          <a:xfrm>
            <a:off x="7616880" y="2761560"/>
            <a:ext cx="182520" cy="58500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5" name="Rectangle 26"/>
          <p:cNvSpPr/>
          <p:nvPr/>
        </p:nvSpPr>
        <p:spPr>
          <a:xfrm>
            <a:off x="7973640" y="2761560"/>
            <a:ext cx="182520" cy="58500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6" name="Rectangle 27"/>
          <p:cNvSpPr/>
          <p:nvPr/>
        </p:nvSpPr>
        <p:spPr>
          <a:xfrm>
            <a:off x="8686800" y="2761560"/>
            <a:ext cx="182520" cy="585000"/>
          </a:xfrm>
          <a:prstGeom prst="rect">
            <a:avLst/>
          </a:prstGeom>
          <a:solidFill>
            <a:srgbClr val="0710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7" name="Oval 28"/>
          <p:cNvSpPr/>
          <p:nvPr/>
        </p:nvSpPr>
        <p:spPr>
          <a:xfrm>
            <a:off x="6537960" y="4041720"/>
            <a:ext cx="338040" cy="33804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8" name="Oval 29"/>
          <p:cNvSpPr/>
          <p:nvPr/>
        </p:nvSpPr>
        <p:spPr>
          <a:xfrm>
            <a:off x="7324200" y="4041720"/>
            <a:ext cx="338040" cy="338040"/>
          </a:xfrm>
          <a:prstGeom prst="ellipse">
            <a:avLst/>
          </a:prstGeom>
          <a:solidFill>
            <a:srgbClr val="e918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9" name="Oval 30"/>
          <p:cNvSpPr/>
          <p:nvPr/>
        </p:nvSpPr>
        <p:spPr>
          <a:xfrm>
            <a:off x="8110800" y="4041720"/>
            <a:ext cx="338040" cy="338040"/>
          </a:xfrm>
          <a:prstGeom prst="ellipse">
            <a:avLst/>
          </a:prstGeom>
          <a:solidFill>
            <a:srgbClr val="ff782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0" name="Oval 31"/>
          <p:cNvSpPr/>
          <p:nvPr/>
        </p:nvSpPr>
        <p:spPr>
          <a:xfrm>
            <a:off x="8897040" y="4041720"/>
            <a:ext cx="338040" cy="338040"/>
          </a:xfrm>
          <a:prstGeom prst="ellipse">
            <a:avLst/>
          </a:prstGeom>
          <a:solidFill>
            <a:srgbClr val="4ade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1" name="TextBox 32"/>
          <p:cNvSpPr/>
          <p:nvPr/>
        </p:nvSpPr>
        <p:spPr>
          <a:xfrm>
            <a:off x="5989320" y="4645080"/>
            <a:ext cx="38858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Arial"/>
              </a:rPr>
              <a:t>Build an FPGA synthesizer</a:t>
            </a:r>
            <a:endParaRPr b="0" lang="en-AU" sz="1800" spc="-1" strike="noStrike">
              <a:solidFill>
                <a:srgbClr val="ffffff"/>
              </a:solidFill>
              <a:latin typeface="Arial"/>
            </a:endParaRPr>
          </a:p>
        </p:txBody>
      </p:sp>
      <p:cxnSp>
        <p:nvCxnSpPr>
          <p:cNvPr id="362" name="Connector 33"/>
          <p:cNvCxnSpPr/>
          <p:nvPr/>
        </p:nvCxnSpPr>
        <p:spPr>
          <a:xfrm>
            <a:off x="10149840" y="3492720"/>
            <a:ext cx="567000" cy="360"/>
          </a:xfrm>
          <a:prstGeom prst="straightConnector1">
            <a:avLst/>
          </a:prstGeom>
          <a:ln>
            <a:solidFill>
              <a:srgbClr val="18d5f3"/>
            </a:solidFill>
            <a:round/>
          </a:ln>
        </p:spPr>
      </p:cxnSp>
      <p:sp>
        <p:nvSpPr>
          <p:cNvPr id="363" name="Rounded Rectangle 34"/>
          <p:cNvSpPr/>
          <p:nvPr/>
        </p:nvSpPr>
        <p:spPr>
          <a:xfrm>
            <a:off x="10716840" y="2606040"/>
            <a:ext cx="785880" cy="175536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4" name="TextBox 35"/>
          <p:cNvSpPr/>
          <p:nvPr/>
        </p:nvSpPr>
        <p:spPr>
          <a:xfrm>
            <a:off x="10798920" y="3257640"/>
            <a:ext cx="621360" cy="39744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300" spc="-1" strike="noStrike">
                <a:solidFill>
                  <a:srgbClr val="ffffff"/>
                </a:solidFill>
                <a:latin typeface="Arial"/>
              </a:rPr>
              <a:t>LET'S</a:t>
            </a:r>
            <a:endParaRPr b="0" lang="en-AU" sz="1300" spc="-1" strike="noStrike">
              <a:solidFill>
                <a:srgbClr val="ffffff"/>
              </a:solidFill>
              <a:latin typeface="Arial"/>
            </a:endParaRPr>
          </a:p>
          <a:p>
            <a:pPr algn="ctr" defTabSz="457200">
              <a:lnSpc>
                <a:spcPct val="100000"/>
              </a:lnSpc>
            </a:pPr>
            <a:r>
              <a:rPr b="1" lang="en-US" sz="1300" spc="-1" strike="noStrike">
                <a:solidFill>
                  <a:srgbClr val="ffffff"/>
                </a:solidFill>
                <a:latin typeface="Arial"/>
              </a:rPr>
              <a:t>TRY IT</a:t>
            </a:r>
            <a:endParaRPr b="0" lang="en-AU" sz="1300" spc="-1" strike="noStrike">
              <a:solidFill>
                <a:srgbClr val="ffffff"/>
              </a:solidFill>
              <a:latin typeface="Arial"/>
            </a:endParaRPr>
          </a:p>
        </p:txBody>
      </p:sp>
      <p:sp>
        <p:nvSpPr>
          <p:cNvPr id="365" name="TextBox 36"/>
          <p:cNvSpPr/>
          <p:nvPr/>
        </p:nvSpPr>
        <p:spPr>
          <a:xfrm>
            <a:off x="685800" y="5650920"/>
            <a:ext cx="10835280" cy="3506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300" spc="-1" strike="noStrike">
                <a:solidFill>
                  <a:srgbClr val="ffffff"/>
                </a:solidFill>
                <a:latin typeface="Arial"/>
              </a:rPr>
              <a:t>The first experiment: use Ross to build the instrument.</a:t>
            </a:r>
            <a:endParaRPr b="0" lang="en-AU" sz="2300" spc="-1" strike="noStrike">
              <a:solidFill>
                <a:srgbClr val="ffffff"/>
              </a:solidFill>
              <a:latin typeface="Arial"/>
            </a:endParaRPr>
          </a:p>
        </p:txBody>
      </p:sp>
      <p:sp>
        <p:nvSpPr>
          <p:cNvPr id="366" name="TextBox 37"/>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367" name="TextBox 38"/>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11</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368"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369"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0"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HOW IT WAS BUILT</a:t>
            </a:r>
            <a:endParaRPr b="0" lang="en-AU" sz="1200" spc="-1" strike="noStrike">
              <a:solidFill>
                <a:srgbClr val="ffffff"/>
              </a:solidFill>
              <a:latin typeface="Arial"/>
            </a:endParaRPr>
          </a:p>
        </p:txBody>
      </p:sp>
      <p:sp>
        <p:nvSpPr>
          <p:cNvPr id="371"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Meet the four players</a:t>
            </a:r>
            <a:endParaRPr b="0" lang="en-AU" sz="3100" spc="-1" strike="noStrike">
              <a:solidFill>
                <a:srgbClr val="ffffff"/>
              </a:solidFill>
              <a:latin typeface="Arial"/>
            </a:endParaRPr>
          </a:p>
        </p:txBody>
      </p:sp>
      <p:sp>
        <p:nvSpPr>
          <p:cNvPr id="372" name="Rounded Rectangle 5"/>
          <p:cNvSpPr/>
          <p:nvPr/>
        </p:nvSpPr>
        <p:spPr>
          <a:xfrm>
            <a:off x="567000" y="1664280"/>
            <a:ext cx="2541600" cy="3584160"/>
          </a:xfrm>
          <a:prstGeom prst="roundRect">
            <a:avLst>
              <a:gd name="adj" fmla="val 16667"/>
            </a:avLst>
          </a:prstGeom>
          <a:solidFill>
            <a:srgbClr val="121e4a"/>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3" name="Oval 6"/>
          <p:cNvSpPr/>
          <p:nvPr/>
        </p:nvSpPr>
        <p:spPr>
          <a:xfrm>
            <a:off x="1334880" y="1993320"/>
            <a:ext cx="1005480" cy="1005480"/>
          </a:xfrm>
          <a:prstGeom prst="ellipse">
            <a:avLst/>
          </a:prstGeom>
          <a:solidFill>
            <a:srgbClr val="4ade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4" name="TextBox 7"/>
          <p:cNvSpPr/>
          <p:nvPr/>
        </p:nvSpPr>
        <p:spPr>
          <a:xfrm>
            <a:off x="1334880" y="2282400"/>
            <a:ext cx="1005480" cy="335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07102a"/>
                </a:solidFill>
                <a:latin typeface="Arial"/>
              </a:rPr>
              <a:t>1</a:t>
            </a:r>
            <a:endParaRPr b="0" lang="en-AU" sz="2200" spc="-1" strike="noStrike">
              <a:solidFill>
                <a:srgbClr val="ffffff"/>
              </a:solidFill>
              <a:latin typeface="Arial"/>
            </a:endParaRPr>
          </a:p>
        </p:txBody>
      </p:sp>
      <p:sp>
        <p:nvSpPr>
          <p:cNvPr id="375" name="TextBox 8"/>
          <p:cNvSpPr/>
          <p:nvPr/>
        </p:nvSpPr>
        <p:spPr>
          <a:xfrm>
            <a:off x="749880" y="3337560"/>
            <a:ext cx="217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4ade80"/>
                </a:solidFill>
                <a:latin typeface="Arial"/>
              </a:rPr>
              <a:t>KRIA KV260</a:t>
            </a:r>
            <a:endParaRPr b="0" lang="en-AU" sz="1600" spc="-1" strike="noStrike">
              <a:solidFill>
                <a:srgbClr val="ffffff"/>
              </a:solidFill>
              <a:latin typeface="Arial"/>
            </a:endParaRPr>
          </a:p>
        </p:txBody>
      </p:sp>
      <p:sp>
        <p:nvSpPr>
          <p:cNvPr id="376" name="TextBox 9"/>
          <p:cNvSpPr/>
          <p:nvPr/>
        </p:nvSpPr>
        <p:spPr>
          <a:xfrm>
            <a:off x="795600" y="4213440"/>
            <a:ext cx="2084400" cy="4881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600" spc="-1" strike="noStrike">
                <a:solidFill>
                  <a:srgbClr val="ffffff"/>
                </a:solidFill>
                <a:latin typeface="Arial"/>
              </a:rPr>
              <a:t>where the</a:t>
            </a:r>
            <a:endParaRPr b="0" lang="en-AU" sz="1600" spc="-1" strike="noStrike">
              <a:solidFill>
                <a:srgbClr val="ffffff"/>
              </a:solidFill>
              <a:latin typeface="Arial"/>
            </a:endParaRPr>
          </a:p>
          <a:p>
            <a:pPr algn="ctr" defTabSz="457200">
              <a:lnSpc>
                <a:spcPct val="100000"/>
              </a:lnSpc>
            </a:pPr>
            <a:r>
              <a:rPr b="1" lang="en-US" sz="1600" spc="-1" strike="noStrike">
                <a:solidFill>
                  <a:srgbClr val="ffffff"/>
                </a:solidFill>
                <a:latin typeface="Arial"/>
              </a:rPr>
              <a:t>instrument runs</a:t>
            </a:r>
            <a:endParaRPr b="0" lang="en-AU" sz="1600" spc="-1" strike="noStrike">
              <a:solidFill>
                <a:srgbClr val="ffffff"/>
              </a:solidFill>
              <a:latin typeface="Arial"/>
            </a:endParaRPr>
          </a:p>
        </p:txBody>
      </p:sp>
      <p:sp>
        <p:nvSpPr>
          <p:cNvPr id="377" name="Rounded Rectangle 10"/>
          <p:cNvSpPr/>
          <p:nvPr/>
        </p:nvSpPr>
        <p:spPr>
          <a:xfrm>
            <a:off x="3474720" y="1664280"/>
            <a:ext cx="2541600" cy="358416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8" name="Oval 11"/>
          <p:cNvSpPr/>
          <p:nvPr/>
        </p:nvSpPr>
        <p:spPr>
          <a:xfrm>
            <a:off x="4242960" y="1993320"/>
            <a:ext cx="1005480" cy="1005480"/>
          </a:xfrm>
          <a:prstGeom prst="ellipse">
            <a:avLst/>
          </a:prstGeom>
          <a:solidFill>
            <a:srgbClr val="ff782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9" name="TextBox 12"/>
          <p:cNvSpPr/>
          <p:nvPr/>
        </p:nvSpPr>
        <p:spPr>
          <a:xfrm>
            <a:off x="4242960" y="2282400"/>
            <a:ext cx="1005480" cy="335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07102a"/>
                </a:solidFill>
                <a:latin typeface="Arial"/>
              </a:rPr>
              <a:t>2</a:t>
            </a:r>
            <a:endParaRPr b="0" lang="en-AU" sz="2200" spc="-1" strike="noStrike">
              <a:solidFill>
                <a:srgbClr val="ffffff"/>
              </a:solidFill>
              <a:latin typeface="Arial"/>
            </a:endParaRPr>
          </a:p>
        </p:txBody>
      </p:sp>
      <p:sp>
        <p:nvSpPr>
          <p:cNvPr id="380" name="TextBox 13"/>
          <p:cNvSpPr/>
          <p:nvPr/>
        </p:nvSpPr>
        <p:spPr>
          <a:xfrm>
            <a:off x="3657600" y="3337560"/>
            <a:ext cx="217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ff7821"/>
                </a:solidFill>
                <a:latin typeface="Arial"/>
              </a:rPr>
              <a:t>MIDI CONTROLLER</a:t>
            </a:r>
            <a:endParaRPr b="0" lang="en-AU" sz="1600" spc="-1" strike="noStrike">
              <a:solidFill>
                <a:srgbClr val="ffffff"/>
              </a:solidFill>
              <a:latin typeface="Arial"/>
            </a:endParaRPr>
          </a:p>
        </p:txBody>
      </p:sp>
      <p:sp>
        <p:nvSpPr>
          <p:cNvPr id="381" name="TextBox 14"/>
          <p:cNvSpPr/>
          <p:nvPr/>
        </p:nvSpPr>
        <p:spPr>
          <a:xfrm>
            <a:off x="3703320" y="4213440"/>
            <a:ext cx="2084400" cy="4881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600" spc="-1" strike="noStrike">
                <a:solidFill>
                  <a:srgbClr val="ffffff"/>
                </a:solidFill>
                <a:latin typeface="Arial"/>
              </a:rPr>
              <a:t>notes and</a:t>
            </a:r>
            <a:endParaRPr b="0" lang="en-AU" sz="1600" spc="-1" strike="noStrike">
              <a:solidFill>
                <a:srgbClr val="ffffff"/>
              </a:solidFill>
              <a:latin typeface="Arial"/>
            </a:endParaRPr>
          </a:p>
          <a:p>
            <a:pPr algn="ctr" defTabSz="457200">
              <a:lnSpc>
                <a:spcPct val="100000"/>
              </a:lnSpc>
            </a:pPr>
            <a:r>
              <a:rPr b="1" lang="en-US" sz="1600" spc="-1" strike="noStrike">
                <a:solidFill>
                  <a:srgbClr val="ffffff"/>
                </a:solidFill>
                <a:latin typeface="Arial"/>
              </a:rPr>
              <a:t>dial movements</a:t>
            </a:r>
            <a:endParaRPr b="0" lang="en-AU" sz="1600" spc="-1" strike="noStrike">
              <a:solidFill>
                <a:srgbClr val="ffffff"/>
              </a:solidFill>
              <a:latin typeface="Arial"/>
            </a:endParaRPr>
          </a:p>
        </p:txBody>
      </p:sp>
      <p:sp>
        <p:nvSpPr>
          <p:cNvPr id="382" name="Rounded Rectangle 15"/>
          <p:cNvSpPr/>
          <p:nvPr/>
        </p:nvSpPr>
        <p:spPr>
          <a:xfrm>
            <a:off x="6382440" y="1664280"/>
            <a:ext cx="2541600" cy="358416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3" name="Oval 16"/>
          <p:cNvSpPr/>
          <p:nvPr/>
        </p:nvSpPr>
        <p:spPr>
          <a:xfrm>
            <a:off x="7150680" y="1993320"/>
            <a:ext cx="1005480" cy="100548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4" name="TextBox 17"/>
          <p:cNvSpPr/>
          <p:nvPr/>
        </p:nvSpPr>
        <p:spPr>
          <a:xfrm>
            <a:off x="7150680" y="2282400"/>
            <a:ext cx="1005480" cy="335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07102a"/>
                </a:solidFill>
                <a:latin typeface="Arial"/>
              </a:rPr>
              <a:t>3</a:t>
            </a:r>
            <a:endParaRPr b="0" lang="en-AU" sz="2200" spc="-1" strike="noStrike">
              <a:solidFill>
                <a:srgbClr val="ffffff"/>
              </a:solidFill>
              <a:latin typeface="Arial"/>
            </a:endParaRPr>
          </a:p>
        </p:txBody>
      </p:sp>
      <p:sp>
        <p:nvSpPr>
          <p:cNvPr id="385" name="TextBox 18"/>
          <p:cNvSpPr/>
          <p:nvPr/>
        </p:nvSpPr>
        <p:spPr>
          <a:xfrm>
            <a:off x="6565320" y="3337560"/>
            <a:ext cx="217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18d5f3"/>
                </a:solidFill>
                <a:latin typeface="Arial"/>
              </a:rPr>
              <a:t>VITIS HLS</a:t>
            </a:r>
            <a:endParaRPr b="0" lang="en-AU" sz="1600" spc="-1" strike="noStrike">
              <a:solidFill>
                <a:srgbClr val="ffffff"/>
              </a:solidFill>
              <a:latin typeface="Arial"/>
            </a:endParaRPr>
          </a:p>
        </p:txBody>
      </p:sp>
      <p:sp>
        <p:nvSpPr>
          <p:cNvPr id="386" name="TextBox 19"/>
          <p:cNvSpPr/>
          <p:nvPr/>
        </p:nvSpPr>
        <p:spPr>
          <a:xfrm>
            <a:off x="6611040" y="4213440"/>
            <a:ext cx="2084400" cy="4881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600" spc="-1" strike="noStrike">
                <a:solidFill>
                  <a:srgbClr val="ffffff"/>
                </a:solidFill>
                <a:latin typeface="Arial"/>
              </a:rPr>
              <a:t>C/C++ DSP into</a:t>
            </a:r>
            <a:endParaRPr b="0" lang="en-AU" sz="1600" spc="-1" strike="noStrike">
              <a:solidFill>
                <a:srgbClr val="ffffff"/>
              </a:solidFill>
              <a:latin typeface="Arial"/>
            </a:endParaRPr>
          </a:p>
          <a:p>
            <a:pPr algn="ctr" defTabSz="457200">
              <a:lnSpc>
                <a:spcPct val="100000"/>
              </a:lnSpc>
            </a:pPr>
            <a:r>
              <a:rPr b="1" lang="en-US" sz="1600" spc="-1" strike="noStrike">
                <a:solidFill>
                  <a:srgbClr val="ffffff"/>
                </a:solidFill>
                <a:latin typeface="Arial"/>
              </a:rPr>
              <a:t>measured hardware</a:t>
            </a:r>
            <a:endParaRPr b="0" lang="en-AU" sz="1600" spc="-1" strike="noStrike">
              <a:solidFill>
                <a:srgbClr val="ffffff"/>
              </a:solidFill>
              <a:latin typeface="Arial"/>
            </a:endParaRPr>
          </a:p>
        </p:txBody>
      </p:sp>
      <p:sp>
        <p:nvSpPr>
          <p:cNvPr id="387" name="Rounded Rectangle 20"/>
          <p:cNvSpPr/>
          <p:nvPr/>
        </p:nvSpPr>
        <p:spPr>
          <a:xfrm>
            <a:off x="9290160" y="1664280"/>
            <a:ext cx="2541600" cy="358416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8" name="Oval 21"/>
          <p:cNvSpPr/>
          <p:nvPr/>
        </p:nvSpPr>
        <p:spPr>
          <a:xfrm>
            <a:off x="10058400" y="1993320"/>
            <a:ext cx="1005480" cy="1005480"/>
          </a:xfrm>
          <a:prstGeom prst="ellipse">
            <a:avLst/>
          </a:prstGeom>
          <a:solidFill>
            <a:srgbClr val="e918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9" name="TextBox 22"/>
          <p:cNvSpPr/>
          <p:nvPr/>
        </p:nvSpPr>
        <p:spPr>
          <a:xfrm>
            <a:off x="10058400" y="2282400"/>
            <a:ext cx="1005480" cy="335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07102a"/>
                </a:solidFill>
                <a:latin typeface="Arial"/>
              </a:rPr>
              <a:t>4</a:t>
            </a:r>
            <a:endParaRPr b="0" lang="en-AU" sz="2200" spc="-1" strike="noStrike">
              <a:solidFill>
                <a:srgbClr val="ffffff"/>
              </a:solidFill>
              <a:latin typeface="Arial"/>
            </a:endParaRPr>
          </a:p>
        </p:txBody>
      </p:sp>
      <p:sp>
        <p:nvSpPr>
          <p:cNvPr id="390" name="TextBox 23"/>
          <p:cNvSpPr/>
          <p:nvPr/>
        </p:nvSpPr>
        <p:spPr>
          <a:xfrm>
            <a:off x="9473040" y="3337560"/>
            <a:ext cx="217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AMD ROSS</a:t>
            </a:r>
            <a:endParaRPr b="0" lang="en-AU" sz="1600" spc="-1" strike="noStrike">
              <a:solidFill>
                <a:srgbClr val="ffffff"/>
              </a:solidFill>
              <a:latin typeface="Arial"/>
            </a:endParaRPr>
          </a:p>
        </p:txBody>
      </p:sp>
      <p:sp>
        <p:nvSpPr>
          <p:cNvPr id="391" name="TextBox 24"/>
          <p:cNvSpPr/>
          <p:nvPr/>
        </p:nvSpPr>
        <p:spPr>
          <a:xfrm>
            <a:off x="9518760" y="4213440"/>
            <a:ext cx="2084400" cy="4881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600" spc="-1" strike="noStrike">
                <a:solidFill>
                  <a:srgbClr val="ffffff"/>
                </a:solidFill>
                <a:latin typeface="Arial"/>
              </a:rPr>
              <a:t>drives the</a:t>
            </a:r>
            <a:endParaRPr b="0" lang="en-AU" sz="1600" spc="-1" strike="noStrike">
              <a:solidFill>
                <a:srgbClr val="ffffff"/>
              </a:solidFill>
              <a:latin typeface="Arial"/>
            </a:endParaRPr>
          </a:p>
          <a:p>
            <a:pPr algn="ctr" defTabSz="457200">
              <a:lnSpc>
                <a:spcPct val="100000"/>
              </a:lnSpc>
            </a:pPr>
            <a:r>
              <a:rPr b="1" lang="en-US" sz="1600" spc="-1" strike="noStrike">
                <a:solidFill>
                  <a:srgbClr val="ffffff"/>
                </a:solidFill>
                <a:latin typeface="Arial"/>
              </a:rPr>
              <a:t>engineering loop</a:t>
            </a:r>
            <a:endParaRPr b="0" lang="en-AU" sz="1600" spc="-1" strike="noStrike">
              <a:solidFill>
                <a:srgbClr val="ffffff"/>
              </a:solidFill>
              <a:latin typeface="Arial"/>
            </a:endParaRPr>
          </a:p>
        </p:txBody>
      </p:sp>
      <p:sp>
        <p:nvSpPr>
          <p:cNvPr id="392" name="TextBox 25"/>
          <p:cNvSpPr/>
          <p:nvPr/>
        </p:nvSpPr>
        <p:spPr>
          <a:xfrm>
            <a:off x="640080" y="5779080"/>
            <a:ext cx="10926720" cy="3052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000" spc="-1" strike="noStrike">
                <a:solidFill>
                  <a:srgbClr val="ffffff"/>
                </a:solidFill>
                <a:latin typeface="Arial"/>
              </a:rPr>
              <a:t>Hardware  +  input  +  evidence  +  an agentic collaborator</a:t>
            </a:r>
            <a:endParaRPr b="0" lang="en-AU" sz="2000" spc="-1" strike="noStrike">
              <a:solidFill>
                <a:srgbClr val="ffffff"/>
              </a:solidFill>
              <a:latin typeface="Arial"/>
            </a:endParaRPr>
          </a:p>
        </p:txBody>
      </p:sp>
      <p:sp>
        <p:nvSpPr>
          <p:cNvPr id="393" name="TextBox 26"/>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394" name="TextBox 27"/>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12</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395"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396"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7"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THE WORKFLOW</a:t>
            </a:r>
            <a:endParaRPr b="0" lang="en-AU" sz="1200" spc="-1" strike="noStrike">
              <a:solidFill>
                <a:srgbClr val="ffffff"/>
              </a:solidFill>
              <a:latin typeface="Arial"/>
            </a:endParaRPr>
          </a:p>
        </p:txBody>
      </p:sp>
      <p:sp>
        <p:nvSpPr>
          <p:cNvPr id="398"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Intent became a plan the agents could execute</a:t>
            </a:r>
            <a:endParaRPr b="0" lang="en-AU" sz="2900" spc="-1" strike="noStrike">
              <a:solidFill>
                <a:srgbClr val="ffffff"/>
              </a:solidFill>
              <a:latin typeface="Arial"/>
            </a:endParaRPr>
          </a:p>
        </p:txBody>
      </p:sp>
      <p:sp>
        <p:nvSpPr>
          <p:cNvPr id="399" name="Rounded Rectangle 5"/>
          <p:cNvSpPr/>
          <p:nvPr/>
        </p:nvSpPr>
        <p:spPr>
          <a:xfrm>
            <a:off x="567000" y="1645920"/>
            <a:ext cx="2541600" cy="361152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0" name="Oval 6"/>
          <p:cNvSpPr/>
          <p:nvPr/>
        </p:nvSpPr>
        <p:spPr>
          <a:xfrm>
            <a:off x="1426320" y="1938600"/>
            <a:ext cx="822600" cy="822600"/>
          </a:xfrm>
          <a:prstGeom prst="ellipse">
            <a:avLst/>
          </a:prstGeom>
          <a:solidFill>
            <a:srgbClr val="ff782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1" name="TextBox 7"/>
          <p:cNvSpPr/>
          <p:nvPr/>
        </p:nvSpPr>
        <p:spPr>
          <a:xfrm>
            <a:off x="1426320" y="2157840"/>
            <a:ext cx="822600" cy="273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00" spc="-1" strike="noStrike">
                <a:solidFill>
                  <a:srgbClr val="07102a"/>
                </a:solidFill>
                <a:latin typeface="Arial"/>
              </a:rPr>
              <a:t>1</a:t>
            </a:r>
            <a:endParaRPr b="0" lang="en-AU" sz="1800" spc="-1" strike="noStrike">
              <a:solidFill>
                <a:srgbClr val="ffffff"/>
              </a:solidFill>
              <a:latin typeface="Arial"/>
            </a:endParaRPr>
          </a:p>
        </p:txBody>
      </p:sp>
      <p:sp>
        <p:nvSpPr>
          <p:cNvPr id="402" name="TextBox 8"/>
          <p:cNvSpPr/>
          <p:nvPr/>
        </p:nvSpPr>
        <p:spPr>
          <a:xfrm>
            <a:off x="749880" y="306324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ff7821"/>
                </a:solidFill>
                <a:latin typeface="Arial"/>
              </a:rPr>
              <a:t>CONVERSATION</a:t>
            </a:r>
            <a:endParaRPr b="0" lang="en-AU" sz="1500" spc="-1" strike="noStrike">
              <a:solidFill>
                <a:srgbClr val="ffffff"/>
              </a:solidFill>
              <a:latin typeface="Arial"/>
            </a:endParaRPr>
          </a:p>
        </p:txBody>
      </p:sp>
      <p:sp>
        <p:nvSpPr>
          <p:cNvPr id="403" name="TextBox 9"/>
          <p:cNvSpPr/>
          <p:nvPr/>
        </p:nvSpPr>
        <p:spPr>
          <a:xfrm>
            <a:off x="795600" y="3871800"/>
            <a:ext cx="2084400" cy="6865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00" spc="-1" strike="noStrike">
                <a:solidFill>
                  <a:srgbClr val="ffffff"/>
                </a:solidFill>
                <a:latin typeface="Arial"/>
              </a:rPr>
              <a:t>I want to create a</a:t>
            </a:r>
            <a:endParaRPr b="0" lang="en-AU" sz="1500" spc="-1" strike="noStrike">
              <a:solidFill>
                <a:srgbClr val="ffffff"/>
              </a:solidFill>
              <a:latin typeface="Arial"/>
            </a:endParaRPr>
          </a:p>
          <a:p>
            <a:pPr algn="ctr" defTabSz="457200">
              <a:lnSpc>
                <a:spcPct val="100000"/>
              </a:lnSpc>
            </a:pPr>
            <a:r>
              <a:rPr b="1" lang="en-US" sz="1500" spc="-1" strike="noStrike">
                <a:solidFill>
                  <a:srgbClr val="ffffff"/>
                </a:solidFill>
                <a:latin typeface="Arial"/>
              </a:rPr>
              <a:t>polyphonic synthesizer...</a:t>
            </a:r>
            <a:endParaRPr b="0" lang="en-AU" sz="1500" spc="-1" strike="noStrike">
              <a:solidFill>
                <a:srgbClr val="ffffff"/>
              </a:solidFill>
              <a:latin typeface="Arial"/>
            </a:endParaRPr>
          </a:p>
        </p:txBody>
      </p:sp>
      <p:cxnSp>
        <p:nvCxnSpPr>
          <p:cNvPr id="404" name="Connector 10"/>
          <p:cNvCxnSpPr/>
          <p:nvPr/>
        </p:nvCxnSpPr>
        <p:spPr>
          <a:xfrm>
            <a:off x="3108960" y="3456360"/>
            <a:ext cx="366120" cy="360"/>
          </a:xfrm>
          <a:prstGeom prst="straightConnector1">
            <a:avLst/>
          </a:prstGeom>
          <a:ln>
            <a:solidFill>
              <a:srgbClr val="ffffff"/>
            </a:solidFill>
            <a:round/>
          </a:ln>
        </p:spPr>
      </p:cxnSp>
      <p:sp>
        <p:nvSpPr>
          <p:cNvPr id="405" name="Rounded Rectangle 11"/>
          <p:cNvSpPr/>
          <p:nvPr/>
        </p:nvSpPr>
        <p:spPr>
          <a:xfrm>
            <a:off x="3474720" y="1645920"/>
            <a:ext cx="2541600" cy="361152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6" name="Oval 12"/>
          <p:cNvSpPr/>
          <p:nvPr/>
        </p:nvSpPr>
        <p:spPr>
          <a:xfrm>
            <a:off x="4334400" y="1938600"/>
            <a:ext cx="822600" cy="822600"/>
          </a:xfrm>
          <a:prstGeom prst="ellipse">
            <a:avLst/>
          </a:prstGeom>
          <a:solidFill>
            <a:srgbClr val="18d5f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7" name="TextBox 13"/>
          <p:cNvSpPr/>
          <p:nvPr/>
        </p:nvSpPr>
        <p:spPr>
          <a:xfrm>
            <a:off x="4334400" y="2157840"/>
            <a:ext cx="822600" cy="273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00" spc="-1" strike="noStrike">
                <a:solidFill>
                  <a:srgbClr val="07102a"/>
                </a:solidFill>
                <a:latin typeface="Arial"/>
              </a:rPr>
              <a:t>2</a:t>
            </a:r>
            <a:endParaRPr b="0" lang="en-AU" sz="1800" spc="-1" strike="noStrike">
              <a:solidFill>
                <a:srgbClr val="ffffff"/>
              </a:solidFill>
              <a:latin typeface="Arial"/>
            </a:endParaRPr>
          </a:p>
        </p:txBody>
      </p:sp>
      <p:sp>
        <p:nvSpPr>
          <p:cNvPr id="408" name="TextBox 14"/>
          <p:cNvSpPr/>
          <p:nvPr/>
        </p:nvSpPr>
        <p:spPr>
          <a:xfrm>
            <a:off x="3657600" y="306324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18d5f3"/>
                </a:solidFill>
                <a:latin typeface="Arial"/>
              </a:rPr>
              <a:t>SPECIFICATION</a:t>
            </a:r>
            <a:endParaRPr b="0" lang="en-AU" sz="1500" spc="-1" strike="noStrike">
              <a:solidFill>
                <a:srgbClr val="ffffff"/>
              </a:solidFill>
              <a:latin typeface="Arial"/>
            </a:endParaRPr>
          </a:p>
        </p:txBody>
      </p:sp>
      <p:sp>
        <p:nvSpPr>
          <p:cNvPr id="409" name="TextBox 15"/>
          <p:cNvSpPr/>
          <p:nvPr/>
        </p:nvSpPr>
        <p:spPr>
          <a:xfrm>
            <a:off x="3703320" y="3871800"/>
            <a:ext cx="2084400" cy="6865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00" spc="-1" strike="noStrike">
                <a:solidFill>
                  <a:srgbClr val="ffffff"/>
                </a:solidFill>
                <a:latin typeface="Arial"/>
              </a:rPr>
              <a:t>Requirements, interfaces</a:t>
            </a:r>
            <a:endParaRPr b="0" lang="en-AU" sz="1500" spc="-1" strike="noStrike">
              <a:solidFill>
                <a:srgbClr val="ffffff"/>
              </a:solidFill>
              <a:latin typeface="Arial"/>
            </a:endParaRPr>
          </a:p>
          <a:p>
            <a:pPr algn="ctr" defTabSz="457200">
              <a:lnSpc>
                <a:spcPct val="100000"/>
              </a:lnSpc>
            </a:pPr>
            <a:r>
              <a:rPr b="1" lang="en-US" sz="1500" spc="-1" strike="noStrike">
                <a:solidFill>
                  <a:srgbClr val="ffffff"/>
                </a:solidFill>
                <a:latin typeface="Arial"/>
              </a:rPr>
              <a:t>and acceptance tests</a:t>
            </a:r>
            <a:endParaRPr b="0" lang="en-AU" sz="1500" spc="-1" strike="noStrike">
              <a:solidFill>
                <a:srgbClr val="ffffff"/>
              </a:solidFill>
              <a:latin typeface="Arial"/>
            </a:endParaRPr>
          </a:p>
        </p:txBody>
      </p:sp>
      <p:cxnSp>
        <p:nvCxnSpPr>
          <p:cNvPr id="410" name="Connector 16"/>
          <p:cNvCxnSpPr/>
          <p:nvPr/>
        </p:nvCxnSpPr>
        <p:spPr>
          <a:xfrm>
            <a:off x="6016680" y="3456360"/>
            <a:ext cx="366120" cy="360"/>
          </a:xfrm>
          <a:prstGeom prst="straightConnector1">
            <a:avLst/>
          </a:prstGeom>
          <a:ln>
            <a:solidFill>
              <a:srgbClr val="ffffff"/>
            </a:solidFill>
            <a:round/>
          </a:ln>
        </p:spPr>
      </p:cxnSp>
      <p:sp>
        <p:nvSpPr>
          <p:cNvPr id="411" name="Rounded Rectangle 17"/>
          <p:cNvSpPr/>
          <p:nvPr/>
        </p:nvSpPr>
        <p:spPr>
          <a:xfrm>
            <a:off x="6382440" y="1645920"/>
            <a:ext cx="2541600" cy="361152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2" name="Oval 18"/>
          <p:cNvSpPr/>
          <p:nvPr/>
        </p:nvSpPr>
        <p:spPr>
          <a:xfrm>
            <a:off x="7242120" y="1938600"/>
            <a:ext cx="822600" cy="822600"/>
          </a:xfrm>
          <a:prstGeom prst="ellipse">
            <a:avLst/>
          </a:prstGeom>
          <a:solidFill>
            <a:srgbClr val="e918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3" name="TextBox 19"/>
          <p:cNvSpPr/>
          <p:nvPr/>
        </p:nvSpPr>
        <p:spPr>
          <a:xfrm>
            <a:off x="7242120" y="2157840"/>
            <a:ext cx="822600" cy="273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00" spc="-1" strike="noStrike">
                <a:solidFill>
                  <a:srgbClr val="07102a"/>
                </a:solidFill>
                <a:latin typeface="Arial"/>
              </a:rPr>
              <a:t>3</a:t>
            </a:r>
            <a:endParaRPr b="0" lang="en-AU" sz="1800" spc="-1" strike="noStrike">
              <a:solidFill>
                <a:srgbClr val="ffffff"/>
              </a:solidFill>
              <a:latin typeface="Arial"/>
            </a:endParaRPr>
          </a:p>
        </p:txBody>
      </p:sp>
      <p:sp>
        <p:nvSpPr>
          <p:cNvPr id="414" name="TextBox 20"/>
          <p:cNvSpPr/>
          <p:nvPr/>
        </p:nvSpPr>
        <p:spPr>
          <a:xfrm>
            <a:off x="6565320" y="306324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e91880"/>
                </a:solidFill>
                <a:latin typeface="Arial"/>
              </a:rPr>
              <a:t>GENERATED PLAN</a:t>
            </a:r>
            <a:endParaRPr b="0" lang="en-AU" sz="1500" spc="-1" strike="noStrike">
              <a:solidFill>
                <a:srgbClr val="ffffff"/>
              </a:solidFill>
              <a:latin typeface="Arial"/>
            </a:endParaRPr>
          </a:p>
        </p:txBody>
      </p:sp>
      <p:sp>
        <p:nvSpPr>
          <p:cNvPr id="415" name="TextBox 21"/>
          <p:cNvSpPr/>
          <p:nvPr/>
        </p:nvSpPr>
        <p:spPr>
          <a:xfrm>
            <a:off x="6611040" y="3985920"/>
            <a:ext cx="2084400" cy="457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00" spc="-1" strike="noStrike">
                <a:solidFill>
                  <a:srgbClr val="ffffff"/>
                </a:solidFill>
                <a:latin typeface="Arial"/>
              </a:rPr>
              <a:t>Ordered work, gates</a:t>
            </a:r>
            <a:endParaRPr b="0" lang="en-AU" sz="1500" spc="-1" strike="noStrike">
              <a:solidFill>
                <a:srgbClr val="ffffff"/>
              </a:solidFill>
              <a:latin typeface="Arial"/>
            </a:endParaRPr>
          </a:p>
          <a:p>
            <a:pPr algn="ctr" defTabSz="457200">
              <a:lnSpc>
                <a:spcPct val="100000"/>
              </a:lnSpc>
            </a:pPr>
            <a:r>
              <a:rPr b="1" lang="en-US" sz="1500" spc="-1" strike="noStrike">
                <a:solidFill>
                  <a:srgbClr val="ffffff"/>
                </a:solidFill>
                <a:latin typeface="Arial"/>
              </a:rPr>
              <a:t>and dependencies</a:t>
            </a:r>
            <a:endParaRPr b="0" lang="en-AU" sz="1500" spc="-1" strike="noStrike">
              <a:solidFill>
                <a:srgbClr val="ffffff"/>
              </a:solidFill>
              <a:latin typeface="Arial"/>
            </a:endParaRPr>
          </a:p>
        </p:txBody>
      </p:sp>
      <p:cxnSp>
        <p:nvCxnSpPr>
          <p:cNvPr id="416" name="Connector 22"/>
          <p:cNvCxnSpPr/>
          <p:nvPr/>
        </p:nvCxnSpPr>
        <p:spPr>
          <a:xfrm>
            <a:off x="8924400" y="3456360"/>
            <a:ext cx="366120" cy="360"/>
          </a:xfrm>
          <a:prstGeom prst="straightConnector1">
            <a:avLst/>
          </a:prstGeom>
          <a:ln>
            <a:solidFill>
              <a:srgbClr val="ffffff"/>
            </a:solidFill>
            <a:round/>
          </a:ln>
        </p:spPr>
      </p:cxnSp>
      <p:sp>
        <p:nvSpPr>
          <p:cNvPr id="417" name="Rounded Rectangle 23"/>
          <p:cNvSpPr/>
          <p:nvPr/>
        </p:nvSpPr>
        <p:spPr>
          <a:xfrm>
            <a:off x="9290160" y="1645920"/>
            <a:ext cx="2541600" cy="3611520"/>
          </a:xfrm>
          <a:prstGeom prst="roundRect">
            <a:avLst>
              <a:gd name="adj" fmla="val 16667"/>
            </a:avLst>
          </a:prstGeom>
          <a:solidFill>
            <a:srgbClr val="121e4a"/>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8" name="Oval 24"/>
          <p:cNvSpPr/>
          <p:nvPr/>
        </p:nvSpPr>
        <p:spPr>
          <a:xfrm>
            <a:off x="10149840" y="1938600"/>
            <a:ext cx="822600" cy="822600"/>
          </a:xfrm>
          <a:prstGeom prst="ellipse">
            <a:avLst/>
          </a:prstGeom>
          <a:solidFill>
            <a:srgbClr val="4ade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9" name="TextBox 25"/>
          <p:cNvSpPr/>
          <p:nvPr/>
        </p:nvSpPr>
        <p:spPr>
          <a:xfrm>
            <a:off x="10149840" y="2157840"/>
            <a:ext cx="822600" cy="273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00" spc="-1" strike="noStrike">
                <a:solidFill>
                  <a:srgbClr val="07102a"/>
                </a:solidFill>
                <a:latin typeface="Arial"/>
              </a:rPr>
              <a:t>4</a:t>
            </a:r>
            <a:endParaRPr b="0" lang="en-AU" sz="1800" spc="-1" strike="noStrike">
              <a:solidFill>
                <a:srgbClr val="ffffff"/>
              </a:solidFill>
              <a:latin typeface="Arial"/>
            </a:endParaRPr>
          </a:p>
        </p:txBody>
      </p:sp>
      <p:sp>
        <p:nvSpPr>
          <p:cNvPr id="420" name="TextBox 26"/>
          <p:cNvSpPr/>
          <p:nvPr/>
        </p:nvSpPr>
        <p:spPr>
          <a:xfrm>
            <a:off x="9473040" y="306324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4ade80"/>
                </a:solidFill>
                <a:latin typeface="Arial"/>
              </a:rPr>
              <a:t>SUBAGENTS</a:t>
            </a:r>
            <a:endParaRPr b="0" lang="en-AU" sz="1500" spc="-1" strike="noStrike">
              <a:solidFill>
                <a:srgbClr val="ffffff"/>
              </a:solidFill>
              <a:latin typeface="Arial"/>
            </a:endParaRPr>
          </a:p>
        </p:txBody>
      </p:sp>
      <p:sp>
        <p:nvSpPr>
          <p:cNvPr id="421" name="TextBox 27"/>
          <p:cNvSpPr/>
          <p:nvPr/>
        </p:nvSpPr>
        <p:spPr>
          <a:xfrm>
            <a:off x="9518760" y="3985920"/>
            <a:ext cx="2084400" cy="457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00" spc="-1" strike="noStrike">
                <a:solidFill>
                  <a:srgbClr val="ffffff"/>
                </a:solidFill>
                <a:latin typeface="Arial"/>
              </a:rPr>
              <a:t>Vivado + HLS skills</a:t>
            </a:r>
            <a:endParaRPr b="0" lang="en-AU" sz="1500" spc="-1" strike="noStrike">
              <a:solidFill>
                <a:srgbClr val="ffffff"/>
              </a:solidFill>
              <a:latin typeface="Arial"/>
            </a:endParaRPr>
          </a:p>
          <a:p>
            <a:pPr algn="ctr" defTabSz="457200">
              <a:lnSpc>
                <a:spcPct val="100000"/>
              </a:lnSpc>
            </a:pPr>
            <a:r>
              <a:rPr b="1" lang="en-US" sz="1500" spc="-1" strike="noStrike">
                <a:solidFill>
                  <a:srgbClr val="ffffff"/>
                </a:solidFill>
                <a:latin typeface="Arial"/>
              </a:rPr>
              <a:t>work the plan</a:t>
            </a:r>
            <a:endParaRPr b="0" lang="en-AU" sz="1500" spc="-1" strike="noStrike">
              <a:solidFill>
                <a:srgbClr val="ffffff"/>
              </a:solidFill>
              <a:latin typeface="Arial"/>
            </a:endParaRPr>
          </a:p>
        </p:txBody>
      </p:sp>
      <p:sp>
        <p:nvSpPr>
          <p:cNvPr id="422" name="TextBox 28"/>
          <p:cNvSpPr/>
          <p:nvPr/>
        </p:nvSpPr>
        <p:spPr>
          <a:xfrm>
            <a:off x="640080" y="5715000"/>
            <a:ext cx="1092672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ffffff"/>
                </a:solidFill>
                <a:latin typeface="Arial"/>
              </a:rPr>
              <a:t>A brief design conversation.  Then a few days of agentic execution.</a:t>
            </a:r>
            <a:endParaRPr b="0" lang="en-AU" sz="2200" spc="-1" strike="noStrike">
              <a:solidFill>
                <a:srgbClr val="ffffff"/>
              </a:solidFill>
              <a:latin typeface="Arial"/>
            </a:endParaRPr>
          </a:p>
        </p:txBody>
      </p:sp>
      <p:sp>
        <p:nvSpPr>
          <p:cNvPr id="423" name="TextBox 29"/>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424" name="TextBox 30"/>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13</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425"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426"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7"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THE ENGINEERING TARGET</a:t>
            </a:r>
            <a:endParaRPr b="0" lang="en-AU" sz="1200" spc="-1" strike="noStrike">
              <a:solidFill>
                <a:srgbClr val="ffffff"/>
              </a:solidFill>
              <a:latin typeface="Arial"/>
            </a:endParaRPr>
          </a:p>
        </p:txBody>
      </p:sp>
      <p:sp>
        <p:nvSpPr>
          <p:cNvPr id="428"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The target was never ambiguous</a:t>
            </a:r>
            <a:endParaRPr b="0" lang="en-AU" sz="3100" spc="-1" strike="noStrike">
              <a:solidFill>
                <a:srgbClr val="ffffff"/>
              </a:solidFill>
              <a:latin typeface="Arial"/>
            </a:endParaRPr>
          </a:p>
        </p:txBody>
      </p:sp>
      <p:sp>
        <p:nvSpPr>
          <p:cNvPr id="429" name="Rounded Rectangle 5"/>
          <p:cNvSpPr/>
          <p:nvPr/>
        </p:nvSpPr>
        <p:spPr>
          <a:xfrm>
            <a:off x="658440" y="1664280"/>
            <a:ext cx="5230080" cy="358416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0" name="TextBox 6"/>
          <p:cNvSpPr/>
          <p:nvPr/>
        </p:nvSpPr>
        <p:spPr>
          <a:xfrm>
            <a:off x="932760" y="1938600"/>
            <a:ext cx="46814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18d5f3"/>
                </a:solidFill>
                <a:latin typeface="Arial"/>
              </a:rPr>
              <a:t>AVAILABLE BUDGET</a:t>
            </a:r>
            <a:endParaRPr b="0" lang="en-AU" sz="1600" spc="-1" strike="noStrike">
              <a:solidFill>
                <a:srgbClr val="ffffff"/>
              </a:solidFill>
              <a:latin typeface="Arial"/>
            </a:endParaRPr>
          </a:p>
        </p:txBody>
      </p:sp>
      <p:sp>
        <p:nvSpPr>
          <p:cNvPr id="431" name="TextBox 7"/>
          <p:cNvSpPr/>
          <p:nvPr/>
        </p:nvSpPr>
        <p:spPr>
          <a:xfrm>
            <a:off x="914400" y="2578680"/>
            <a:ext cx="4717800" cy="731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4800" spc="-1" strike="noStrike">
                <a:solidFill>
                  <a:srgbClr val="ffffff"/>
                </a:solidFill>
                <a:latin typeface="Arial"/>
              </a:rPr>
              <a:t>~2,000</a:t>
            </a:r>
            <a:endParaRPr b="0" lang="en-AU" sz="4800" spc="-1" strike="noStrike">
              <a:solidFill>
                <a:srgbClr val="ffffff"/>
              </a:solidFill>
              <a:latin typeface="Arial"/>
            </a:endParaRPr>
          </a:p>
        </p:txBody>
      </p:sp>
      <p:sp>
        <p:nvSpPr>
          <p:cNvPr id="432" name="TextBox 8"/>
          <p:cNvSpPr/>
          <p:nvPr/>
        </p:nvSpPr>
        <p:spPr>
          <a:xfrm>
            <a:off x="914400" y="3547800"/>
            <a:ext cx="4717800" cy="289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900" spc="-1" strike="noStrike">
                <a:solidFill>
                  <a:srgbClr val="bac3da"/>
                </a:solidFill>
                <a:latin typeface="Arial"/>
              </a:rPr>
              <a:t>cycles per audio sample</a:t>
            </a:r>
            <a:endParaRPr b="0" lang="en-AU" sz="1900" spc="-1" strike="noStrike">
              <a:solidFill>
                <a:srgbClr val="ffffff"/>
              </a:solidFill>
              <a:latin typeface="Arial"/>
            </a:endParaRPr>
          </a:p>
        </p:txBody>
      </p:sp>
      <p:sp>
        <p:nvSpPr>
          <p:cNvPr id="433" name="TextBox 9"/>
          <p:cNvSpPr/>
          <p:nvPr/>
        </p:nvSpPr>
        <p:spPr>
          <a:xfrm>
            <a:off x="960120" y="4316040"/>
            <a:ext cx="462636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Arial"/>
              </a:rPr>
              <a:t>Latency had room to grow</a:t>
            </a:r>
            <a:endParaRPr b="0" lang="en-AU" sz="1800" spc="-1" strike="noStrike">
              <a:solidFill>
                <a:srgbClr val="ffffff"/>
              </a:solidFill>
              <a:latin typeface="Arial"/>
            </a:endParaRPr>
          </a:p>
        </p:txBody>
      </p:sp>
      <p:sp>
        <p:nvSpPr>
          <p:cNvPr id="434" name="Rounded Rectangle 10"/>
          <p:cNvSpPr/>
          <p:nvPr/>
        </p:nvSpPr>
        <p:spPr>
          <a:xfrm>
            <a:off x="6291000" y="1664280"/>
            <a:ext cx="5230080" cy="358416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5" name="TextBox 11"/>
          <p:cNvSpPr/>
          <p:nvPr/>
        </p:nvSpPr>
        <p:spPr>
          <a:xfrm>
            <a:off x="6565320" y="1938600"/>
            <a:ext cx="46814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ACCEPTANCE CRITERION</a:t>
            </a:r>
            <a:endParaRPr b="0" lang="en-AU" sz="1600" spc="-1" strike="noStrike">
              <a:solidFill>
                <a:srgbClr val="ffffff"/>
              </a:solidFill>
              <a:latin typeface="Arial"/>
            </a:endParaRPr>
          </a:p>
        </p:txBody>
      </p:sp>
      <p:sp>
        <p:nvSpPr>
          <p:cNvPr id="436" name="TextBox 12"/>
          <p:cNvSpPr/>
          <p:nvPr/>
        </p:nvSpPr>
        <p:spPr>
          <a:xfrm>
            <a:off x="6546960" y="2578680"/>
            <a:ext cx="4717800" cy="731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4800" spc="-1" strike="noStrike">
                <a:solidFill>
                  <a:srgbClr val="ffffff"/>
                </a:solidFill>
                <a:latin typeface="Arial"/>
              </a:rPr>
              <a:t>10 ns</a:t>
            </a:r>
            <a:endParaRPr b="0" lang="en-AU" sz="4800" spc="-1" strike="noStrike">
              <a:solidFill>
                <a:srgbClr val="ffffff"/>
              </a:solidFill>
              <a:latin typeface="Arial"/>
            </a:endParaRPr>
          </a:p>
        </p:txBody>
      </p:sp>
      <p:sp>
        <p:nvSpPr>
          <p:cNvPr id="437" name="TextBox 13"/>
          <p:cNvSpPr/>
          <p:nvPr/>
        </p:nvSpPr>
        <p:spPr>
          <a:xfrm>
            <a:off x="6546960" y="3547800"/>
            <a:ext cx="4717800" cy="2898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900" spc="-1" strike="noStrike">
                <a:solidFill>
                  <a:srgbClr val="bac3da"/>
                </a:solidFill>
                <a:latin typeface="Arial"/>
              </a:rPr>
              <a:t>clock-period target</a:t>
            </a:r>
            <a:endParaRPr b="0" lang="en-AU" sz="1900" spc="-1" strike="noStrike">
              <a:solidFill>
                <a:srgbClr val="ffffff"/>
              </a:solidFill>
              <a:latin typeface="Arial"/>
            </a:endParaRPr>
          </a:p>
        </p:txBody>
      </p:sp>
      <p:sp>
        <p:nvSpPr>
          <p:cNvPr id="438" name="TextBox 14"/>
          <p:cNvSpPr/>
          <p:nvPr/>
        </p:nvSpPr>
        <p:spPr>
          <a:xfrm>
            <a:off x="6583680" y="4316040"/>
            <a:ext cx="462636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Arial"/>
              </a:rPr>
              <a:t>The design had to close timing</a:t>
            </a:r>
            <a:endParaRPr b="0" lang="en-AU" sz="1800" spc="-1" strike="noStrike">
              <a:solidFill>
                <a:srgbClr val="ffffff"/>
              </a:solidFill>
              <a:latin typeface="Arial"/>
            </a:endParaRPr>
          </a:p>
        </p:txBody>
      </p:sp>
      <p:sp>
        <p:nvSpPr>
          <p:cNvPr id="439" name="TextBox 15"/>
          <p:cNvSpPr/>
          <p:nvPr/>
        </p:nvSpPr>
        <p:spPr>
          <a:xfrm>
            <a:off x="640080" y="5715000"/>
            <a:ext cx="1092672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ffffff"/>
                </a:solidFill>
                <a:latin typeface="Arial"/>
              </a:rPr>
              <a:t>Fewer cycles were nice.  A faster clock was necessary.</a:t>
            </a:r>
            <a:endParaRPr b="0" lang="en-AU" sz="2200" spc="-1" strike="noStrike">
              <a:solidFill>
                <a:srgbClr val="ffffff"/>
              </a:solidFill>
              <a:latin typeface="Arial"/>
            </a:endParaRPr>
          </a:p>
        </p:txBody>
      </p:sp>
      <p:sp>
        <p:nvSpPr>
          <p:cNvPr id="440" name="TextBox 16"/>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441" name="TextBox 17"/>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14</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442"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443"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44"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ff7821"/>
                </a:solidFill>
                <a:latin typeface="Arial"/>
              </a:rPr>
              <a:t>AGENTIC TUNNEL VISION</a:t>
            </a:r>
            <a:endParaRPr b="0" lang="en-AU" sz="1200" spc="-1" strike="noStrike">
              <a:solidFill>
                <a:srgbClr val="ffffff"/>
              </a:solidFill>
              <a:latin typeface="Arial"/>
            </a:endParaRPr>
          </a:p>
        </p:txBody>
      </p:sp>
      <p:sp>
        <p:nvSpPr>
          <p:cNvPr id="445"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It improved everything except what mattered</a:t>
            </a:r>
            <a:endParaRPr b="0" lang="en-AU" sz="2900" spc="-1" strike="noStrike">
              <a:solidFill>
                <a:srgbClr val="ffffff"/>
              </a:solidFill>
              <a:latin typeface="Arial"/>
            </a:endParaRPr>
          </a:p>
        </p:txBody>
      </p:sp>
      <p:sp>
        <p:nvSpPr>
          <p:cNvPr id="446" name="Rounded Rectangle 5"/>
          <p:cNvSpPr/>
          <p:nvPr/>
        </p:nvSpPr>
        <p:spPr>
          <a:xfrm>
            <a:off x="658440" y="1627560"/>
            <a:ext cx="5230080" cy="3520080"/>
          </a:xfrm>
          <a:prstGeom prst="roundRect">
            <a:avLst>
              <a:gd name="adj" fmla="val 16667"/>
            </a:avLst>
          </a:prstGeom>
          <a:solidFill>
            <a:srgbClr val="121e4a"/>
          </a:solidFill>
          <a:ln w="19050">
            <a:solidFill>
              <a:srgbClr val="bac3d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47" name="TextBox 6"/>
          <p:cNvSpPr/>
          <p:nvPr/>
        </p:nvSpPr>
        <p:spPr>
          <a:xfrm>
            <a:off x="932760" y="1874520"/>
            <a:ext cx="468144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bac3da"/>
                </a:solidFill>
                <a:latin typeface="Arial"/>
              </a:rPr>
              <a:t>BEFORE</a:t>
            </a:r>
            <a:endParaRPr b="0" lang="en-AU" sz="1700" spc="-1" strike="noStrike">
              <a:solidFill>
                <a:srgbClr val="ffffff"/>
              </a:solidFill>
              <a:latin typeface="Arial"/>
            </a:endParaRPr>
          </a:p>
        </p:txBody>
      </p:sp>
      <p:sp>
        <p:nvSpPr>
          <p:cNvPr id="448" name="TextBox 7"/>
          <p:cNvSpPr/>
          <p:nvPr/>
        </p:nvSpPr>
        <p:spPr>
          <a:xfrm>
            <a:off x="1024200" y="2487240"/>
            <a:ext cx="4498560" cy="457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000" spc="-1" strike="noStrike">
                <a:solidFill>
                  <a:srgbClr val="ffffff"/>
                </a:solidFill>
                <a:latin typeface="Arial"/>
              </a:rPr>
              <a:t>114</a:t>
            </a:r>
            <a:endParaRPr b="0" lang="en-AU" sz="3000" spc="-1" strike="noStrike">
              <a:solidFill>
                <a:srgbClr val="ffffff"/>
              </a:solidFill>
              <a:latin typeface="Arial"/>
            </a:endParaRPr>
          </a:p>
        </p:txBody>
      </p:sp>
      <p:sp>
        <p:nvSpPr>
          <p:cNvPr id="449" name="TextBox 8"/>
          <p:cNvSpPr/>
          <p:nvPr/>
        </p:nvSpPr>
        <p:spPr>
          <a:xfrm>
            <a:off x="1024200" y="3072240"/>
            <a:ext cx="449856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cycles</a:t>
            </a:r>
            <a:endParaRPr b="0" lang="en-AU" sz="1300" spc="-1" strike="noStrike">
              <a:solidFill>
                <a:srgbClr val="ffffff"/>
              </a:solidFill>
              <a:latin typeface="Arial"/>
            </a:endParaRPr>
          </a:p>
        </p:txBody>
      </p:sp>
      <p:sp>
        <p:nvSpPr>
          <p:cNvPr id="450" name="TextBox 9"/>
          <p:cNvSpPr/>
          <p:nvPr/>
        </p:nvSpPr>
        <p:spPr>
          <a:xfrm>
            <a:off x="1024200" y="3712320"/>
            <a:ext cx="4498560" cy="457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000" spc="-1" strike="noStrike">
                <a:solidFill>
                  <a:srgbClr val="ffffff"/>
                </a:solidFill>
                <a:latin typeface="Arial"/>
              </a:rPr>
              <a:t>13.301 ns</a:t>
            </a:r>
            <a:endParaRPr b="0" lang="en-AU" sz="3000" spc="-1" strike="noStrike">
              <a:solidFill>
                <a:srgbClr val="ffffff"/>
              </a:solidFill>
              <a:latin typeface="Arial"/>
            </a:endParaRPr>
          </a:p>
        </p:txBody>
      </p:sp>
      <p:sp>
        <p:nvSpPr>
          <p:cNvPr id="451" name="TextBox 10"/>
          <p:cNvSpPr/>
          <p:nvPr/>
        </p:nvSpPr>
        <p:spPr>
          <a:xfrm>
            <a:off x="1024200" y="4297680"/>
            <a:ext cx="449856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clock estimate</a:t>
            </a:r>
            <a:endParaRPr b="0" lang="en-AU" sz="1300" spc="-1" strike="noStrike">
              <a:solidFill>
                <a:srgbClr val="ffffff"/>
              </a:solidFill>
              <a:latin typeface="Arial"/>
            </a:endParaRPr>
          </a:p>
        </p:txBody>
      </p:sp>
      <p:sp>
        <p:nvSpPr>
          <p:cNvPr id="452" name="Rounded Rectangle 11"/>
          <p:cNvSpPr/>
          <p:nvPr/>
        </p:nvSpPr>
        <p:spPr>
          <a:xfrm>
            <a:off x="6309360" y="1627560"/>
            <a:ext cx="5230080" cy="352008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3" name="TextBox 12"/>
          <p:cNvSpPr/>
          <p:nvPr/>
        </p:nvSpPr>
        <p:spPr>
          <a:xfrm>
            <a:off x="6583680" y="1874520"/>
            <a:ext cx="468144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ff7821"/>
                </a:solidFill>
                <a:latin typeface="Arial"/>
              </a:rPr>
              <a:t>EARLY AGENTIC PASS</a:t>
            </a:r>
            <a:endParaRPr b="0" lang="en-AU" sz="1700" spc="-1" strike="noStrike">
              <a:solidFill>
                <a:srgbClr val="ffffff"/>
              </a:solidFill>
              <a:latin typeface="Arial"/>
            </a:endParaRPr>
          </a:p>
        </p:txBody>
      </p:sp>
      <p:sp>
        <p:nvSpPr>
          <p:cNvPr id="454" name="TextBox 13"/>
          <p:cNvSpPr/>
          <p:nvPr/>
        </p:nvSpPr>
        <p:spPr>
          <a:xfrm>
            <a:off x="6675120" y="2487240"/>
            <a:ext cx="4498560" cy="457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000" spc="-1" strike="noStrike">
                <a:solidFill>
                  <a:srgbClr val="ffffff"/>
                </a:solidFill>
                <a:latin typeface="Arial"/>
              </a:rPr>
              <a:t>111</a:t>
            </a:r>
            <a:endParaRPr b="0" lang="en-AU" sz="3000" spc="-1" strike="noStrike">
              <a:solidFill>
                <a:srgbClr val="ffffff"/>
              </a:solidFill>
              <a:latin typeface="Arial"/>
            </a:endParaRPr>
          </a:p>
        </p:txBody>
      </p:sp>
      <p:sp>
        <p:nvSpPr>
          <p:cNvPr id="455" name="TextBox 14"/>
          <p:cNvSpPr/>
          <p:nvPr/>
        </p:nvSpPr>
        <p:spPr>
          <a:xfrm>
            <a:off x="6675120" y="3072240"/>
            <a:ext cx="449856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cycles</a:t>
            </a:r>
            <a:endParaRPr b="0" lang="en-AU" sz="1300" spc="-1" strike="noStrike">
              <a:solidFill>
                <a:srgbClr val="ffffff"/>
              </a:solidFill>
              <a:latin typeface="Arial"/>
            </a:endParaRPr>
          </a:p>
        </p:txBody>
      </p:sp>
      <p:sp>
        <p:nvSpPr>
          <p:cNvPr id="456" name="TextBox 15"/>
          <p:cNvSpPr/>
          <p:nvPr/>
        </p:nvSpPr>
        <p:spPr>
          <a:xfrm>
            <a:off x="6675120" y="3712320"/>
            <a:ext cx="4498560" cy="457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000" spc="-1" strike="noStrike">
                <a:solidFill>
                  <a:srgbClr val="ffffff"/>
                </a:solidFill>
                <a:latin typeface="Arial"/>
              </a:rPr>
              <a:t>13.301 ns</a:t>
            </a:r>
            <a:endParaRPr b="0" lang="en-AU" sz="3000" spc="-1" strike="noStrike">
              <a:solidFill>
                <a:srgbClr val="ffffff"/>
              </a:solidFill>
              <a:latin typeface="Arial"/>
            </a:endParaRPr>
          </a:p>
        </p:txBody>
      </p:sp>
      <p:sp>
        <p:nvSpPr>
          <p:cNvPr id="457" name="TextBox 16"/>
          <p:cNvSpPr/>
          <p:nvPr/>
        </p:nvSpPr>
        <p:spPr>
          <a:xfrm>
            <a:off x="6675120" y="4297680"/>
            <a:ext cx="449856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clock estimate</a:t>
            </a:r>
            <a:endParaRPr b="0" lang="en-AU" sz="1300" spc="-1" strike="noStrike">
              <a:solidFill>
                <a:srgbClr val="ffffff"/>
              </a:solidFill>
              <a:latin typeface="Arial"/>
            </a:endParaRPr>
          </a:p>
        </p:txBody>
      </p:sp>
      <p:sp>
        <p:nvSpPr>
          <p:cNvPr id="458" name="Rounded Rectangle 17"/>
          <p:cNvSpPr/>
          <p:nvPr/>
        </p:nvSpPr>
        <p:spPr>
          <a:xfrm>
            <a:off x="7571160" y="4663440"/>
            <a:ext cx="3428640" cy="566640"/>
          </a:xfrm>
          <a:prstGeom prst="roundRect">
            <a:avLst>
              <a:gd name="adj" fmla="val 16667"/>
            </a:avLst>
          </a:prstGeom>
          <a:solidFill>
            <a:srgbClr val="2f230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9" name="TextBox 18"/>
          <p:cNvSpPr/>
          <p:nvPr/>
        </p:nvSpPr>
        <p:spPr>
          <a:xfrm>
            <a:off x="7726680" y="4800600"/>
            <a:ext cx="310860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ffffff"/>
                </a:solidFill>
                <a:latin typeface="Arial"/>
              </a:rPr>
              <a:t>1,588 LUTs saved</a:t>
            </a:r>
            <a:endParaRPr b="0" lang="en-AU" sz="1500" spc="-1" strike="noStrike">
              <a:solidFill>
                <a:srgbClr val="ffffff"/>
              </a:solidFill>
              <a:latin typeface="Arial"/>
            </a:endParaRPr>
          </a:p>
        </p:txBody>
      </p:sp>
      <p:sp>
        <p:nvSpPr>
          <p:cNvPr id="460" name="TextBox 19"/>
          <p:cNvSpPr/>
          <p:nvPr/>
        </p:nvSpPr>
        <p:spPr>
          <a:xfrm>
            <a:off x="658440" y="5596200"/>
            <a:ext cx="1086264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e91880"/>
                </a:solidFill>
                <a:latin typeface="Arial"/>
              </a:rPr>
              <a:t>A better design on paper.  Still 3.301 ns away from acceptance.</a:t>
            </a:r>
            <a:endParaRPr b="0" lang="en-AU" sz="2200" spc="-1" strike="noStrike">
              <a:solidFill>
                <a:srgbClr val="ffffff"/>
              </a:solidFill>
              <a:latin typeface="Arial"/>
            </a:endParaRPr>
          </a:p>
        </p:txBody>
      </p:sp>
      <p:sp>
        <p:nvSpPr>
          <p:cNvPr id="461" name="TextBox 20"/>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462" name="TextBox 21"/>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15</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463"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464"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5"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4ade80"/>
                </a:solidFill>
                <a:latin typeface="Arial"/>
              </a:rPr>
              <a:t>CORRECT THE TRAJECTORY</a:t>
            </a:r>
            <a:endParaRPr b="0" lang="en-AU" sz="1200" spc="-1" strike="noStrike">
              <a:solidFill>
                <a:srgbClr val="ffffff"/>
              </a:solidFill>
              <a:latin typeface="Arial"/>
            </a:endParaRPr>
          </a:p>
        </p:txBody>
      </p:sp>
      <p:sp>
        <p:nvSpPr>
          <p:cNvPr id="466"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The right trade-off closed timing</a:t>
            </a:r>
            <a:endParaRPr b="0" lang="en-AU" sz="3100" spc="-1" strike="noStrike">
              <a:solidFill>
                <a:srgbClr val="ffffff"/>
              </a:solidFill>
              <a:latin typeface="Arial"/>
            </a:endParaRPr>
          </a:p>
        </p:txBody>
      </p:sp>
      <p:sp>
        <p:nvSpPr>
          <p:cNvPr id="467" name="Rounded Rectangle 5"/>
          <p:cNvSpPr/>
          <p:nvPr/>
        </p:nvSpPr>
        <p:spPr>
          <a:xfrm>
            <a:off x="658440" y="1609200"/>
            <a:ext cx="3657240" cy="361152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8" name="TextBox 6"/>
          <p:cNvSpPr/>
          <p:nvPr/>
        </p:nvSpPr>
        <p:spPr>
          <a:xfrm>
            <a:off x="932760" y="1856160"/>
            <a:ext cx="310860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HUMAN DIRECTION</a:t>
            </a:r>
            <a:endParaRPr b="0" lang="en-AU" sz="1600" spc="-1" strike="noStrike">
              <a:solidFill>
                <a:srgbClr val="ffffff"/>
              </a:solidFill>
              <a:latin typeface="Arial"/>
            </a:endParaRPr>
          </a:p>
        </p:txBody>
      </p:sp>
      <p:sp>
        <p:nvSpPr>
          <p:cNvPr id="469" name="TextBox 7"/>
          <p:cNvSpPr/>
          <p:nvPr/>
        </p:nvSpPr>
        <p:spPr>
          <a:xfrm>
            <a:off x="987480" y="2593440"/>
            <a:ext cx="2998800" cy="13413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2200" spc="-1" strike="noStrike">
                <a:solidFill>
                  <a:srgbClr val="ffffff"/>
                </a:solidFill>
                <a:latin typeface="Arial"/>
              </a:rPr>
              <a:t>STOP OPTIMIZING</a:t>
            </a:r>
            <a:endParaRPr b="0" lang="en-AU" sz="2200" spc="-1" strike="noStrike">
              <a:solidFill>
                <a:srgbClr val="ffffff"/>
              </a:solidFill>
              <a:latin typeface="Arial"/>
            </a:endParaRPr>
          </a:p>
          <a:p>
            <a:pPr algn="ctr" defTabSz="457200">
              <a:lnSpc>
                <a:spcPct val="100000"/>
              </a:lnSpc>
            </a:pPr>
            <a:r>
              <a:rPr b="1" lang="en-US" sz="2200" spc="-1" strike="noStrike">
                <a:solidFill>
                  <a:srgbClr val="ffffff"/>
                </a:solidFill>
                <a:latin typeface="Arial"/>
              </a:rPr>
              <a:t>LATENCY</a:t>
            </a:r>
            <a:endParaRPr b="0" lang="en-AU" sz="2200" spc="-1" strike="noStrike">
              <a:solidFill>
                <a:srgbClr val="ffffff"/>
              </a:solidFill>
              <a:latin typeface="Arial"/>
            </a:endParaRPr>
          </a:p>
          <a:p>
            <a:pPr algn="ctr" defTabSz="457200">
              <a:lnSpc>
                <a:spcPct val="100000"/>
              </a:lnSpc>
            </a:pPr>
            <a:endParaRPr b="0" lang="en-AU" sz="2200" spc="-1" strike="noStrike">
              <a:solidFill>
                <a:srgbClr val="ffffff"/>
              </a:solidFill>
              <a:latin typeface="Arial"/>
            </a:endParaRPr>
          </a:p>
          <a:p>
            <a:pPr algn="ctr" defTabSz="457200">
              <a:lnSpc>
                <a:spcPct val="100000"/>
              </a:lnSpc>
            </a:pPr>
            <a:r>
              <a:rPr b="1" lang="en-US" sz="2200" spc="-1" strike="noStrike">
                <a:solidFill>
                  <a:srgbClr val="ffffff"/>
                </a:solidFill>
                <a:latin typeface="Arial"/>
              </a:rPr>
              <a:t>OPTIMIZE FOR Fmax</a:t>
            </a:r>
            <a:endParaRPr b="0" lang="en-AU" sz="2200" spc="-1" strike="noStrike">
              <a:solidFill>
                <a:srgbClr val="ffffff"/>
              </a:solidFill>
              <a:latin typeface="Arial"/>
            </a:endParaRPr>
          </a:p>
        </p:txBody>
      </p:sp>
      <p:sp>
        <p:nvSpPr>
          <p:cNvPr id="470" name="TextBox 8"/>
          <p:cNvSpPr/>
          <p:nvPr/>
        </p:nvSpPr>
        <p:spPr>
          <a:xfrm>
            <a:off x="951120" y="4407480"/>
            <a:ext cx="307188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bac3da"/>
                </a:solidFill>
                <a:latin typeface="Arial"/>
              </a:rPr>
              <a:t>Use the cycle budget</a:t>
            </a:r>
            <a:endParaRPr b="0" lang="en-AU" sz="1500" spc="-1" strike="noStrike">
              <a:solidFill>
                <a:srgbClr val="ffffff"/>
              </a:solidFill>
              <a:latin typeface="Arial"/>
            </a:endParaRPr>
          </a:p>
        </p:txBody>
      </p:sp>
      <p:cxnSp>
        <p:nvCxnSpPr>
          <p:cNvPr id="471" name="Connector 9"/>
          <p:cNvCxnSpPr/>
          <p:nvPr/>
        </p:nvCxnSpPr>
        <p:spPr>
          <a:xfrm>
            <a:off x="4315680" y="3401280"/>
            <a:ext cx="439560" cy="360"/>
          </a:xfrm>
          <a:prstGeom prst="straightConnector1">
            <a:avLst/>
          </a:prstGeom>
          <a:ln>
            <a:solidFill>
              <a:srgbClr val="ffffff"/>
            </a:solidFill>
            <a:round/>
          </a:ln>
        </p:spPr>
      </p:cxnSp>
      <p:sp>
        <p:nvSpPr>
          <p:cNvPr id="472" name="Rounded Rectangle 10"/>
          <p:cNvSpPr/>
          <p:nvPr/>
        </p:nvSpPr>
        <p:spPr>
          <a:xfrm>
            <a:off x="4754880" y="1609200"/>
            <a:ext cx="2925720" cy="361152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3" name="TextBox 11"/>
          <p:cNvSpPr/>
          <p:nvPr/>
        </p:nvSpPr>
        <p:spPr>
          <a:xfrm>
            <a:off x="4983480" y="1856160"/>
            <a:ext cx="246852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18d5f3"/>
                </a:solidFill>
                <a:latin typeface="Arial"/>
              </a:rPr>
              <a:t>AMD HLS FLOW</a:t>
            </a:r>
            <a:endParaRPr b="0" lang="en-AU" sz="1600" spc="-1" strike="noStrike">
              <a:solidFill>
                <a:srgbClr val="ffffff"/>
              </a:solidFill>
              <a:latin typeface="Arial"/>
            </a:endParaRPr>
          </a:p>
        </p:txBody>
      </p:sp>
      <p:sp>
        <p:nvSpPr>
          <p:cNvPr id="474" name="Rounded Rectangle 12"/>
          <p:cNvSpPr/>
          <p:nvPr/>
        </p:nvSpPr>
        <p:spPr>
          <a:xfrm>
            <a:off x="5102280" y="2487240"/>
            <a:ext cx="2230920" cy="52992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5" name="TextBox 13"/>
          <p:cNvSpPr/>
          <p:nvPr/>
        </p:nvSpPr>
        <p:spPr>
          <a:xfrm>
            <a:off x="5230440" y="2615040"/>
            <a:ext cx="19746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Arial"/>
              </a:rPr>
              <a:t>4 partial sums</a:t>
            </a:r>
            <a:endParaRPr b="0" lang="en-AU" sz="1200" spc="-1" strike="noStrike">
              <a:solidFill>
                <a:srgbClr val="ffffff"/>
              </a:solidFill>
              <a:latin typeface="Arial"/>
            </a:endParaRPr>
          </a:p>
        </p:txBody>
      </p:sp>
      <p:sp>
        <p:nvSpPr>
          <p:cNvPr id="476" name="Rounded Rectangle 14"/>
          <p:cNvSpPr/>
          <p:nvPr/>
        </p:nvSpPr>
        <p:spPr>
          <a:xfrm>
            <a:off x="5102280" y="3246120"/>
            <a:ext cx="2230920" cy="52992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7" name="TextBox 15"/>
          <p:cNvSpPr/>
          <p:nvPr/>
        </p:nvSpPr>
        <p:spPr>
          <a:xfrm>
            <a:off x="5230440" y="3374280"/>
            <a:ext cx="19746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Arial"/>
              </a:rPr>
              <a:t>2-level combine</a:t>
            </a:r>
            <a:endParaRPr b="0" lang="en-AU" sz="1200" spc="-1" strike="noStrike">
              <a:solidFill>
                <a:srgbClr val="ffffff"/>
              </a:solidFill>
              <a:latin typeface="Arial"/>
            </a:endParaRPr>
          </a:p>
        </p:txBody>
      </p:sp>
      <p:sp>
        <p:nvSpPr>
          <p:cNvPr id="478" name="Rounded Rectangle 16"/>
          <p:cNvSpPr/>
          <p:nvPr/>
        </p:nvSpPr>
        <p:spPr>
          <a:xfrm>
            <a:off x="5102280" y="4005000"/>
            <a:ext cx="2230920" cy="529920"/>
          </a:xfrm>
          <a:prstGeom prst="roundRect">
            <a:avLst>
              <a:gd name="adj" fmla="val 16667"/>
            </a:avLst>
          </a:prstGeom>
          <a:solidFill>
            <a:srgbClr val="05091c"/>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9" name="TextBox 17"/>
          <p:cNvSpPr/>
          <p:nvPr/>
        </p:nvSpPr>
        <p:spPr>
          <a:xfrm>
            <a:off x="5230440" y="4133160"/>
            <a:ext cx="19746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Arial"/>
              </a:rPr>
              <a:t>Vitis HLS evidence</a:t>
            </a:r>
            <a:endParaRPr b="0" lang="en-AU" sz="1200" spc="-1" strike="noStrike">
              <a:solidFill>
                <a:srgbClr val="ffffff"/>
              </a:solidFill>
              <a:latin typeface="Arial"/>
            </a:endParaRPr>
          </a:p>
        </p:txBody>
      </p:sp>
      <p:cxnSp>
        <p:nvCxnSpPr>
          <p:cNvPr id="480" name="Connector 18"/>
          <p:cNvCxnSpPr/>
          <p:nvPr/>
        </p:nvCxnSpPr>
        <p:spPr>
          <a:xfrm>
            <a:off x="7680960" y="3401280"/>
            <a:ext cx="439200" cy="360"/>
          </a:xfrm>
          <a:prstGeom prst="straightConnector1">
            <a:avLst/>
          </a:prstGeom>
          <a:ln>
            <a:solidFill>
              <a:srgbClr val="ffffff"/>
            </a:solidFill>
            <a:round/>
          </a:ln>
        </p:spPr>
      </p:cxnSp>
      <p:sp>
        <p:nvSpPr>
          <p:cNvPr id="481" name="Rounded Rectangle 19"/>
          <p:cNvSpPr/>
          <p:nvPr/>
        </p:nvSpPr>
        <p:spPr>
          <a:xfrm>
            <a:off x="8119800" y="1609200"/>
            <a:ext cx="3401280" cy="361152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2" name="TextBox 20"/>
          <p:cNvSpPr/>
          <p:nvPr/>
        </p:nvSpPr>
        <p:spPr>
          <a:xfrm>
            <a:off x="8394120" y="1856160"/>
            <a:ext cx="28526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4ade80"/>
                </a:solidFill>
                <a:latin typeface="Arial"/>
              </a:rPr>
              <a:t>MEASURED RESULT</a:t>
            </a:r>
            <a:endParaRPr b="0" lang="en-AU" sz="1600" spc="-1" strike="noStrike">
              <a:solidFill>
                <a:srgbClr val="ffffff"/>
              </a:solidFill>
              <a:latin typeface="Arial"/>
            </a:endParaRPr>
          </a:p>
        </p:txBody>
      </p:sp>
      <p:sp>
        <p:nvSpPr>
          <p:cNvPr id="483" name="TextBox 21"/>
          <p:cNvSpPr/>
          <p:nvPr/>
        </p:nvSpPr>
        <p:spPr>
          <a:xfrm>
            <a:off x="8394120" y="2487240"/>
            <a:ext cx="2852640" cy="518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400" spc="-1" strike="noStrike">
                <a:solidFill>
                  <a:srgbClr val="ffffff"/>
                </a:solidFill>
                <a:latin typeface="Arial"/>
              </a:rPr>
              <a:t>7.230 ns</a:t>
            </a:r>
            <a:endParaRPr b="0" lang="en-AU" sz="3400" spc="-1" strike="noStrike">
              <a:solidFill>
                <a:srgbClr val="ffffff"/>
              </a:solidFill>
              <a:latin typeface="Arial"/>
            </a:endParaRPr>
          </a:p>
        </p:txBody>
      </p:sp>
      <p:sp>
        <p:nvSpPr>
          <p:cNvPr id="484" name="TextBox 22"/>
          <p:cNvSpPr/>
          <p:nvPr/>
        </p:nvSpPr>
        <p:spPr>
          <a:xfrm>
            <a:off x="8394120" y="3127320"/>
            <a:ext cx="28526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clock estimate</a:t>
            </a:r>
            <a:endParaRPr b="0" lang="en-AU" sz="1300" spc="-1" strike="noStrike">
              <a:solidFill>
                <a:srgbClr val="ffffff"/>
              </a:solidFill>
              <a:latin typeface="Arial"/>
            </a:endParaRPr>
          </a:p>
        </p:txBody>
      </p:sp>
      <p:sp>
        <p:nvSpPr>
          <p:cNvPr id="485" name="TextBox 23"/>
          <p:cNvSpPr/>
          <p:nvPr/>
        </p:nvSpPr>
        <p:spPr>
          <a:xfrm>
            <a:off x="8394120" y="3749040"/>
            <a:ext cx="2852640" cy="3963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600" spc="-1" strike="noStrike">
                <a:solidFill>
                  <a:srgbClr val="ffffff"/>
                </a:solidFill>
                <a:latin typeface="Arial"/>
              </a:rPr>
              <a:t>136 cycles</a:t>
            </a:r>
            <a:endParaRPr b="0" lang="en-AU" sz="2600" spc="-1" strike="noStrike">
              <a:solidFill>
                <a:srgbClr val="ffffff"/>
              </a:solidFill>
              <a:latin typeface="Arial"/>
            </a:endParaRPr>
          </a:p>
        </p:txBody>
      </p:sp>
      <p:sp>
        <p:nvSpPr>
          <p:cNvPr id="486" name="TextBox 24"/>
          <p:cNvSpPr/>
          <p:nvPr/>
        </p:nvSpPr>
        <p:spPr>
          <a:xfrm>
            <a:off x="8394120" y="4297680"/>
            <a:ext cx="285264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bac3da"/>
                </a:solidFill>
                <a:latin typeface="Arial"/>
              </a:rPr>
              <a:t>more latency — on purpose</a:t>
            </a:r>
            <a:endParaRPr b="0" lang="en-AU" sz="1300" spc="-1" strike="noStrike">
              <a:solidFill>
                <a:srgbClr val="ffffff"/>
              </a:solidFill>
              <a:latin typeface="Arial"/>
            </a:endParaRPr>
          </a:p>
        </p:txBody>
      </p:sp>
      <p:sp>
        <p:nvSpPr>
          <p:cNvPr id="487" name="TextBox 25"/>
          <p:cNvSpPr/>
          <p:nvPr/>
        </p:nvSpPr>
        <p:spPr>
          <a:xfrm>
            <a:off x="658440" y="5632560"/>
            <a:ext cx="1086264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ffffff"/>
                </a:solidFill>
                <a:latin typeface="Arial"/>
              </a:rPr>
              <a:t>The engineer defines ‘better’.  The tools provide evidence.</a:t>
            </a:r>
            <a:endParaRPr b="0" lang="en-AU" sz="2200" spc="-1" strike="noStrike">
              <a:solidFill>
                <a:srgbClr val="ffffff"/>
              </a:solidFill>
              <a:latin typeface="Arial"/>
            </a:endParaRPr>
          </a:p>
        </p:txBody>
      </p:sp>
      <p:sp>
        <p:nvSpPr>
          <p:cNvPr id="488" name="TextBox 26"/>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489" name="TextBox 27"/>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16</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490"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491"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2"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4ade80"/>
                </a:solidFill>
                <a:latin typeface="Arial"/>
              </a:rPr>
              <a:t>HARDWARE IN THE LOOP</a:t>
            </a:r>
            <a:endParaRPr b="0" lang="en-AU" sz="1200" spc="-1" strike="noStrike">
              <a:solidFill>
                <a:srgbClr val="ffffff"/>
              </a:solidFill>
              <a:latin typeface="Arial"/>
            </a:endParaRPr>
          </a:p>
        </p:txBody>
      </p:sp>
      <p:sp>
        <p:nvSpPr>
          <p:cNvPr id="493"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The real KV260 had the final vote</a:t>
            </a:r>
            <a:endParaRPr b="0" lang="en-AU" sz="3100" spc="-1" strike="noStrike">
              <a:solidFill>
                <a:srgbClr val="ffffff"/>
              </a:solidFill>
              <a:latin typeface="Arial"/>
            </a:endParaRPr>
          </a:p>
        </p:txBody>
      </p:sp>
      <p:sp>
        <p:nvSpPr>
          <p:cNvPr id="494" name="Rounded Rectangle 5"/>
          <p:cNvSpPr/>
          <p:nvPr/>
        </p:nvSpPr>
        <p:spPr>
          <a:xfrm>
            <a:off x="567000" y="1664280"/>
            <a:ext cx="2541600" cy="3565800"/>
          </a:xfrm>
          <a:prstGeom prst="roundRect">
            <a:avLst>
              <a:gd name="adj" fmla="val 16667"/>
            </a:avLst>
          </a:prstGeom>
          <a:solidFill>
            <a:srgbClr val="121e4a"/>
          </a:solidFill>
          <a:ln w="19050">
            <a:solidFill>
              <a:srgbClr val="18d5f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5" name="TextBox 6"/>
          <p:cNvSpPr/>
          <p:nvPr/>
        </p:nvSpPr>
        <p:spPr>
          <a:xfrm>
            <a:off x="749880" y="197496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18d5f3"/>
                </a:solidFill>
                <a:latin typeface="Arial"/>
              </a:rPr>
              <a:t>CONTROL PLANE</a:t>
            </a:r>
            <a:endParaRPr b="0" lang="en-AU" sz="1500" spc="-1" strike="noStrike">
              <a:solidFill>
                <a:srgbClr val="ffffff"/>
              </a:solidFill>
              <a:latin typeface="Arial"/>
            </a:endParaRPr>
          </a:p>
        </p:txBody>
      </p:sp>
      <p:sp>
        <p:nvSpPr>
          <p:cNvPr id="496" name="TextBox 7"/>
          <p:cNvSpPr/>
          <p:nvPr/>
        </p:nvSpPr>
        <p:spPr>
          <a:xfrm>
            <a:off x="841320" y="3080880"/>
            <a:ext cx="1992960" cy="7783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ffffff"/>
                </a:solidFill>
                <a:latin typeface="Arial"/>
              </a:rPr>
              <a:t>Identity + ABI</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clock lock</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coherent updates</a:t>
            </a:r>
            <a:endParaRPr b="0" lang="en-AU" sz="1700" spc="-1" strike="noStrike">
              <a:solidFill>
                <a:srgbClr val="ffffff"/>
              </a:solidFill>
              <a:latin typeface="Arial"/>
            </a:endParaRPr>
          </a:p>
        </p:txBody>
      </p:sp>
      <p:cxnSp>
        <p:nvCxnSpPr>
          <p:cNvPr id="497" name="Connector 8"/>
          <p:cNvCxnSpPr/>
          <p:nvPr/>
        </p:nvCxnSpPr>
        <p:spPr>
          <a:xfrm>
            <a:off x="3108960" y="3492720"/>
            <a:ext cx="366120" cy="360"/>
          </a:xfrm>
          <a:prstGeom prst="straightConnector1">
            <a:avLst/>
          </a:prstGeom>
          <a:ln>
            <a:solidFill>
              <a:srgbClr val="ffffff"/>
            </a:solidFill>
            <a:round/>
          </a:ln>
        </p:spPr>
      </p:cxnSp>
      <p:sp>
        <p:nvSpPr>
          <p:cNvPr id="498" name="Rounded Rectangle 9"/>
          <p:cNvSpPr/>
          <p:nvPr/>
        </p:nvSpPr>
        <p:spPr>
          <a:xfrm>
            <a:off x="3474720" y="1664280"/>
            <a:ext cx="2541600" cy="356580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9" name="TextBox 10"/>
          <p:cNvSpPr/>
          <p:nvPr/>
        </p:nvSpPr>
        <p:spPr>
          <a:xfrm>
            <a:off x="3657600" y="197496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ff7821"/>
                </a:solidFill>
                <a:latin typeface="Arial"/>
              </a:rPr>
              <a:t>AUDIO PATH</a:t>
            </a:r>
            <a:endParaRPr b="0" lang="en-AU" sz="1500" spc="-1" strike="noStrike">
              <a:solidFill>
                <a:srgbClr val="ffffff"/>
              </a:solidFill>
              <a:latin typeface="Arial"/>
            </a:endParaRPr>
          </a:p>
        </p:txBody>
      </p:sp>
      <p:sp>
        <p:nvSpPr>
          <p:cNvPr id="500" name="TextBox 11"/>
          <p:cNvSpPr/>
          <p:nvPr/>
        </p:nvSpPr>
        <p:spPr>
          <a:xfrm>
            <a:off x="3749040" y="3080880"/>
            <a:ext cx="1992960" cy="7783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ffffff"/>
                </a:solidFill>
                <a:latin typeface="Arial"/>
              </a:rPr>
              <a:t>Diagnostic tone</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HLS A4 voice</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physical I2S output</a:t>
            </a:r>
            <a:endParaRPr b="0" lang="en-AU" sz="1700" spc="-1" strike="noStrike">
              <a:solidFill>
                <a:srgbClr val="ffffff"/>
              </a:solidFill>
              <a:latin typeface="Arial"/>
            </a:endParaRPr>
          </a:p>
        </p:txBody>
      </p:sp>
      <p:cxnSp>
        <p:nvCxnSpPr>
          <p:cNvPr id="501" name="Connector 12"/>
          <p:cNvCxnSpPr/>
          <p:nvPr/>
        </p:nvCxnSpPr>
        <p:spPr>
          <a:xfrm>
            <a:off x="6016680" y="3492720"/>
            <a:ext cx="366120" cy="360"/>
          </a:xfrm>
          <a:prstGeom prst="straightConnector1">
            <a:avLst/>
          </a:prstGeom>
          <a:ln>
            <a:solidFill>
              <a:srgbClr val="ffffff"/>
            </a:solidFill>
            <a:round/>
          </a:ln>
        </p:spPr>
      </p:cxnSp>
      <p:sp>
        <p:nvSpPr>
          <p:cNvPr id="502" name="Rounded Rectangle 13"/>
          <p:cNvSpPr/>
          <p:nvPr/>
        </p:nvSpPr>
        <p:spPr>
          <a:xfrm>
            <a:off x="6382440" y="1664280"/>
            <a:ext cx="2541600" cy="356580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3" name="TextBox 14"/>
          <p:cNvSpPr/>
          <p:nvPr/>
        </p:nvSpPr>
        <p:spPr>
          <a:xfrm>
            <a:off x="6565320" y="197496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e91880"/>
                </a:solidFill>
                <a:latin typeface="Arial"/>
              </a:rPr>
              <a:t>LIVE MIDI</a:t>
            </a:r>
            <a:endParaRPr b="0" lang="en-AU" sz="1500" spc="-1" strike="noStrike">
              <a:solidFill>
                <a:srgbClr val="ffffff"/>
              </a:solidFill>
              <a:latin typeface="Arial"/>
            </a:endParaRPr>
          </a:p>
        </p:txBody>
      </p:sp>
      <p:sp>
        <p:nvSpPr>
          <p:cNvPr id="504" name="TextBox 15"/>
          <p:cNvSpPr/>
          <p:nvPr/>
        </p:nvSpPr>
        <p:spPr>
          <a:xfrm>
            <a:off x="6656760" y="3080880"/>
            <a:ext cx="1992960" cy="7783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ffffff"/>
                </a:solidFill>
                <a:latin typeface="Arial"/>
              </a:rPr>
              <a:t>Notes + velocity</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four controls</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releases</a:t>
            </a:r>
            <a:endParaRPr b="0" lang="en-AU" sz="1700" spc="-1" strike="noStrike">
              <a:solidFill>
                <a:srgbClr val="ffffff"/>
              </a:solidFill>
              <a:latin typeface="Arial"/>
            </a:endParaRPr>
          </a:p>
        </p:txBody>
      </p:sp>
      <p:cxnSp>
        <p:nvCxnSpPr>
          <p:cNvPr id="505" name="Connector 16"/>
          <p:cNvCxnSpPr/>
          <p:nvPr/>
        </p:nvCxnSpPr>
        <p:spPr>
          <a:xfrm>
            <a:off x="8924400" y="3492720"/>
            <a:ext cx="366120" cy="360"/>
          </a:xfrm>
          <a:prstGeom prst="straightConnector1">
            <a:avLst/>
          </a:prstGeom>
          <a:ln>
            <a:solidFill>
              <a:srgbClr val="ffffff"/>
            </a:solidFill>
            <a:round/>
          </a:ln>
        </p:spPr>
      </p:cxnSp>
      <p:sp>
        <p:nvSpPr>
          <p:cNvPr id="506" name="Rounded Rectangle 17"/>
          <p:cNvSpPr/>
          <p:nvPr/>
        </p:nvSpPr>
        <p:spPr>
          <a:xfrm>
            <a:off x="9290160" y="1664280"/>
            <a:ext cx="2541600" cy="3565800"/>
          </a:xfrm>
          <a:prstGeom prst="roundRect">
            <a:avLst>
              <a:gd name="adj" fmla="val 16667"/>
            </a:avLst>
          </a:prstGeom>
          <a:solidFill>
            <a:srgbClr val="121e4a"/>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7" name="TextBox 18"/>
          <p:cNvSpPr/>
          <p:nvPr/>
        </p:nvSpPr>
        <p:spPr>
          <a:xfrm>
            <a:off x="9473040" y="1974960"/>
            <a:ext cx="2175840" cy="2289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500" spc="-1" strike="noStrike">
                <a:solidFill>
                  <a:srgbClr val="4ade80"/>
                </a:solidFill>
                <a:latin typeface="Arial"/>
              </a:rPr>
              <a:t>ACCEPTANCE</a:t>
            </a:r>
            <a:endParaRPr b="0" lang="en-AU" sz="1500" spc="-1" strike="noStrike">
              <a:solidFill>
                <a:srgbClr val="ffffff"/>
              </a:solidFill>
              <a:latin typeface="Arial"/>
            </a:endParaRPr>
          </a:p>
        </p:txBody>
      </p:sp>
      <p:sp>
        <p:nvSpPr>
          <p:cNvPr id="508" name="TextBox 19"/>
          <p:cNvSpPr/>
          <p:nvPr/>
        </p:nvSpPr>
        <p:spPr>
          <a:xfrm>
            <a:off x="9564480" y="3080880"/>
            <a:ext cx="1992960" cy="7783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ffffff"/>
                </a:solidFill>
                <a:latin typeface="Arial"/>
              </a:rPr>
              <a:t>10-note chord</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matched readback</a:t>
            </a:r>
            <a:endParaRPr b="0" lang="en-AU" sz="1700" spc="-1" strike="noStrike">
              <a:solidFill>
                <a:srgbClr val="ffffff"/>
              </a:solidFill>
              <a:latin typeface="Arial"/>
            </a:endParaRPr>
          </a:p>
          <a:p>
            <a:pPr algn="ctr" defTabSz="457200">
              <a:lnSpc>
                <a:spcPct val="100000"/>
              </a:lnSpc>
            </a:pPr>
            <a:r>
              <a:rPr b="1" lang="en-US" sz="1700" spc="-1" strike="noStrike">
                <a:solidFill>
                  <a:srgbClr val="ffffff"/>
                </a:solidFill>
                <a:latin typeface="Arial"/>
              </a:rPr>
              <a:t>zero overruns</a:t>
            </a:r>
            <a:endParaRPr b="0" lang="en-AU" sz="1700" spc="-1" strike="noStrike">
              <a:solidFill>
                <a:srgbClr val="ffffff"/>
              </a:solidFill>
              <a:latin typeface="Arial"/>
            </a:endParaRPr>
          </a:p>
        </p:txBody>
      </p:sp>
      <p:sp>
        <p:nvSpPr>
          <p:cNvPr id="509" name="TextBox 20"/>
          <p:cNvSpPr/>
          <p:nvPr/>
        </p:nvSpPr>
        <p:spPr>
          <a:xfrm>
            <a:off x="9518760" y="4590360"/>
            <a:ext cx="208440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4ade80"/>
                </a:solidFill>
                <a:latin typeface="Arial"/>
              </a:rPr>
              <a:t>PASS</a:t>
            </a:r>
            <a:endParaRPr b="0" lang="en-AU" sz="1800" spc="-1" strike="noStrike">
              <a:solidFill>
                <a:srgbClr val="ffffff"/>
              </a:solidFill>
              <a:latin typeface="Arial"/>
            </a:endParaRPr>
          </a:p>
        </p:txBody>
      </p:sp>
      <p:sp>
        <p:nvSpPr>
          <p:cNvPr id="510" name="TextBox 21"/>
          <p:cNvSpPr/>
          <p:nvPr/>
        </p:nvSpPr>
        <p:spPr>
          <a:xfrm>
            <a:off x="658440" y="5669280"/>
            <a:ext cx="10862640" cy="3355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200" spc="-1" strike="noStrike">
                <a:solidFill>
                  <a:srgbClr val="ffffff"/>
                </a:solidFill>
                <a:latin typeface="Arial"/>
              </a:rPr>
              <a:t>Simulation said it should work.  HIL proved that the instrument did.</a:t>
            </a:r>
            <a:endParaRPr b="0" lang="en-AU" sz="2200" spc="-1" strike="noStrike">
              <a:solidFill>
                <a:srgbClr val="ffffff"/>
              </a:solidFill>
              <a:latin typeface="Arial"/>
            </a:endParaRPr>
          </a:p>
        </p:txBody>
      </p:sp>
      <p:sp>
        <p:nvSpPr>
          <p:cNvPr id="511" name="TextBox 22"/>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512" name="TextBox 23"/>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17</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513"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514"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5"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8d5f3"/>
                </a:solidFill>
                <a:latin typeface="Arial"/>
              </a:rPr>
              <a:t>WHAT CHANGES</a:t>
            </a:r>
            <a:endParaRPr b="0" lang="en-AU" sz="1200" spc="-1" strike="noStrike">
              <a:solidFill>
                <a:srgbClr val="ffffff"/>
              </a:solidFill>
              <a:latin typeface="Arial"/>
            </a:endParaRPr>
          </a:p>
        </p:txBody>
      </p:sp>
      <p:sp>
        <p:nvSpPr>
          <p:cNvPr id="516" name="TextBox 4"/>
          <p:cNvSpPr/>
          <p:nvPr/>
        </p:nvSpPr>
        <p:spPr>
          <a:xfrm>
            <a:off x="548640" y="594360"/>
            <a:ext cx="10972440" cy="44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900" spc="-1" strike="noStrike">
                <a:solidFill>
                  <a:srgbClr val="ffffff"/>
                </a:solidFill>
                <a:latin typeface="Arial"/>
              </a:rPr>
              <a:t>Cheaper engineering creates more engineering</a:t>
            </a:r>
            <a:endParaRPr b="0" lang="en-AU" sz="2900" spc="-1" strike="noStrike">
              <a:solidFill>
                <a:srgbClr val="ffffff"/>
              </a:solidFill>
              <a:latin typeface="Arial"/>
            </a:endParaRPr>
          </a:p>
        </p:txBody>
      </p:sp>
      <p:sp>
        <p:nvSpPr>
          <p:cNvPr id="517" name="Rounded Rectangle 5"/>
          <p:cNvSpPr/>
          <p:nvPr/>
        </p:nvSpPr>
        <p:spPr>
          <a:xfrm>
            <a:off x="658440" y="1627560"/>
            <a:ext cx="4251600" cy="3702960"/>
          </a:xfrm>
          <a:prstGeom prst="roundRect">
            <a:avLst>
              <a:gd name="adj" fmla="val 16667"/>
            </a:avLst>
          </a:prstGeom>
          <a:solidFill>
            <a:srgbClr val="121e4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8" name="TextBox 6"/>
          <p:cNvSpPr/>
          <p:nvPr/>
        </p:nvSpPr>
        <p:spPr>
          <a:xfrm>
            <a:off x="932760" y="1874520"/>
            <a:ext cx="370296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ff7821"/>
                </a:solidFill>
                <a:latin typeface="Arial"/>
              </a:rPr>
              <a:t>BEFORE</a:t>
            </a:r>
            <a:endParaRPr b="0" lang="en-AU" sz="1700" spc="-1" strike="noStrike">
              <a:solidFill>
                <a:srgbClr val="ffffff"/>
              </a:solidFill>
              <a:latin typeface="Arial"/>
            </a:endParaRPr>
          </a:p>
        </p:txBody>
      </p:sp>
      <p:sp>
        <p:nvSpPr>
          <p:cNvPr id="519" name="TextBox 7"/>
          <p:cNvSpPr/>
          <p:nvPr/>
        </p:nvSpPr>
        <p:spPr>
          <a:xfrm>
            <a:off x="1024200" y="2578680"/>
            <a:ext cx="3520080" cy="10504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300" spc="-1" strike="noStrike">
                <a:solidFill>
                  <a:srgbClr val="ffffff"/>
                </a:solidFill>
                <a:latin typeface="Arial"/>
              </a:rPr>
              <a:t>I always wanted to</a:t>
            </a:r>
            <a:endParaRPr b="0" lang="en-AU" sz="2300" spc="-1" strike="noStrike">
              <a:solidFill>
                <a:srgbClr val="ffffff"/>
              </a:solidFill>
              <a:latin typeface="Arial"/>
            </a:endParaRPr>
          </a:p>
          <a:p>
            <a:pPr algn="ctr" defTabSz="457200">
              <a:lnSpc>
                <a:spcPct val="100000"/>
              </a:lnSpc>
            </a:pPr>
            <a:r>
              <a:rPr b="1" lang="en-US" sz="2300" spc="-1" strike="noStrike">
                <a:solidFill>
                  <a:srgbClr val="ffffff"/>
                </a:solidFill>
                <a:latin typeface="Arial"/>
              </a:rPr>
              <a:t>build an FPGA synthesizer</a:t>
            </a:r>
            <a:endParaRPr b="0" lang="en-AU" sz="2300" spc="-1" strike="noStrike">
              <a:solidFill>
                <a:srgbClr val="ffffff"/>
              </a:solidFill>
              <a:latin typeface="Arial"/>
            </a:endParaRPr>
          </a:p>
        </p:txBody>
      </p:sp>
      <p:sp>
        <p:nvSpPr>
          <p:cNvPr id="520" name="Rounded Rectangle 8"/>
          <p:cNvSpPr/>
          <p:nvPr/>
        </p:nvSpPr>
        <p:spPr>
          <a:xfrm>
            <a:off x="1234440" y="4069080"/>
            <a:ext cx="3062880" cy="639720"/>
          </a:xfrm>
          <a:prstGeom prst="roundRect">
            <a:avLst>
              <a:gd name="adj" fmla="val 16667"/>
            </a:avLst>
          </a:prstGeom>
          <a:solidFill>
            <a:srgbClr val="2f230a"/>
          </a:solidFill>
          <a:ln w="19050">
            <a:solidFill>
              <a:srgbClr val="ff782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1" name="TextBox 9"/>
          <p:cNvSpPr/>
          <p:nvPr/>
        </p:nvSpPr>
        <p:spPr>
          <a:xfrm>
            <a:off x="1417320" y="4233600"/>
            <a:ext cx="269712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TOO EXPENSIVE IN TIME</a:t>
            </a:r>
            <a:endParaRPr b="0" lang="en-AU" sz="1400" spc="-1" strike="noStrike">
              <a:solidFill>
                <a:srgbClr val="ffffff"/>
              </a:solidFill>
              <a:latin typeface="Arial"/>
            </a:endParaRPr>
          </a:p>
        </p:txBody>
      </p:sp>
      <p:cxnSp>
        <p:nvCxnSpPr>
          <p:cNvPr id="522" name="Connector 10"/>
          <p:cNvCxnSpPr/>
          <p:nvPr/>
        </p:nvCxnSpPr>
        <p:spPr>
          <a:xfrm>
            <a:off x="4910040" y="3492720"/>
            <a:ext cx="741240" cy="360"/>
          </a:xfrm>
          <a:prstGeom prst="straightConnector1">
            <a:avLst/>
          </a:prstGeom>
          <a:ln>
            <a:solidFill>
              <a:srgbClr val="ffffff"/>
            </a:solidFill>
            <a:round/>
          </a:ln>
        </p:spPr>
      </p:cxnSp>
      <p:sp>
        <p:nvSpPr>
          <p:cNvPr id="523" name="TextBox 11"/>
          <p:cNvSpPr/>
          <p:nvPr/>
        </p:nvSpPr>
        <p:spPr>
          <a:xfrm>
            <a:off x="5065920" y="3126600"/>
            <a:ext cx="438480" cy="457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3000" spc="-1" strike="noStrike">
                <a:solidFill>
                  <a:srgbClr val="18d5f3"/>
                </a:solidFill>
                <a:latin typeface="Arial"/>
              </a:rPr>
              <a:t>→</a:t>
            </a:r>
            <a:endParaRPr b="0" lang="en-AU" sz="3000" spc="-1" strike="noStrike">
              <a:solidFill>
                <a:srgbClr val="ffffff"/>
              </a:solidFill>
              <a:latin typeface="Arial"/>
            </a:endParaRPr>
          </a:p>
        </p:txBody>
      </p:sp>
      <p:sp>
        <p:nvSpPr>
          <p:cNvPr id="524" name="Rounded Rectangle 12"/>
          <p:cNvSpPr/>
          <p:nvPr/>
        </p:nvSpPr>
        <p:spPr>
          <a:xfrm>
            <a:off x="5650920" y="1627560"/>
            <a:ext cx="5870160" cy="3702960"/>
          </a:xfrm>
          <a:prstGeom prst="roundRect">
            <a:avLst>
              <a:gd name="adj" fmla="val 16667"/>
            </a:avLst>
          </a:prstGeom>
          <a:solidFill>
            <a:srgbClr val="0b3b2d"/>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5" name="TextBox 13"/>
          <p:cNvSpPr/>
          <p:nvPr/>
        </p:nvSpPr>
        <p:spPr>
          <a:xfrm>
            <a:off x="5925240" y="1874520"/>
            <a:ext cx="532152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700" spc="-1" strike="noStrike">
                <a:solidFill>
                  <a:srgbClr val="4ade80"/>
                </a:solidFill>
                <a:latin typeface="Arial"/>
              </a:rPr>
              <a:t>NOW</a:t>
            </a:r>
            <a:endParaRPr b="0" lang="en-AU" sz="1700" spc="-1" strike="noStrike">
              <a:solidFill>
                <a:srgbClr val="ffffff"/>
              </a:solidFill>
              <a:latin typeface="Arial"/>
            </a:endParaRPr>
          </a:p>
        </p:txBody>
      </p:sp>
      <p:sp>
        <p:nvSpPr>
          <p:cNvPr id="526" name="TextBox 14"/>
          <p:cNvSpPr/>
          <p:nvPr/>
        </p:nvSpPr>
        <p:spPr>
          <a:xfrm>
            <a:off x="6053400" y="2514600"/>
            <a:ext cx="5065560" cy="7916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600" spc="-1" strike="noStrike">
                <a:solidFill>
                  <a:srgbClr val="ffffff"/>
                </a:solidFill>
                <a:latin typeface="Arial"/>
              </a:rPr>
              <a:t>More ideas become</a:t>
            </a:r>
            <a:endParaRPr b="0" lang="en-AU" sz="2600" spc="-1" strike="noStrike">
              <a:solidFill>
                <a:srgbClr val="ffffff"/>
              </a:solidFill>
              <a:latin typeface="Arial"/>
            </a:endParaRPr>
          </a:p>
          <a:p>
            <a:pPr algn="ctr" defTabSz="457200">
              <a:lnSpc>
                <a:spcPct val="100000"/>
              </a:lnSpc>
            </a:pPr>
            <a:r>
              <a:rPr b="1" lang="en-US" sz="2600" spc="-1" strike="noStrike">
                <a:solidFill>
                  <a:srgbClr val="ffffff"/>
                </a:solidFill>
                <a:latin typeface="Arial"/>
              </a:rPr>
              <a:t>worth attempting</a:t>
            </a:r>
            <a:endParaRPr b="0" lang="en-AU" sz="2600" spc="-1" strike="noStrike">
              <a:solidFill>
                <a:srgbClr val="ffffff"/>
              </a:solidFill>
              <a:latin typeface="Arial"/>
            </a:endParaRPr>
          </a:p>
        </p:txBody>
      </p:sp>
      <p:sp>
        <p:nvSpPr>
          <p:cNvPr id="527" name="Rounded Rectangle 15"/>
          <p:cNvSpPr/>
          <p:nvPr/>
        </p:nvSpPr>
        <p:spPr>
          <a:xfrm>
            <a:off x="6144840" y="3657600"/>
            <a:ext cx="2148480" cy="456840"/>
          </a:xfrm>
          <a:prstGeom prst="roundRect">
            <a:avLst>
              <a:gd name="adj" fmla="val 16667"/>
            </a:avLst>
          </a:prstGeom>
          <a:solidFill>
            <a:srgbClr val="05091c"/>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8" name="TextBox 16"/>
          <p:cNvSpPr/>
          <p:nvPr/>
        </p:nvSpPr>
        <p:spPr>
          <a:xfrm>
            <a:off x="6254640" y="3749040"/>
            <a:ext cx="192888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instruments</a:t>
            </a:r>
            <a:endParaRPr b="0" lang="en-AU" sz="1300" spc="-1" strike="noStrike">
              <a:solidFill>
                <a:srgbClr val="ffffff"/>
              </a:solidFill>
              <a:latin typeface="Arial"/>
            </a:endParaRPr>
          </a:p>
        </p:txBody>
      </p:sp>
      <p:sp>
        <p:nvSpPr>
          <p:cNvPr id="529" name="Rounded Rectangle 17"/>
          <p:cNvSpPr/>
          <p:nvPr/>
        </p:nvSpPr>
        <p:spPr>
          <a:xfrm>
            <a:off x="8577000" y="3657600"/>
            <a:ext cx="2148480" cy="456840"/>
          </a:xfrm>
          <a:prstGeom prst="roundRect">
            <a:avLst>
              <a:gd name="adj" fmla="val 16667"/>
            </a:avLst>
          </a:prstGeom>
          <a:solidFill>
            <a:srgbClr val="05091c"/>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0" name="TextBox 18"/>
          <p:cNvSpPr/>
          <p:nvPr/>
        </p:nvSpPr>
        <p:spPr>
          <a:xfrm>
            <a:off x="8686800" y="3749040"/>
            <a:ext cx="192888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robots</a:t>
            </a:r>
            <a:endParaRPr b="0" lang="en-AU" sz="1300" spc="-1" strike="noStrike">
              <a:solidFill>
                <a:srgbClr val="ffffff"/>
              </a:solidFill>
              <a:latin typeface="Arial"/>
            </a:endParaRPr>
          </a:p>
        </p:txBody>
      </p:sp>
      <p:sp>
        <p:nvSpPr>
          <p:cNvPr id="531" name="Rounded Rectangle 19"/>
          <p:cNvSpPr/>
          <p:nvPr/>
        </p:nvSpPr>
        <p:spPr>
          <a:xfrm>
            <a:off x="6144840" y="4316040"/>
            <a:ext cx="2148480" cy="456840"/>
          </a:xfrm>
          <a:prstGeom prst="roundRect">
            <a:avLst>
              <a:gd name="adj" fmla="val 16667"/>
            </a:avLst>
          </a:prstGeom>
          <a:solidFill>
            <a:srgbClr val="05091c"/>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2" name="TextBox 20"/>
          <p:cNvSpPr/>
          <p:nvPr/>
        </p:nvSpPr>
        <p:spPr>
          <a:xfrm>
            <a:off x="6254640" y="4407480"/>
            <a:ext cx="192888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sensors</a:t>
            </a:r>
            <a:endParaRPr b="0" lang="en-AU" sz="1300" spc="-1" strike="noStrike">
              <a:solidFill>
                <a:srgbClr val="ffffff"/>
              </a:solidFill>
              <a:latin typeface="Arial"/>
            </a:endParaRPr>
          </a:p>
        </p:txBody>
      </p:sp>
      <p:sp>
        <p:nvSpPr>
          <p:cNvPr id="533" name="Rounded Rectangle 21"/>
          <p:cNvSpPr/>
          <p:nvPr/>
        </p:nvSpPr>
        <p:spPr>
          <a:xfrm>
            <a:off x="8577000" y="4316040"/>
            <a:ext cx="2148480" cy="456840"/>
          </a:xfrm>
          <a:prstGeom prst="roundRect">
            <a:avLst>
              <a:gd name="adj" fmla="val 16667"/>
            </a:avLst>
          </a:prstGeom>
          <a:solidFill>
            <a:srgbClr val="05091c"/>
          </a:solidFill>
          <a:ln w="19050">
            <a:solidFill>
              <a:srgbClr val="4ade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4" name="TextBox 22"/>
          <p:cNvSpPr/>
          <p:nvPr/>
        </p:nvSpPr>
        <p:spPr>
          <a:xfrm>
            <a:off x="8686800" y="4407480"/>
            <a:ext cx="192888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ffffff"/>
                </a:solidFill>
                <a:latin typeface="Arial"/>
              </a:rPr>
              <a:t>products</a:t>
            </a:r>
            <a:endParaRPr b="0" lang="en-AU" sz="1300" spc="-1" strike="noStrike">
              <a:solidFill>
                <a:srgbClr val="ffffff"/>
              </a:solidFill>
              <a:latin typeface="Arial"/>
            </a:endParaRPr>
          </a:p>
        </p:txBody>
      </p:sp>
      <p:sp>
        <p:nvSpPr>
          <p:cNvPr id="535" name="TextBox 23"/>
          <p:cNvSpPr/>
          <p:nvPr/>
        </p:nvSpPr>
        <p:spPr>
          <a:xfrm>
            <a:off x="658440" y="5669280"/>
            <a:ext cx="10862640" cy="320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100" spc="-1" strike="noStrike">
                <a:solidFill>
                  <a:srgbClr val="e91880"/>
                </a:solidFill>
                <a:latin typeface="Arial"/>
              </a:rPr>
              <a:t>Writing code by hand was not job security.  It was a ball and chain.</a:t>
            </a:r>
            <a:endParaRPr b="0" lang="en-AU" sz="2100" spc="-1" strike="noStrike">
              <a:solidFill>
                <a:srgbClr val="ffffff"/>
              </a:solidFill>
              <a:latin typeface="Arial"/>
            </a:endParaRPr>
          </a:p>
        </p:txBody>
      </p:sp>
      <p:sp>
        <p:nvSpPr>
          <p:cNvPr id="536" name="TextBox 24"/>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537" name="TextBox 25"/>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18</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02a"/>
        </a:solidFill>
      </p:bgPr>
    </p:bg>
    <p:spTree>
      <p:nvGrpSpPr>
        <p:cNvPr id="1" name=""/>
        <p:cNvGrpSpPr/>
        <p:nvPr/>
      </p:nvGrpSpPr>
      <p:grpSpPr>
        <a:xfrm>
          <a:off x="0" y="0"/>
          <a:ext cx="0" cy="0"/>
          <a:chOff x="0" y="0"/>
          <a:chExt cx="0" cy="0"/>
        </a:xfrm>
      </p:grpSpPr>
      <p:pic>
        <p:nvPicPr>
          <p:cNvPr id="538" name="Picture 1" descr="2026-amd-on-wheel-1920x405.jpg"/>
          <p:cNvPicPr/>
          <p:nvPr/>
        </p:nvPicPr>
        <p:blipFill>
          <a:blip r:embed="rId1"/>
          <a:srcRect l="0" t="13000" r="0" b="13000"/>
          <a:stretch/>
        </p:blipFill>
        <p:spPr>
          <a:xfrm>
            <a:off x="0" y="0"/>
            <a:ext cx="12191400" cy="1298160"/>
          </a:xfrm>
          <a:prstGeom prst="rect">
            <a:avLst/>
          </a:prstGeom>
          <a:ln w="0">
            <a:noFill/>
          </a:ln>
        </p:spPr>
      </p:pic>
      <p:sp>
        <p:nvSpPr>
          <p:cNvPr id="539" name="Rectangle 2"/>
          <p:cNvSpPr/>
          <p:nvPr/>
        </p:nvSpPr>
        <p:spPr>
          <a:xfrm>
            <a:off x="0" y="0"/>
            <a:ext cx="12191400" cy="1298160"/>
          </a:xfrm>
          <a:prstGeom prst="rect">
            <a:avLst/>
          </a:prstGeom>
          <a:solidFill>
            <a:srgbClr val="07102a">
              <a:alpha val="26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0" name="TextBox 3"/>
          <p:cNvSpPr/>
          <p:nvPr/>
        </p:nvSpPr>
        <p:spPr>
          <a:xfrm>
            <a:off x="548640" y="255960"/>
            <a:ext cx="64004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91880"/>
                </a:solidFill>
                <a:latin typeface="Arial"/>
              </a:rPr>
              <a:t>THE NEW SKILL</a:t>
            </a:r>
            <a:endParaRPr b="0" lang="en-AU" sz="1200" spc="-1" strike="noStrike">
              <a:solidFill>
                <a:srgbClr val="ffffff"/>
              </a:solidFill>
              <a:latin typeface="Arial"/>
            </a:endParaRPr>
          </a:p>
        </p:txBody>
      </p:sp>
      <p:sp>
        <p:nvSpPr>
          <p:cNvPr id="541" name="TextBox 4"/>
          <p:cNvSpPr/>
          <p:nvPr/>
        </p:nvSpPr>
        <p:spPr>
          <a:xfrm>
            <a:off x="548640" y="594360"/>
            <a:ext cx="10972440" cy="4730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100" spc="-1" strike="noStrike">
                <a:solidFill>
                  <a:srgbClr val="ffffff"/>
                </a:solidFill>
                <a:latin typeface="Arial"/>
              </a:rPr>
              <a:t>The scarce skill moves upward</a:t>
            </a:r>
            <a:endParaRPr b="0" lang="en-AU" sz="3100" spc="-1" strike="noStrike">
              <a:solidFill>
                <a:srgbClr val="ffffff"/>
              </a:solidFill>
              <a:latin typeface="Arial"/>
            </a:endParaRPr>
          </a:p>
        </p:txBody>
      </p:sp>
      <p:sp>
        <p:nvSpPr>
          <p:cNvPr id="542" name="Rounded Rectangle 5"/>
          <p:cNvSpPr/>
          <p:nvPr/>
        </p:nvSpPr>
        <p:spPr>
          <a:xfrm>
            <a:off x="658440" y="1627560"/>
            <a:ext cx="4434480" cy="3520080"/>
          </a:xfrm>
          <a:prstGeom prst="roundRect">
            <a:avLst>
              <a:gd name="adj" fmla="val 16667"/>
            </a:avLst>
          </a:prstGeom>
          <a:solidFill>
            <a:srgbClr val="121e4a"/>
          </a:solidFill>
          <a:ln w="19050">
            <a:solidFill>
              <a:srgbClr val="bac3d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3" name="TextBox 6"/>
          <p:cNvSpPr/>
          <p:nvPr/>
        </p:nvSpPr>
        <p:spPr>
          <a:xfrm>
            <a:off x="932760" y="1874520"/>
            <a:ext cx="388584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bac3da"/>
                </a:solidFill>
                <a:latin typeface="Arial"/>
              </a:rPr>
              <a:t>LESS TIME ON</a:t>
            </a:r>
            <a:endParaRPr b="0" lang="en-AU" sz="1600" spc="-1" strike="noStrike">
              <a:solidFill>
                <a:srgbClr val="ffffff"/>
              </a:solidFill>
              <a:latin typeface="Arial"/>
            </a:endParaRPr>
          </a:p>
        </p:txBody>
      </p:sp>
      <p:sp>
        <p:nvSpPr>
          <p:cNvPr id="544" name="TextBox 7"/>
          <p:cNvSpPr/>
          <p:nvPr/>
        </p:nvSpPr>
        <p:spPr>
          <a:xfrm>
            <a:off x="1115640" y="2514600"/>
            <a:ext cx="352008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700" spc="-1" strike="noStrike">
                <a:solidFill>
                  <a:srgbClr val="bac3da"/>
                </a:solidFill>
                <a:latin typeface="Arial"/>
              </a:rPr>
              <a:t>syntax</a:t>
            </a:r>
            <a:endParaRPr b="0" lang="en-AU" sz="1700" spc="-1" strike="noStrike">
              <a:solidFill>
                <a:srgbClr val="ffffff"/>
              </a:solidFill>
              <a:latin typeface="Arial"/>
            </a:endParaRPr>
          </a:p>
        </p:txBody>
      </p:sp>
      <p:sp>
        <p:nvSpPr>
          <p:cNvPr id="545" name="TextBox 8"/>
          <p:cNvSpPr/>
          <p:nvPr/>
        </p:nvSpPr>
        <p:spPr>
          <a:xfrm>
            <a:off x="1115640" y="3081600"/>
            <a:ext cx="352008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700" spc="-1" strike="noStrike">
                <a:solidFill>
                  <a:srgbClr val="bac3da"/>
                </a:solidFill>
                <a:latin typeface="Arial"/>
              </a:rPr>
              <a:t>boilerplate</a:t>
            </a:r>
            <a:endParaRPr b="0" lang="en-AU" sz="1700" spc="-1" strike="noStrike">
              <a:solidFill>
                <a:srgbClr val="ffffff"/>
              </a:solidFill>
              <a:latin typeface="Arial"/>
            </a:endParaRPr>
          </a:p>
        </p:txBody>
      </p:sp>
      <p:sp>
        <p:nvSpPr>
          <p:cNvPr id="546" name="TextBox 9"/>
          <p:cNvSpPr/>
          <p:nvPr/>
        </p:nvSpPr>
        <p:spPr>
          <a:xfrm>
            <a:off x="1115640" y="3648600"/>
            <a:ext cx="352008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700" spc="-1" strike="noStrike">
                <a:solidFill>
                  <a:srgbClr val="bac3da"/>
                </a:solidFill>
                <a:latin typeface="Arial"/>
              </a:rPr>
              <a:t>language traps</a:t>
            </a:r>
            <a:endParaRPr b="0" lang="en-AU" sz="1700" spc="-1" strike="noStrike">
              <a:solidFill>
                <a:srgbClr val="ffffff"/>
              </a:solidFill>
              <a:latin typeface="Arial"/>
            </a:endParaRPr>
          </a:p>
        </p:txBody>
      </p:sp>
      <p:sp>
        <p:nvSpPr>
          <p:cNvPr id="547" name="TextBox 10"/>
          <p:cNvSpPr/>
          <p:nvPr/>
        </p:nvSpPr>
        <p:spPr>
          <a:xfrm>
            <a:off x="1115640" y="4215240"/>
            <a:ext cx="3520080" cy="2595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700" spc="-1" strike="noStrike">
                <a:solidFill>
                  <a:srgbClr val="bac3da"/>
                </a:solidFill>
                <a:latin typeface="Arial"/>
              </a:rPr>
              <a:t>typing every line</a:t>
            </a:r>
            <a:endParaRPr b="0" lang="en-AU" sz="1700" spc="-1" strike="noStrike">
              <a:solidFill>
                <a:srgbClr val="ffffff"/>
              </a:solidFill>
              <a:latin typeface="Arial"/>
            </a:endParaRPr>
          </a:p>
        </p:txBody>
      </p:sp>
      <p:cxnSp>
        <p:nvCxnSpPr>
          <p:cNvPr id="548" name="Connector 11"/>
          <p:cNvCxnSpPr/>
          <p:nvPr/>
        </p:nvCxnSpPr>
        <p:spPr>
          <a:xfrm>
            <a:off x="5092920" y="3401280"/>
            <a:ext cx="713880" cy="360"/>
          </a:xfrm>
          <a:prstGeom prst="straightConnector1">
            <a:avLst/>
          </a:prstGeom>
          <a:ln>
            <a:solidFill>
              <a:srgbClr val="18d5f3"/>
            </a:solidFill>
            <a:round/>
          </a:ln>
        </p:spPr>
      </p:cxnSp>
      <p:sp>
        <p:nvSpPr>
          <p:cNvPr id="549" name="TextBox 12"/>
          <p:cNvSpPr/>
          <p:nvPr/>
        </p:nvSpPr>
        <p:spPr>
          <a:xfrm>
            <a:off x="5230440" y="3062520"/>
            <a:ext cx="456840" cy="457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3000" spc="-1" strike="noStrike">
                <a:solidFill>
                  <a:srgbClr val="18d5f3"/>
                </a:solidFill>
                <a:latin typeface="Arial"/>
              </a:rPr>
              <a:t>→</a:t>
            </a:r>
            <a:endParaRPr b="0" lang="en-AU" sz="3000" spc="-1" strike="noStrike">
              <a:solidFill>
                <a:srgbClr val="ffffff"/>
              </a:solidFill>
              <a:latin typeface="Arial"/>
            </a:endParaRPr>
          </a:p>
        </p:txBody>
      </p:sp>
      <p:sp>
        <p:nvSpPr>
          <p:cNvPr id="550" name="Rounded Rectangle 13"/>
          <p:cNvSpPr/>
          <p:nvPr/>
        </p:nvSpPr>
        <p:spPr>
          <a:xfrm>
            <a:off x="5806440" y="1627560"/>
            <a:ext cx="5714640" cy="3520080"/>
          </a:xfrm>
          <a:prstGeom prst="roundRect">
            <a:avLst>
              <a:gd name="adj" fmla="val 16667"/>
            </a:avLst>
          </a:prstGeom>
          <a:solidFill>
            <a:srgbClr val="121e4a"/>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1" name="TextBox 14"/>
          <p:cNvSpPr/>
          <p:nvPr/>
        </p:nvSpPr>
        <p:spPr>
          <a:xfrm>
            <a:off x="6080760" y="1874520"/>
            <a:ext cx="5166000" cy="244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600" spc="-1" strike="noStrike">
                <a:solidFill>
                  <a:srgbClr val="e91880"/>
                </a:solidFill>
                <a:latin typeface="Arial"/>
              </a:rPr>
              <a:t>MORE TIME ON</a:t>
            </a:r>
            <a:endParaRPr b="0" lang="en-AU" sz="1600" spc="-1" strike="noStrike">
              <a:solidFill>
                <a:srgbClr val="ffffff"/>
              </a:solidFill>
              <a:latin typeface="Arial"/>
            </a:endParaRPr>
          </a:p>
        </p:txBody>
      </p:sp>
      <p:sp>
        <p:nvSpPr>
          <p:cNvPr id="552" name="Rounded Rectangle 15"/>
          <p:cNvSpPr/>
          <p:nvPr/>
        </p:nvSpPr>
        <p:spPr>
          <a:xfrm>
            <a:off x="6839640" y="2450520"/>
            <a:ext cx="3657240" cy="43848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3" name="TextBox 16"/>
          <p:cNvSpPr/>
          <p:nvPr/>
        </p:nvSpPr>
        <p:spPr>
          <a:xfrm>
            <a:off x="7022520" y="2541960"/>
            <a:ext cx="32914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INTENT</a:t>
            </a:r>
            <a:endParaRPr b="0" lang="en-AU" sz="1400" spc="-1" strike="noStrike">
              <a:solidFill>
                <a:srgbClr val="ffffff"/>
              </a:solidFill>
              <a:latin typeface="Arial"/>
            </a:endParaRPr>
          </a:p>
        </p:txBody>
      </p:sp>
      <p:sp>
        <p:nvSpPr>
          <p:cNvPr id="554" name="Rounded Rectangle 17"/>
          <p:cNvSpPr/>
          <p:nvPr/>
        </p:nvSpPr>
        <p:spPr>
          <a:xfrm>
            <a:off x="6839640" y="3044880"/>
            <a:ext cx="3657240" cy="43848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5" name="TextBox 18"/>
          <p:cNvSpPr/>
          <p:nvPr/>
        </p:nvSpPr>
        <p:spPr>
          <a:xfrm>
            <a:off x="7022520" y="3136320"/>
            <a:ext cx="32914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ARCHITECTURE</a:t>
            </a:r>
            <a:endParaRPr b="0" lang="en-AU" sz="1400" spc="-1" strike="noStrike">
              <a:solidFill>
                <a:srgbClr val="ffffff"/>
              </a:solidFill>
              <a:latin typeface="Arial"/>
            </a:endParaRPr>
          </a:p>
        </p:txBody>
      </p:sp>
      <p:sp>
        <p:nvSpPr>
          <p:cNvPr id="556" name="Rounded Rectangle 19"/>
          <p:cNvSpPr/>
          <p:nvPr/>
        </p:nvSpPr>
        <p:spPr>
          <a:xfrm>
            <a:off x="6839640" y="3639240"/>
            <a:ext cx="3657240" cy="43848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7" name="TextBox 20"/>
          <p:cNvSpPr/>
          <p:nvPr/>
        </p:nvSpPr>
        <p:spPr>
          <a:xfrm>
            <a:off x="7022520" y="3730680"/>
            <a:ext cx="32914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EVIDENCE</a:t>
            </a:r>
            <a:endParaRPr b="0" lang="en-AU" sz="1400" spc="-1" strike="noStrike">
              <a:solidFill>
                <a:srgbClr val="ffffff"/>
              </a:solidFill>
              <a:latin typeface="Arial"/>
            </a:endParaRPr>
          </a:p>
        </p:txBody>
      </p:sp>
      <p:sp>
        <p:nvSpPr>
          <p:cNvPr id="558" name="Rounded Rectangle 21"/>
          <p:cNvSpPr/>
          <p:nvPr/>
        </p:nvSpPr>
        <p:spPr>
          <a:xfrm>
            <a:off x="6839640" y="4233600"/>
            <a:ext cx="3657240" cy="438480"/>
          </a:xfrm>
          <a:prstGeom prst="roundRect">
            <a:avLst>
              <a:gd name="adj" fmla="val 16667"/>
            </a:avLst>
          </a:prstGeom>
          <a:solidFill>
            <a:srgbClr val="320835"/>
          </a:solidFill>
          <a:ln w="19050">
            <a:solidFill>
              <a:srgbClr val="e918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9" name="TextBox 22"/>
          <p:cNvSpPr/>
          <p:nvPr/>
        </p:nvSpPr>
        <p:spPr>
          <a:xfrm>
            <a:off x="7022520" y="4325040"/>
            <a:ext cx="32914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Arial"/>
              </a:rPr>
              <a:t>JUDGMENT</a:t>
            </a:r>
            <a:endParaRPr b="0" lang="en-AU" sz="1400" spc="-1" strike="noStrike">
              <a:solidFill>
                <a:srgbClr val="ffffff"/>
              </a:solidFill>
              <a:latin typeface="Arial"/>
            </a:endParaRPr>
          </a:p>
        </p:txBody>
      </p:sp>
      <p:sp>
        <p:nvSpPr>
          <p:cNvPr id="560" name="TextBox 23"/>
          <p:cNvSpPr/>
          <p:nvPr/>
        </p:nvSpPr>
        <p:spPr>
          <a:xfrm>
            <a:off x="685800" y="5532120"/>
            <a:ext cx="10835280" cy="3052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000" spc="-1" strike="noStrike">
                <a:solidFill>
                  <a:srgbClr val="bac3da"/>
                </a:solidFill>
                <a:latin typeface="Arial"/>
              </a:rPr>
              <a:t>It is not less engineering.</a:t>
            </a:r>
            <a:endParaRPr b="0" lang="en-AU" sz="2000" spc="-1" strike="noStrike">
              <a:solidFill>
                <a:srgbClr val="ffffff"/>
              </a:solidFill>
              <a:latin typeface="Arial"/>
            </a:endParaRPr>
          </a:p>
        </p:txBody>
      </p:sp>
      <p:sp>
        <p:nvSpPr>
          <p:cNvPr id="561" name="TextBox 24"/>
          <p:cNvSpPr/>
          <p:nvPr/>
        </p:nvSpPr>
        <p:spPr>
          <a:xfrm>
            <a:off x="685800" y="5897880"/>
            <a:ext cx="10835280" cy="381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2500" spc="-1" strike="noStrike">
                <a:solidFill>
                  <a:srgbClr val="ffffff"/>
                </a:solidFill>
                <a:latin typeface="Arial"/>
              </a:rPr>
              <a:t>It is ENGINEERING — and we can do so much more.</a:t>
            </a:r>
            <a:endParaRPr b="0" lang="en-AU" sz="2500" spc="-1" strike="noStrike">
              <a:solidFill>
                <a:srgbClr val="ffffff"/>
              </a:solidFill>
              <a:latin typeface="Arial"/>
            </a:endParaRPr>
          </a:p>
        </p:txBody>
      </p:sp>
      <p:sp>
        <p:nvSpPr>
          <p:cNvPr id="562" name="TextBox 25"/>
          <p:cNvSpPr/>
          <p:nvPr/>
        </p:nvSpPr>
        <p:spPr>
          <a:xfrm>
            <a:off x="548640" y="6473880"/>
            <a:ext cx="64004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bac3da"/>
                </a:solidFill>
                <a:latin typeface="Arial"/>
              </a:rPr>
              <a:t>AMD on Wheels NZ  ·  together we advance</a:t>
            </a:r>
            <a:endParaRPr b="0" lang="en-AU" sz="900" spc="-1" strike="noStrike">
              <a:solidFill>
                <a:srgbClr val="ffffff"/>
              </a:solidFill>
              <a:latin typeface="Arial"/>
            </a:endParaRPr>
          </a:p>
        </p:txBody>
      </p:sp>
      <p:sp>
        <p:nvSpPr>
          <p:cNvPr id="563" name="TextBox 26"/>
          <p:cNvSpPr/>
          <p:nvPr/>
        </p:nvSpPr>
        <p:spPr>
          <a:xfrm>
            <a:off x="11155680" y="6473880"/>
            <a:ext cx="45684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bac3da"/>
                </a:solidFill>
                <a:latin typeface="Arial"/>
              </a:rPr>
              <a:t>19</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en-AU</dc:language>
  <cp:lastModifiedBy/>
  <dcterms:modified xsi:type="dcterms:W3CDTF">2026-10-07T10:16:11Z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