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5" r:id="rId17"/>
    <p:sldId id="264" r:id="rId16"/>
    <p:sldId id="266" r:id="rId18"/>
    <p:sldId id="268" r:id="rId20"/>
    <p:sldId id="269" r:id="rId21"/>
    <p:sldId id="267" r:id="rId19"/>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0:00-0:45</a:t>
            </a:r>
          </a:p>
          <a:p/>
          <a:p>
            <a:r>
              <a:t>SCRIPT:</a:t>
            </a:r>
          </a:p>
          <a:p>
            <a:r>
              <a:t>Good afternoon. I'm David Farrell, a Field Application Engineer with Avnet.</a:t>
            </a:r>
          </a:p>
          <a:p/>
          <a:p>
            <a:r>
              <a:t>This session is called Vitis Agentic AI HLS, but what I actually want to show you is much more tangible: a musical idea turned into working adaptive hardware.</a:t>
            </a:r>
          </a:p>
          <a:p/>
          <a:p>
            <a:r>
              <a:t>You are going to hear the result first. Then I will take it apart, explain why an FPGA is interesting for audio, and show you how a specification, AMD Ross, Vitis HLS, Vivado, and hardware-in-the-loop testing turned a slightly ridiculous bucket-list idea into a working instrument in a few days.</a:t>
            </a:r>
          </a:p>
          <a:p/>
          <a:p>
            <a:r>
              <a:t>This is not a story about pressing a magic AI button. It is a story about moving the engineer's effort upward: from typing every line to defining the system, judging evidence, and deciding what good enough actually means.</a:t>
            </a:r>
          </a:p>
          <a:p/>
          <a:p>
            <a:r>
              <a:t>CUE: Keep the introduction short. Gesture toward the powered KV260 and controller before advancing.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0:55-3:00</a:t>
            </a:r>
          </a:p>
          <a:p/>
          <a:p>
            <a:r>
              <a:t>SCRIPT:</a:t>
            </a:r>
          </a:p>
          <a:p>
            <a:r>
              <a:t>You may have noticed this synthesizer playing on the table today and wondered why it is here. Why a synthesizer? What does it do? What does it have to do with AMD? And what is the point of the demo?</a:t>
            </a:r>
          </a:p>
          <a:p/>
          <a:p>
            <a:r>
              <a:t>Before I answer any of that, let us hear it.</a:t>
            </a:r>
          </a:p>
          <a:p/>
          <a:p>
            <a:r>
              <a:t>[PLAY a few separated notes. Then play a chord. Turn each of the four controls slowly enough for the audience to hear the change. Finish with a short phrase rather than technical noodling.]</a:t>
            </a:r>
          </a:p>
          <a:p/>
          <a:p>
            <a:r>
              <a:t>So that is the finished object. A polyphonic digital synthesizer running on an AMD Kria KV260. The controller supplies the performance; the KV260 creates every audio sample.</a:t>
            </a:r>
          </a:p>
          <a:p/>
          <a:p>
            <a:r>
              <a:t>I am deliberately showing you the result first because this is the acceptance boundary that matters. We can have beautiful source code, passing simulation, and green timing reports, but if the instrument does not respond properly and sound right on the physical hardware, the project is not finished.</a:t>
            </a:r>
          </a:p>
          <a:p/>
          <a:p>
            <a:r>
              <a:t>Now let us take apart what you just heard.</a:t>
            </a:r>
          </a:p>
          <a:p/>
          <a:p>
            <a:r>
              <a:t>LIVE DEMO: Have the KV260, FC25, DAC, and bench audio ready before presenting. Aim for 60-75 seconds of playing.</a:t>
            </a:r>
          </a:p>
          <a:p/>
          <a:p>
            <a:r>
              <a:t>FALLBACK: If there is no sound within 15 seconds, say: "The live-demo gods require a sacrifice, so here is the recording." Play the backup clip. Do not debug on stage. Resume with: "So that is the object we are taking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3:00-4:20</a:t>
            </a:r>
          </a:p>
          <a:p/>
          <a:p>
            <a:r>
              <a:t>SCRIPT:</a:t>
            </a:r>
          </a:p>
          <a:p>
            <a:r>
              <a:t>The first slightly surprising thing is that this keyboard is not really a keyboard at all. By itself, it makes no sound.</a:t>
            </a:r>
          </a:p>
          <a:p/>
          <a:p>
            <a:r>
              <a:t>It is a MIDI controller. When I press a key or turn a dial, it sends a small message: key 60 was pressed, this was the velocity, dial one moved to 87. MIDI stands for Musical Instrument Digital Interface, but for our purposes it is simply a stream of performance instructions over USB.</a:t>
            </a:r>
          </a:p>
          <a:p/>
          <a:p>
            <a:r>
              <a:t>Those instructions travel into the Kria board. Linux keeps track of which notes are active and where the controls are. The programmable logic then calculates the actual waveform, sample by sample, and sends twenty-four-bit audio through a Pmod I2S DAC to the speakers.</a:t>
            </a:r>
          </a:p>
          <a:p/>
          <a:p>
            <a:r>
              <a:t>So all of the sound you heard is coming from this tiny green charcuterie board.</a:t>
            </a:r>
          </a:p>
          <a:p/>
          <a:p>
            <a:r>
              <a:t>[PAUSE.]</a:t>
            </a:r>
          </a:p>
          <a:p/>
          <a:p>
            <a:r>
              <a:t>The controller tells it what I am doing. The AMD board is the instrument.</a:t>
            </a:r>
          </a:p>
          <a:p/>
          <a:p>
            <a:r>
              <a:t>CUE: Point left to right: controller, MIDI bytes, Kria, sound. Let "charcuterie board" land before continuing.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5:00-5:50</a:t>
            </a:r>
          </a:p>
          <a:p/>
          <a:p>
            <a:r>
              <a:t>SCRIPT:</a:t>
            </a:r>
          </a:p>
          <a:p>
            <a:r>
              <a:t>Instead of meats and cheeses, the centre of that board is a device containing an FPGA.</a:t>
            </a:r>
          </a:p>
          <a:p/>
          <a:p>
            <a:r>
              <a:t>Joachim has already taken us much deeper into FPGA design, but here is the thirty-second version. If a CPU is like this — a huge, finished LEGO Colosseum — it is an extraordinarily complicated, fixed machine. It runs instructions and is designed to do almost anything reasonably well.</a:t>
            </a:r>
          </a:p>
          <a:p/>
          <a:p>
            <a:r>
              <a:t>An FPGA is more like this: a pile of pieces. Logic, memory, arithmetic, and connections, waiting to become the circuit that our application needs.</a:t>
            </a:r>
          </a:p>
          <a:p/>
          <a:p>
            <a:r>
              <a:t>With a CPU, I express the problem as instructions for an existing machine. With an FPGA, I can make the machine become the solution.</a:t>
            </a:r>
          </a:p>
          <a:p/>
          <a:p>
            <a:r>
              <a:t>Which raises the obvious question: why on earth would I want the pile?</a:t>
            </a:r>
          </a:p>
          <a:p/>
          <a:p>
            <a:r>
              <a:t>CUE: Reveal the Colosseum first, then the pile. Let the question hang before advancing.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5:50-6:30</a:t>
            </a:r>
          </a:p>
          <a:p/>
          <a:p>
            <a:r>
              <a:t>SCRIPT:</a:t>
            </a:r>
          </a:p>
          <a:p>
            <a:r>
              <a:t>Because I can turn those pieces into a purpose-built machine that does one thing extremely well — like building the car instead of asking the Colosseum to drive.</a:t>
            </a:r>
          </a:p>
          <a:p/>
          <a:p>
            <a:r>
              <a:t>Or I can add the one thing an existing system is missing: a custom interface, a real-time data path, a hardware accelerator, or some strange piece of glue logic that no standard processor provides.</a:t>
            </a:r>
          </a:p>
          <a:p/>
          <a:p>
            <a:r>
              <a:t>An FPGA can be the machine, or it can be the missing part of a larger machine.</a:t>
            </a:r>
          </a:p>
          <a:p/>
          <a:p>
            <a:r>
              <a:t>For this project, the pieces become oscillators, envelopes, filters, mixers, effects, control registers, and an audio interface. The one specific job is real-time digital signal processing.</a:t>
            </a:r>
          </a:p>
          <a:p/>
          <a:p>
            <a:r>
              <a:t>CUE: Contrast the absurdly polished car with the deliberately improvised patch. The joke should lead directly into the serious architectural point.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6:30-7:20</a:t>
            </a:r>
          </a:p>
          <a:p/>
          <a:p>
            <a:r>
              <a:t>SCRIPT:</a:t>
            </a:r>
          </a:p>
          <a:p>
            <a:r>
              <a:t>Digital signal processing, or DSP, begins with a stream of numbers changing over time. That stream might come from a radio, a camera, a radar, a microphone, or a sensor.</a:t>
            </a:r>
          </a:p>
          <a:p/>
          <a:p>
            <a:r>
              <a:t>Sometimes we analyse it to extract information. Sometimes we transform it to create a new signal. Either way, the numbers keep arriving, and the work must keep pace.</a:t>
            </a:r>
          </a:p>
          <a:p/>
          <a:p>
            <a:r>
              <a:t>In telecommunications, the sample rates and processing loads can be enormous. That combination of regular dataflow, parallel arithmetic, and hard throughput requirements is exactly where FPGAs shine.</a:t>
            </a:r>
          </a:p>
          <a:p/>
          <a:p>
            <a:r>
              <a:t>CUE: Let the phased-array animation establish conventional DSP. Emphasize regular dataflow, parallel arithmetic, and fixed throughput before moving to the CPU comparison.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8:00-9:30</a:t>
            </a:r>
          </a:p>
          <a:p/>
          <a:p>
            <a:r>
              <a:t>SCRIPT:</a:t>
            </a:r>
          </a:p>
          <a:p>
            <a:r>
              <a:t>CPUs can produce excellent audio. Most commercial music software proves that every day. But they usually do it by buffering.</a:t>
            </a:r>
          </a:p>
          <a:p/>
          <a:p>
            <a:r>
              <a:t>A CPU has many responsibilities: interrupts, system calls, the operating system, memory management, user interfaces, networking, and whatever else the machine is doing. It is very fast when our audio code gets its turn, but audio is not the only thing asking for attention.</a:t>
            </a:r>
          </a:p>
          <a:p/>
          <a:p>
            <a:r>
              <a:t>So we collect a batch of samples, process the batch, and play it while preparing the next one. The buffer gives the software some scheduling slack.</a:t>
            </a:r>
          </a:p>
          <a:p/>
          <a:p>
            <a:r>
              <a:t>Sure, we have lots of audio running on CPUs all day, every day, and it sounds fine. But I guarantee you have heard this sound before.</a:t>
            </a:r>
          </a:p>
          <a:p/>
          <a:p>
            <a:r>
              <a:t>[CLICK the embedded audio clip.]</a:t>
            </a:r>
          </a:p>
          <a:p/>
          <a:p>
            <a:r>
              <a:t>That is a deadline miss. Tiny missing sections create discontinuities, and those discontinuities are audible as the familiar crackle and pop.</a:t>
            </a:r>
          </a:p>
          <a:p/>
          <a:p>
            <a:r>
              <a:t>That works beautifully until a deadline is missed. If the next buffer is not ready, the waveform is discontinuous. You hear a crack or a pop. At sufficient volume, that is not only unpleasant; it can be hostile to ears and speakers.</a:t>
            </a:r>
          </a:p>
          <a:p/>
          <a:p>
            <a:r>
              <a:t>A real-time operating system helps us control scheduling, but it does not magically prove the whole application will meet every deadline under every condition. We still have software state, scheduling, and failure modes.</a:t>
            </a:r>
          </a:p>
          <a:p/>
          <a:p>
            <a:r>
              <a:t>The FPGA lets us approach the audio path differently.</a:t>
            </a:r>
          </a:p>
          <a:p/>
          <a:p>
            <a:r>
              <a:t>MEDIA: The embedded clip is built from the manually edited royalty-free WAV. The deleted sections and resulting discontinuities are intentional. Regenerating the deck preserves the WAV and re-embeds its current contents.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7:20-8:00</a:t>
            </a:r>
          </a:p>
          <a:p/>
          <a:p>
            <a:r>
              <a:t>SCRIPT:</a:t>
            </a:r>
          </a:p>
          <a:p>
            <a:r>
              <a:t>But when I hear the phrase digital signal processing, I do not first think about phased arrays or radio waves.</a:t>
            </a:r>
          </a:p>
          <a:p/>
          <a:p>
            <a:r>
              <a:t>I am a musician, so I think about sound waves.</a:t>
            </a:r>
          </a:p>
          <a:p/>
          <a:p>
            <a:r>
              <a:t>Sound is also a never-ending stream of samples. A synthesizer is a particularly nice demonstration because we are not merely analysing the stream. We are constructing it in real time from performance events: sixteen voices, oscillators, wave shaping, filters, envelopes, modulation, mixing, reverb, output filtering, and conversion to PCM.</a:t>
            </a:r>
          </a:p>
          <a:p/>
          <a:p>
            <a:r>
              <a:t>And unlike an offline render, the next sample is always due on time.</a:t>
            </a:r>
          </a:p>
          <a:p/>
          <a:p>
            <a:r>
              <a:t>CUE: Let the music picture own the slide. This is the personal pivot from general FPGA DSP to the synthesizer.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9:30-10:50</a:t>
            </a:r>
          </a:p>
          <a:p/>
          <a:p>
            <a:r>
              <a:t>SCRIPT:</a:t>
            </a:r>
          </a:p>
          <a:p>
            <a:r>
              <a:t>In the programmable logic, every sample follows the same physical path: voices, mix, effects, output. The circuit has no operating-system scheduler in that path and no software process that can decide to take a little nap.</a:t>
            </a:r>
          </a:p>
          <a:p/>
          <a:p>
            <a:r>
              <a:t>Once the design is implemented and meets timing, the stream keeps moving. One input sample leads to one output sample on the same schedule, every time.</a:t>
            </a:r>
          </a:p>
          <a:p/>
          <a:p>
            <a:r>
              <a:t>And software crashes. My working rule is that software is either so simple as to be useless, or complicated enough to contain bugs.</a:t>
            </a:r>
          </a:p>
          <a:p/>
          <a:p>
            <a:r>
              <a:t>Hardware can certainly contain design mistakes as well. I have contributed several personally. Hardware can fail, and yes, cosmic rays exist. The claim is not that FPGAs are magic or infallible. The advantage is that the data path and its timing are explicit engineering objects. We can simulate them, constrain them, implement them, measure them, and prove whether they satisfy the required throughput.</a:t>
            </a:r>
          </a:p>
          <a:p/>
          <a:p>
            <a:r>
              <a:t>That determinism is powerful for audio. It is also where the difficulty begins.</a:t>
            </a:r>
          </a:p>
          <a:p/>
          <a:p>
            <a:r>
              <a:t>CUE: Follow the sample path across the slide, then point to the evenly spaced sample train.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11:40-13:00</a:t>
            </a:r>
          </a:p>
          <a:p/>
          <a:p>
            <a:r>
              <a:t>SCRIPT:</a:t>
            </a:r>
          </a:p>
          <a:p>
            <a:r>
              <a:t>If I am writing software for a Raspberry Pi and want to mix two audio streams, I write a loop, add the samples, manage the numeric range, and move on.</a:t>
            </a:r>
          </a:p>
          <a:p/>
          <a:p>
            <a:r>
              <a:t>If I want to do the same thing efficiently on an FPGA, I must think about representation, pipelines, latency, throughput, resources, interfaces, clock domains, constraints, and timing closure. If you want the full answer, come and see me after class.</a:t>
            </a:r>
          </a:p>
          <a:p/>
          <a:p>
            <a:r>
              <a:t>FPGA engineering is powerful, but it has a high implementation cost. That is why this synthesizer sat on my FPGA-audio bucket list for years. I wanted the result; I could not justify all of the manual work for a side project.</a:t>
            </a:r>
          </a:p>
          <a:p/>
          <a:p>
            <a:r>
              <a:t>But this year, in the year of our Lord 2026, a new era has begun.</a:t>
            </a:r>
          </a:p>
          <a:p/>
          <a:p>
            <a:r>
              <a:t>[PAUSE.]</a:t>
            </a:r>
          </a:p>
          <a:p/>
          <a:p>
            <a:r>
              <a:t>The age of Agentic Engineering has begun.</a:t>
            </a:r>
          </a:p>
          <a:p/>
          <a:p>
            <a:r>
              <a:t>And I had exactly the kind of slightly unreasonable experiment needed to test it.</a:t>
            </a:r>
          </a:p>
          <a:p/>
          <a:p>
            <a:r>
              <a:t>CUE: Pause before the thesis line. Deliver it with conviction, but let the humour show.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13:55-16:15</a:t>
            </a:r>
          </a:p>
          <a:p/>
          <a:p>
            <a:r>
              <a:t>SCRIPT:</a:t>
            </a:r>
          </a:p>
          <a:p>
            <a:r>
              <a:t>The whole project began with a sentence very close to this:</a:t>
            </a:r>
          </a:p>
          <a:p/>
          <a:p>
            <a:r>
              <a:t>"I want to create a polyphonic synthesizer on a KV260, with a MIDI controller connected over USB."</a:t>
            </a:r>
          </a:p>
          <a:p/>
          <a:p>
            <a:r>
              <a:t>That was intent, not yet a specification. We had a brief conversation. How many voices? What is the signal path? Which side handles MIDI? How does software publish controls without the hardware seeing half an update? What audio interface are we using? What must simulation prove? What does timing closure mean? What must be observed on the real board before we call it accepted?</a:t>
            </a:r>
          </a:p>
          <a:p/>
          <a:p>
            <a:r>
              <a:t>Those answers became a specification: behavior, interfaces, invariants, performance limits, and acceptance tests. The specification is the stable object. Implementations are allowed to change; the required result is not.</a:t>
            </a:r>
          </a:p>
          <a:p/>
          <a:p>
            <a:r>
              <a:t>From that specification, the agent generated an ordered plan. The plan identified dependencies and gates: control software, the register interface, HLS DSP, audio serialization, integration, routed implementation, deployment, and hardware-in-the-loop acceptance.</a:t>
            </a:r>
          </a:p>
          <a:p/>
          <a:p>
            <a:r>
              <a:t>Then subagents followed that plan. Work could be delegated into bounded pieces while preserving a common contract. Ross's Vivado capability handled project construction, synthesis, implementation, timing, CDC, DRC, and the bitstream flow. Its Vitis HLS skills handled algorithm implementation, simulation, synthesis, co-simulation, and optimization evidence.</a:t>
            </a:r>
          </a:p>
          <a:p/>
          <a:p>
            <a:r>
              <a:t>The important point is not merely that several agents were busy. Parallel chaos is still chaos. The specification and plan gave each worker a boundary, an expected result, and a test that determined whether the next stage could begin.</a:t>
            </a:r>
          </a:p>
          <a:p/>
          <a:p>
            <a:r>
              <a:t>I remained responsible for architecture, scope, review, trade-offs, and acceptance. But I did not manually type every layer or babysit every tool invocation. That workflow smashed through the implementation in a few days.</a:t>
            </a:r>
          </a:p>
          <a:p/>
          <a:p>
            <a:r>
              <a:t>And then, inevitably, one of the agents became very productive in the wrong direction.</a:t>
            </a:r>
          </a:p>
          <a:p/>
          <a:p>
            <a:r>
              <a:t>CUE: Move across the four cards slowly. This is the central process slide; do not rush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16:15-17:30</a:t>
            </a:r>
          </a:p>
          <a:p/>
          <a:p>
            <a:r>
              <a:t>SCRIPT:</a:t>
            </a:r>
          </a:p>
          <a:p>
            <a:r>
              <a:t>To understand the mistake, we need two numbers.</a:t>
            </a:r>
          </a:p>
          <a:p/>
          <a:p>
            <a:r>
              <a:t>At a nominal one-hundred-megahertz clock and forty-eight-kilohertz audio, the HLS engine had roughly two thousand clock cycles available to produce each sample. That meant latency had room to grow. We did not need the smallest possible cycle count.</a:t>
            </a:r>
          </a:p>
          <a:p/>
          <a:p>
            <a:r>
              <a:t>But the design also had to meet a ten-nanosecond clock-period target. If the logic could not run at that clock rate, the generous cycle budget was irrelevant. Timing closure was the acceptance criterion.</a:t>
            </a:r>
          </a:p>
          <a:p/>
          <a:p>
            <a:r>
              <a:t>These requirements were already in the system context. This was not a case where the human forgot to say what mattered.</a:t>
            </a:r>
          </a:p>
          <a:p/>
          <a:p>
            <a:r>
              <a:t>Fewer cycles would be pleasant. A faster critical path was necessary. That distinction set up a very revealing failure mode: the agent optimized metrics that were easy to improve rather than the constraint that determined success.</a:t>
            </a:r>
          </a:p>
          <a:p/>
          <a:p>
            <a:r>
              <a:t>Watch what happened to the two columns.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17:30-19:30</a:t>
            </a:r>
          </a:p>
          <a:p/>
          <a:p>
            <a:r>
              <a:t>SCRIPT:</a:t>
            </a:r>
          </a:p>
          <a:p>
            <a:r>
              <a:t>An early agentic pass found a division and replaced it with reciprocal multiplication.</a:t>
            </a:r>
          </a:p>
          <a:p/>
          <a:p>
            <a:r>
              <a:t>This was not nonsense. The change reduced latency from one hundred and fourteen cycles to one hundred and eleven. It also saved one thousand five hundred and eighty-eight lookup tables. If I were scanning a report for improvements, both numbers look encouraging.</a:t>
            </a:r>
          </a:p>
          <a:p/>
          <a:p>
            <a:r>
              <a:t>But look at the clock estimate. Before: thirteen point three zero one nanoseconds. After: thirteen point three zero one nanoseconds. Against a ten-nanosecond target, the design remained three point three zero one nanoseconds away from acceptance.</a:t>
            </a:r>
          </a:p>
          <a:p/>
          <a:p>
            <a:r>
              <a:t>It improved everything except what mattered.</a:t>
            </a:r>
          </a:p>
          <a:p/>
          <a:p>
            <a:r>
              <a:t>This is agentic tunnel vision. The agent found a tractable local optimization, produced a legitimate implementation, ran the tool, and returned real evidence. It simply pursued the wrong definition of better.</a:t>
            </a:r>
          </a:p>
          <a:p/>
          <a:p>
            <a:r>
              <a:t>A great deal of engineering failure looks exactly like this. The work is competent. The metrics move. The presentation is green. The system requirement is still not met.</a:t>
            </a:r>
          </a:p>
          <a:p/>
          <a:p>
            <a:r>
              <a:t>So I discarded the pass. Saving area was not harmful, but it did not purchase acceptance. The next instruction had to remove any ambiguity about the optimization objective.</a:t>
            </a:r>
          </a:p>
          <a:p/>
          <a:p>
            <a:r>
              <a:t>ATTRIBUTION: Describe this only as an early agentic or Codex pass. Do not claim AMD Ross made this specific reciprocal-multiply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19:30-21:45</a:t>
            </a:r>
          </a:p>
          <a:p/>
          <a:p>
            <a:r>
              <a:t>SCRIPT:</a:t>
            </a:r>
          </a:p>
          <a:p>
            <a:r>
              <a:t>I redirected the trajectory with a very narrow instruction: stop optimizing latency. Optimize for F-max. Eyes on the ten-nanosecond target. Use the cycle budget.</a:t>
            </a:r>
          </a:p>
          <a:p/>
          <a:p>
            <a:r>
              <a:t>The AMD HLS optimization flow examined the critical path and found a serial chain of floating-point additions. That structure was compact, but every addition depended on the previous result, so the delay accumulated along one path.</a:t>
            </a:r>
          </a:p>
          <a:p/>
          <a:p>
            <a:r>
              <a:t>The optimized version split the work into four partial sums and then combined them through a two-level tree. More operations could proceed in parallel, and the longest dependency chain became much shorter.</a:t>
            </a:r>
          </a:p>
          <a:p/>
          <a:p>
            <a:r>
              <a:t>Vitis HLS measured the trade-off. Latency increased from one hundred and fourteen to one hundred and thirty-six cycles. That sounds worse until we remember the system had approximately two thousand cycles available.</a:t>
            </a:r>
          </a:p>
          <a:p/>
          <a:p>
            <a:r>
              <a:t>The estimated clock period fell from thirteen point three zero one nanoseconds to seven point two three zero nanoseconds. The ten-nanosecond target was met with margin.</a:t>
            </a:r>
          </a:p>
          <a:p/>
          <a:p>
            <a:r>
              <a:t>This is why the human remains in the loop. The tool can search, transform, build, and measure at extraordinary speed. It cannot own the product objective for me. I must define what better means, recognize when an attractive metric is irrelevant, and approve the trade-off in system context.</a:t>
            </a:r>
          </a:p>
          <a:p/>
          <a:p>
            <a:r>
              <a:t>The complete loop is intent, implementation, evidence, judgment, and correction. Not prompt, vibes, and ship.</a:t>
            </a:r>
          </a:p>
          <a:p/>
          <a:p>
            <a:r>
              <a:t>And even this green HLS result was not the end. An estimate is not a routed design, and a routed design is not yet a working instrument.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21:45-25:00</a:t>
            </a:r>
          </a:p>
          <a:p/>
          <a:p>
            <a:r>
              <a:t>SCRIPT:</a:t>
            </a:r>
          </a:p>
          <a:p>
            <a:r>
              <a:t>Reports and simulation are necessary, but this is an embedded instrument. The final vote belongs to the real KV260, the real DAC, the real MIDI controller, and, eventually, my ears.</a:t>
            </a:r>
          </a:p>
          <a:p/>
          <a:p>
            <a:r>
              <a:t>We used layered hardware-in-the-loop testing so that a failure could be localized instead of producing the technical diagnosis, "It doesn't make noise."</a:t>
            </a:r>
          </a:p>
          <a:p/>
          <a:p>
            <a:r>
              <a:t>The first gate was the control plane. Read the identity register and require the value representing S-Y-N-T. Read the ABI version. Confirm that the audio clock is locked, the HLS engine is in the expected state, and the overrun count is zero.</a:t>
            </a:r>
          </a:p>
          <a:p/>
          <a:p>
            <a:r>
              <a:t>Then change shadow controls, increment a commit generation, and verify that the applied generation catches up at an audio-frame boundary. That proves software can publish a coherent snapshot. The DSP never sees half of one control update and half of another.</a:t>
            </a:r>
          </a:p>
          <a:p/>
          <a:p>
            <a:r>
              <a:t>The second gate was the physical audio path. Select a diagnostic source and prove that known samples travel through the clock crossing, the I2S serializer, the Pmod DAC, the cable, and the speakers.</a:t>
            </a:r>
          </a:p>
          <a:p/>
          <a:p>
            <a:r>
              <a:t>Then select the HLS source and write a known A4 voice directly through the register interface. Confirm that the DSP returns from busy, generations agree, and no sample overruns are recorded. At that point we have the actual synthesized core producing physical audio without involving MIDI discovery or the live control process.</a:t>
            </a:r>
          </a:p>
          <a:p/>
          <a:p>
            <a:r>
              <a:t>Only then connect the FC25 over USB and test the complete path: notes, repeated notes, velocity, all four controls, releases, four-note and ten-note chords, register readback, and audible behavior.</a:t>
            </a:r>
          </a:p>
          <a:p/>
          <a:p>
            <a:r>
              <a:t>The accepted run reached ten simultaneous notes, the physical register state matched the software controls, every note released, commit and applied generations agreed, and the overrun count remained zero. I also got to make the deeply scientific final assessment that it felt responsive and sounded excellent.</a:t>
            </a:r>
          </a:p>
          <a:p/>
          <a:p>
            <a:r>
              <a:t>Simulation said the architecture should work. HLS and Vivado provided implementation evidence. Hardware in the loop proved that the assembled instrument did work.</a:t>
            </a:r>
          </a:p>
          <a:p/>
          <a:p>
            <a:r>
              <a:t>The product was not finished when it compiled. It was finished when the physical system behaved as specified and the owner accepted what came out of the speakers.</a:t>
            </a:r>
          </a:p>
          <a:p/>
          <a:p>
            <a:r>
              <a:t>OPTIONAL LIVE CHECK: If the terminal is already prepared, show identity and overrun count. Do not type or debug commands live.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25:00-27:15</a:t>
            </a:r>
          </a:p>
          <a:p/>
          <a:p>
            <a:r>
              <a:t>SCRIPT:</a:t>
            </a:r>
          </a:p>
          <a:p>
            <a:r>
              <a:t>This synthesizer had been on my FPGA-audio bucket list for years. The problem was never a lack of interest or even a lack of understanding. The implementation cost, measured in my time, was too high to justify for a side project.</a:t>
            </a:r>
          </a:p>
          <a:p/>
          <a:p>
            <a:r>
              <a:t>Agentic engineering changed the economics enough that I could simply attempt it.</a:t>
            </a:r>
          </a:p>
          <a:p/>
          <a:p>
            <a:r>
              <a:t>That leads to a point resembling Jevons' paradox. When a resource becomes cheaper to use, total demand for it can rise because new uses become economical.</a:t>
            </a:r>
          </a:p>
          <a:p/>
          <a:p>
            <a:r>
              <a:t>If engineering an embedded system becomes cheaper in time and attention, the result is not necessarily less engineering. The set of worthwhile projects expands. Instruments, robots, sensors, experiments, customer prototypes, and products that used to live permanently on the someday list become reasonable things to try.</a:t>
            </a:r>
          </a:p>
          <a:p/>
          <a:p>
            <a:r>
              <a:t>That matters to me because writing every line by hand was not my job security. It was a ball and chain. It kept me occupied, certainly, but it also prevented me from exploring architectures, testing more ideas, and building more useful systems.</a:t>
            </a:r>
          </a:p>
          <a:p/>
          <a:p>
            <a:r>
              <a:t>The synthesizer is valuable as a demonstration, but the broader result is permission to attempt more ambitious engineering.</a:t>
            </a:r>
          </a:p>
          <a:p/>
          <a:p>
            <a:r>
              <a:t>Which raises the obvious question: if producing the implementation becomes easier, what is the engineer for?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27:15-29:15</a:t>
            </a:r>
          </a:p>
          <a:p/>
          <a:p>
            <a:r>
              <a:t>SCRIPT:</a:t>
            </a:r>
          </a:p>
          <a:p>
            <a:r>
              <a:t>The scarce skill moves upward.</a:t>
            </a:r>
          </a:p>
          <a:p/>
          <a:p>
            <a:r>
              <a:t>We spend less time on syntax, boilerplate, language traps, and typing every line. We spend more time on intent, architecture, evidence, and judgment.</a:t>
            </a:r>
          </a:p>
          <a:p/>
          <a:p>
            <a:r>
              <a:t>The engineer chooses a valuable goal. The engineer turns a conversation into an exact specification. The engineer understands the whole system well enough to define interfaces and invariants. The engineer designs tests that can falsify a bad implementation, distinguishes estimates from routed evidence, and insists that the physical product agrees.</a:t>
            </a:r>
          </a:p>
          <a:p/>
          <a:p>
            <a:r>
              <a:t>The engineer also recognizes agentic tunnel vision. When an agent proudly saves one thousand five hundred LUTs while missing the clock target by exactly the same amount, somebody must say: impressive, irrelevant, try again.</a:t>
            </a:r>
          </a:p>
          <a:p/>
          <a:p>
            <a:r>
              <a:t>AMD Ross and the AMD development stack can perform enormous amounts of implementation and tool work. The Kria K26 SOM gives that work a production-ready adaptive-compute platform on which to become a real system. That does not make engineering judgment less important. It makes judgment the limiting resource.</a:t>
            </a:r>
          </a:p>
          <a:p/>
          <a:p>
            <a:r>
              <a:t>So my conclusion is not that this is less engineering. It is that we can finally spend more of our time doing the engineering that matters.</a:t>
            </a:r>
          </a:p>
          <a:p/>
          <a:p>
            <a:r>
              <a:t>[TURN toward the instrument.]</a:t>
            </a:r>
          </a:p>
          <a:p/>
          <a:p>
            <a:r>
              <a:t>This began as one sentence, became a specification and a plan, moved through HLS, Vivado, and hardware-in-the-loop evidence, and ended as an instrument I can play.</a:t>
            </a:r>
          </a:p>
          <a:p/>
          <a:p>
            <a:r>
              <a:t>That is the customer message: AMD has the agentic AI tool, AMD Ross; AMD has the adaptive-compute product, the Kria K26 SOM; together they help engineers deliver more ambitious systems faster.</a:t>
            </a:r>
          </a:p>
          <a:p/>
          <a:p>
            <a:r>
              <a:t>Thank you.</a:t>
            </a:r>
          </a:p>
          <a:p/>
          <a:p>
            <a:r>
              <a:t>CUE: End attention on the physical instrument, not the slide. Leave 45 seconds for overrun, applause, or transition to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0:45-0:55</a:t>
            </a:r>
          </a:p>
          <a:p/>
          <a:p>
            <a:r>
              <a:t>SCRIPT:</a:t>
            </a:r>
          </a:p>
          <a:p>
            <a:r>
              <a:t>First: what I built.</a:t>
            </a:r>
          </a:p>
          <a:p/>
          <a:p>
            <a:r>
              <a:t>CUE: Use this as a clean section marker, then move straight into the live result.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4:20-5:00</a:t>
            </a:r>
          </a:p>
          <a:p/>
          <a:p>
            <a:r>
              <a:t>SCRIPT:</a:t>
            </a:r>
          </a:p>
          <a:p>
            <a:r>
              <a:t>First, the AMD Kria K26 SOM: a production-ready adaptive system-on-module built around Zynq UltraScale+ MPSoC architecture.</a:t>
            </a:r>
          </a:p>
          <a:p/>
          <a:p>
            <a:r>
              <a:t>It combines Arm processing, programmable logic, memory and high-bandwidth interfaces in a compact module. For this instrument, EDF Linux runs the control plane on the Arm cores while the programmable logic becomes the deterministic audio machine. The KV260 is the starter kit carrying the K26 SOM; the SOM is the production product.</a:t>
            </a:r>
          </a:p>
          <a:p/>
          <a:p>
            <a:r>
              <a:t>CUE: Keep this to product identity and why heterogeneous adaptive compute fits the application. Do not read every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10:50-11:00</a:t>
            </a:r>
          </a:p>
          <a:p/>
          <a:p>
            <a:r>
              <a:t>SCRIPT:</a:t>
            </a:r>
          </a:p>
          <a:p>
            <a:r>
              <a:t>Now: what I used.</a:t>
            </a:r>
          </a:p>
          <a:p/>
          <a:p>
            <a:r>
              <a:t>CUE: This begins the AMD product section: K26 SOM, Vitis HLS, and Ross.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11:00-11:40</a:t>
            </a:r>
          </a:p>
          <a:p/>
          <a:p>
            <a:r>
              <a:t>SCRIPT:</a:t>
            </a:r>
          </a:p>
          <a:p>
            <a:r>
              <a:t>Second, AMD Vitis HLS. I describe the signal-processing algorithm in structured C and C++; Vitis HLS synthesizes it into RTL for programmable logic, with Vivado synthesis underneath.</a:t>
            </a:r>
          </a:p>
          <a:p/>
          <a:p>
            <a:r>
              <a:t>That gives me a faster iteration loop: C simulation for function, synthesis for latency, throughput and resources, and C/RTL co-simulation for generated hardware. It lets the same algorithm explore different hardware architectures through code and directives rather than manually rewriting every pipeline in RTL.</a:t>
            </a:r>
          </a:p>
          <a:p/>
          <a:p>
            <a:r>
              <a:t>CUE: Connect this directly to the measured timing trade-off later in the talk.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13:00-13:45</a:t>
            </a:r>
          </a:p>
          <a:p/>
          <a:p>
            <a:r>
              <a:t>SCRIPT:</a:t>
            </a:r>
          </a:p>
          <a:p>
            <a:r>
              <a:t>Third, AMD Ross: AMD's agentic AI assistant for embedded development across adaptive and x86 compute.</a:t>
            </a:r>
          </a:p>
          <a:p/>
          <a:p>
            <a:r>
              <a:t>Ross connects an agent to AMD tools and documentation, supplies AMD-authored skills and methodologies, and carries context across the flow from architecture through implementation, debug and deployment. In this project it helped execute the engineering workflow around the K26 SOM, Vitis HLS and Vivado while I retained responsibility for architecture, evidence, trade-offs and acceptance.</a:t>
            </a:r>
          </a:p>
          <a:p/>
          <a:p>
            <a:r>
              <a:t>So those are the three AMD ingredients: the adaptive-compute product, the algorithm-to-hardware tool, and the agentic engineering assistant.</a:t>
            </a:r>
          </a:p>
          <a:p/>
          <a:p>
            <a:r>
              <a:t>CUE: Do not enumerate every logo. Land the three-product message and move into the repeatable method.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13:45-13:55</a:t>
            </a:r>
          </a:p>
          <a:p/>
          <a:p>
            <a:r>
              <a:t>SCRIPT:</a:t>
            </a:r>
          </a:p>
          <a:p>
            <a:r>
              <a:t>Finally: how I did it — and how you can too.</a:t>
            </a:r>
          </a:p>
          <a:p/>
          <a:p>
            <a:r>
              <a:t>CUE: Transition from the product ingredients to the repeatable engineering method.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6.jpg"/><Relationship Id="rId4" Type="http://schemas.openxmlformats.org/officeDocument/2006/relationships/image" Target="../media/image7.jpg"/><Relationship Id="rId5"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8.gif"/><Relationship Id="rId4"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9.png"/><Relationship Id="rId6"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0.jpg"/><Relationship Id="rId4"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26-amd-on-wheel-1920x1080.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6903720" cy="6858000"/>
          </a:xfrm>
          <a:prstGeom prst="rect">
            <a:avLst/>
          </a:prstGeom>
          <a:solidFill>
            <a:srgbClr val="07102A">
              <a:alpha val="8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5943600" cy="320040"/>
          </a:xfrm>
          <a:prstGeom prst="rect">
            <a:avLst/>
          </a:prstGeom>
          <a:noFill/>
        </p:spPr>
        <p:txBody>
          <a:bodyPr wrap="square" anchor="t" lIns="0" rIns="0" tIns="0" bIns="0">
            <a:spAutoFit/>
          </a:bodyPr>
          <a:lstStyle/>
          <a:p>
            <a:pPr algn="l"/>
            <a:r>
              <a:rPr sz="1300" b="1">
                <a:solidFill>
                  <a:srgbClr val="4BA3C3"/>
                </a:solidFill>
                <a:latin typeface="IBM Plex Sans"/>
              </a:rPr>
              <a:t>AMD ON WHEELS NZ  ·  2026  ·  WORKSHOP</a:t>
            </a:r>
          </a:p>
        </p:txBody>
      </p:sp>
      <p:sp>
        <p:nvSpPr>
          <p:cNvPr id="5" name="TextBox 4"/>
          <p:cNvSpPr txBox="1"/>
          <p:nvPr/>
        </p:nvSpPr>
        <p:spPr>
          <a:xfrm>
            <a:off x="640080" y="2148840"/>
            <a:ext cx="5806440" cy="1645920"/>
          </a:xfrm>
          <a:prstGeom prst="rect">
            <a:avLst/>
          </a:prstGeom>
          <a:noFill/>
        </p:spPr>
        <p:txBody>
          <a:bodyPr wrap="square" anchor="t" lIns="0" rIns="0" tIns="0" bIns="0">
            <a:spAutoFit/>
          </a:bodyPr>
          <a:lstStyle/>
          <a:p>
            <a:pPr algn="l"/>
            <a:r>
              <a:rPr sz="4200" b="1">
                <a:solidFill>
                  <a:srgbClr val="FFFFFF"/>
                </a:solidFill>
                <a:latin typeface="IBM Plex Sans"/>
              </a:rPr>
              <a:t>Vitis Agentic AI HLS</a:t>
            </a:r>
          </a:p>
        </p:txBody>
      </p:sp>
      <p:sp>
        <p:nvSpPr>
          <p:cNvPr id="6" name="TextBox 5"/>
          <p:cNvSpPr txBox="1"/>
          <p:nvPr/>
        </p:nvSpPr>
        <p:spPr>
          <a:xfrm>
            <a:off x="640080" y="4343400"/>
            <a:ext cx="5577840" cy="731520"/>
          </a:xfrm>
          <a:prstGeom prst="rect">
            <a:avLst/>
          </a:prstGeom>
          <a:noFill/>
        </p:spPr>
        <p:txBody>
          <a:bodyPr wrap="square" anchor="t" lIns="0" rIns="0" tIns="0" bIns="0">
            <a:spAutoFit/>
          </a:bodyPr>
          <a:lstStyle/>
          <a:p>
            <a:pPr algn="l"/>
            <a:r>
              <a:rPr sz="2100" b="0">
                <a:solidFill>
                  <a:srgbClr val="FFFFFF"/>
                </a:solidFill>
                <a:latin typeface="IBM Plex Sans"/>
              </a:rPr>
              <a:t>From a musical idea to working adaptive hardware</a:t>
            </a:r>
          </a:p>
        </p:txBody>
      </p:sp>
      <p:sp>
        <p:nvSpPr>
          <p:cNvPr id="7" name="TextBox 6"/>
          <p:cNvSpPr txBox="1"/>
          <p:nvPr/>
        </p:nvSpPr>
        <p:spPr>
          <a:xfrm>
            <a:off x="640080" y="6144768"/>
            <a:ext cx="5486400" cy="274320"/>
          </a:xfrm>
          <a:prstGeom prst="rect">
            <a:avLst/>
          </a:prstGeom>
          <a:noFill/>
        </p:spPr>
        <p:txBody>
          <a:bodyPr wrap="square" anchor="t" lIns="0" rIns="0" tIns="0" bIns="0">
            <a:spAutoFit/>
          </a:bodyPr>
          <a:lstStyle/>
          <a:p>
            <a:pPr algn="l"/>
            <a:r>
              <a:rPr sz="1200" b="0">
                <a:solidFill>
                  <a:srgbClr val="B5BFD2"/>
                </a:solidFill>
                <a:latin typeface="IBM Plex Sans"/>
              </a:rPr>
              <a:t>David Farrell  ·  Field Application Engineer  ·  Avnet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4572000" cy="274320"/>
          </a:xfrm>
          <a:prstGeom prst="rect">
            <a:avLst/>
          </a:prstGeom>
          <a:noFill/>
        </p:spPr>
        <p:txBody>
          <a:bodyPr wrap="square" anchor="t" lIns="0" rIns="0" tIns="0" bIns="0">
            <a:spAutoFit/>
          </a:bodyPr>
          <a:lstStyle/>
          <a:p>
            <a:pPr algn="l"/>
            <a:r>
              <a:rPr sz="1200" b="1">
                <a:solidFill>
                  <a:srgbClr val="4BA3C3"/>
                </a:solidFill>
                <a:latin typeface="IBM Plex Sans"/>
              </a:rPr>
              <a:t>AMD ON WHEELS NZ  ·  WORKSHOP</a:t>
            </a:r>
          </a:p>
        </p:txBody>
      </p:sp>
      <p:sp>
        <p:nvSpPr>
          <p:cNvPr id="5" name="Rectangle 4"/>
          <p:cNvSpPr/>
          <p:nvPr/>
        </p:nvSpPr>
        <p:spPr>
          <a:xfrm>
            <a:off x="640080" y="1828800"/>
            <a:ext cx="109728" cy="2926080"/>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9875520" cy="960120"/>
          </a:xfrm>
          <a:prstGeom prst="rect">
            <a:avLst/>
          </a:prstGeom>
          <a:noFill/>
        </p:spPr>
        <p:txBody>
          <a:bodyPr wrap="square" anchor="ctr" lIns="0" rIns="0" tIns="0" bIns="0">
            <a:spAutoFit/>
          </a:bodyPr>
          <a:lstStyle/>
          <a:p>
            <a:pPr algn="l"/>
            <a:r>
              <a:rPr sz="4200" b="1">
                <a:solidFill>
                  <a:srgbClr val="FFFFFF"/>
                </a:solidFill>
                <a:latin typeface="IBM Plex Sans"/>
              </a:rPr>
              <a:t>What I Built</a:t>
            </a:r>
          </a:p>
        </p:txBody>
      </p:sp>
      <p:sp>
        <p:nvSpPr>
          <p:cNvPr id="7" name="TextBox 6"/>
          <p:cNvSpPr txBox="1"/>
          <p:nvPr/>
        </p:nvSpPr>
        <p:spPr>
          <a:xfrm>
            <a:off x="1097280" y="3337560"/>
            <a:ext cx="8961120" cy="731520"/>
          </a:xfrm>
          <a:prstGeom prst="rect">
            <a:avLst/>
          </a:prstGeom>
          <a:noFill/>
        </p:spPr>
        <p:txBody>
          <a:bodyPr wrap="square" anchor="ctr" lIns="0" rIns="0" tIns="0" bIns="0">
            <a:spAutoFit/>
          </a:bodyPr>
          <a:lstStyle/>
          <a:p>
            <a:pPr algn="l"/>
            <a:r>
              <a:rPr sz="2000" b="0">
                <a:solidFill>
                  <a:srgbClr val="B5BFD2"/>
                </a:solidFill>
                <a:latin typeface="IBM Plex Sans"/>
              </a:rPr>
              <a:t>A playable synthesizer on AMD adaptive compute</a:t>
            </a:r>
          </a:p>
        </p:txBody>
      </p:sp>
      <p:sp>
        <p:nvSpPr>
          <p:cNvPr id="8" name="TextBox 7"/>
          <p:cNvSpPr txBox="1"/>
          <p:nvPr/>
        </p:nvSpPr>
        <p:spPr>
          <a:xfrm>
            <a:off x="640080" y="6236208"/>
            <a:ext cx="6400800" cy="201168"/>
          </a:xfrm>
          <a:prstGeom prst="rect">
            <a:avLst/>
          </a:prstGeom>
          <a:noFill/>
        </p:spPr>
        <p:txBody>
          <a:bodyPr wrap="square" anchor="t" lIns="0" rIns="0" tIns="0" bIns="0">
            <a:spAutoFit/>
          </a:bodyPr>
          <a:lstStyle/>
          <a:p>
            <a:pPr algn="l"/>
            <a:r>
              <a:rPr sz="900" b="0">
                <a:solidFill>
                  <a:srgbClr val="B5BFD2"/>
                </a:solidFill>
                <a:latin typeface="IBM Plex Sans"/>
              </a:rPr>
              <a:t>AMD on Wheels NZ  ·  together we advance</a:t>
            </a:r>
          </a:p>
        </p:txBody>
      </p:sp>
      <p:sp>
        <p:nvSpPr>
          <p:cNvPr id="9" name="TextBox 8"/>
          <p:cNvSpPr txBox="1"/>
          <p:nvPr/>
        </p:nvSpPr>
        <p:spPr>
          <a:xfrm>
            <a:off x="11155680" y="6236208"/>
            <a:ext cx="457200" cy="201168"/>
          </a:xfrm>
          <a:prstGeom prst="rect">
            <a:avLst/>
          </a:prstGeom>
          <a:noFill/>
        </p:spPr>
        <p:txBody>
          <a:bodyPr wrap="square" anchor="t" lIns="0" rIns="0" tIns="0" bIns="0">
            <a:spAutoFit/>
          </a:bodyPr>
          <a:lstStyle/>
          <a:p>
            <a:pPr algn="r"/>
            <a:r>
              <a:rPr sz="900" b="0">
                <a:solidFill>
                  <a:srgbClr val="B5BFD2"/>
                </a:solidFill>
                <a:latin typeface="IBM Plex San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4BA3C3"/>
                </a:solidFill>
                <a:latin typeface="IBM Plex Sans"/>
              </a:rPr>
              <a:t>THE QUESTION ON THE TABLE</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000" b="1">
                <a:solidFill>
                  <a:srgbClr val="FFFFFF"/>
                </a:solidFill>
                <a:latin typeface="IBM Plex Sans"/>
              </a:rPr>
              <a:t>Why is there a synthesizer at AMD on Wheels?</a:t>
            </a:r>
          </a:p>
        </p:txBody>
      </p:sp>
      <p:sp>
        <p:nvSpPr>
          <p:cNvPr id="6" name="Rounded Rectangle 5"/>
          <p:cNvSpPr/>
          <p:nvPr/>
        </p:nvSpPr>
        <p:spPr>
          <a:xfrm>
            <a:off x="4343400" y="2057400"/>
            <a:ext cx="3520440" cy="2240280"/>
          </a:xfrm>
          <a:prstGeom prst="roundRect">
            <a:avLst>
              <a:gd name="adj" fmla="val 4000"/>
            </a:avLst>
          </a:prstGeom>
          <a:solidFill>
            <a:srgbClr val="05091C"/>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2331720"/>
            <a:ext cx="3154680" cy="502920"/>
          </a:xfrm>
          <a:prstGeom prst="rect">
            <a:avLst/>
          </a:prstGeom>
          <a:noFill/>
        </p:spPr>
        <p:txBody>
          <a:bodyPr wrap="square" anchor="ctr" lIns="0" rIns="0" tIns="0" bIns="0">
            <a:spAutoFit/>
          </a:bodyPr>
          <a:lstStyle/>
          <a:p>
            <a:pPr algn="ctr"/>
            <a:r>
              <a:rPr sz="2700" b="1">
                <a:solidFill>
                  <a:srgbClr val="4BA3C3"/>
                </a:solidFill>
                <a:latin typeface="IBM Plex Sans"/>
              </a:rPr>
              <a:t>THE DEMO</a:t>
            </a:r>
          </a:p>
        </p:txBody>
      </p:sp>
      <p:sp>
        <p:nvSpPr>
          <p:cNvPr id="8" name="TextBox 7"/>
          <p:cNvSpPr txBox="1"/>
          <p:nvPr/>
        </p:nvSpPr>
        <p:spPr>
          <a:xfrm>
            <a:off x="4526280" y="3154680"/>
            <a:ext cx="3154680" cy="502920"/>
          </a:xfrm>
          <a:prstGeom prst="rect">
            <a:avLst/>
          </a:prstGeom>
          <a:noFill/>
        </p:spPr>
        <p:txBody>
          <a:bodyPr wrap="square" anchor="ctr" lIns="0" rIns="0" tIns="0" bIns="0">
            <a:spAutoFit/>
          </a:bodyPr>
          <a:lstStyle/>
          <a:p>
            <a:pPr algn="ctr"/>
            <a:r>
              <a:rPr sz="2500" b="1">
                <a:solidFill>
                  <a:srgbClr val="4BA3C3"/>
                </a:solidFill>
                <a:latin typeface="IBM Plex Sans"/>
              </a:rPr>
              <a:t>SYNTHESIZER</a:t>
            </a:r>
          </a:p>
        </p:txBody>
      </p:sp>
      <p:sp>
        <p:nvSpPr>
          <p:cNvPr id="9" name="TextBox 8"/>
          <p:cNvSpPr txBox="1"/>
          <p:nvPr/>
        </p:nvSpPr>
        <p:spPr>
          <a:xfrm>
            <a:off x="4617720" y="3840480"/>
            <a:ext cx="2971800" cy="256032"/>
          </a:xfrm>
          <a:prstGeom prst="rect">
            <a:avLst/>
          </a:prstGeom>
          <a:noFill/>
        </p:spPr>
        <p:txBody>
          <a:bodyPr wrap="square" anchor="t" lIns="0" rIns="0" tIns="0" bIns="0">
            <a:spAutoFit/>
          </a:bodyPr>
          <a:lstStyle/>
          <a:p>
            <a:pPr algn="ctr"/>
            <a:r>
              <a:rPr sz="1100" b="0">
                <a:solidFill>
                  <a:srgbClr val="B5BFD2"/>
                </a:solidFill>
                <a:latin typeface="IBM Plex Sans"/>
              </a:rPr>
              <a:t>the synthesizer on the table</a:t>
            </a:r>
          </a:p>
        </p:txBody>
      </p:sp>
      <p:sp>
        <p:nvSpPr>
          <p:cNvPr id="10" name="Rounded Rectangle 9"/>
          <p:cNvSpPr/>
          <p:nvPr/>
        </p:nvSpPr>
        <p:spPr>
          <a:xfrm>
            <a:off x="594360" y="1828800"/>
            <a:ext cx="2788920" cy="114300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057400"/>
            <a:ext cx="2331720" cy="658368"/>
          </a:xfrm>
          <a:prstGeom prst="rect">
            <a:avLst/>
          </a:prstGeom>
          <a:noFill/>
        </p:spPr>
        <p:txBody>
          <a:bodyPr wrap="square" anchor="ctr" lIns="0" rIns="0" tIns="0" bIns="0">
            <a:spAutoFit/>
          </a:bodyPr>
          <a:lstStyle/>
          <a:p>
            <a:pPr algn="ctr"/>
            <a:r>
              <a:rPr sz="2100" b="1">
                <a:solidFill>
                  <a:srgbClr val="FFFFFF"/>
                </a:solidFill>
                <a:latin typeface="IBM Plex Sans"/>
              </a:rPr>
              <a:t>Why a</a:t>
            </a:r>
          </a:p>
          <a:p>
            <a:pPr algn="ctr"/>
            <a:r>
              <a:rPr sz="2100" b="1">
                <a:solidFill>
                  <a:srgbClr val="FFFFFF"/>
                </a:solidFill>
                <a:latin typeface="IBM Plex Sans"/>
              </a:rPr>
              <a:t>synthesizer?</a:t>
            </a:r>
          </a:p>
        </p:txBody>
      </p:sp>
      <p:cxnSp>
        <p:nvCxnSpPr>
          <p:cNvPr id="12" name="Connector 11"/>
          <p:cNvCxnSpPr/>
          <p:nvPr/>
        </p:nvCxnSpPr>
        <p:spPr>
          <a:xfrm>
            <a:off x="3383280" y="2423160"/>
            <a:ext cx="960120" cy="320040"/>
          </a:xfrm>
          <a:prstGeom prst="line">
            <a:avLst/>
          </a:prstGeom>
          <a:ln w="25400">
            <a:solidFill>
              <a:srgbClr val="4BA3C3"/>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4360" y="3840480"/>
            <a:ext cx="2788920" cy="114300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069080"/>
            <a:ext cx="2331720" cy="658368"/>
          </a:xfrm>
          <a:prstGeom prst="rect">
            <a:avLst/>
          </a:prstGeom>
          <a:noFill/>
        </p:spPr>
        <p:txBody>
          <a:bodyPr wrap="square" anchor="ctr" lIns="0" rIns="0" tIns="0" bIns="0">
            <a:spAutoFit/>
          </a:bodyPr>
          <a:lstStyle/>
          <a:p>
            <a:pPr algn="ctr"/>
            <a:r>
              <a:rPr sz="2100" b="1">
                <a:solidFill>
                  <a:srgbClr val="FFFFFF"/>
                </a:solidFill>
                <a:latin typeface="IBM Plex Sans"/>
              </a:rPr>
              <a:t>What does</a:t>
            </a:r>
          </a:p>
          <a:p>
            <a:pPr algn="ctr"/>
            <a:r>
              <a:rPr sz="2100" b="1">
                <a:solidFill>
                  <a:srgbClr val="FFFFFF"/>
                </a:solidFill>
                <a:latin typeface="IBM Plex Sans"/>
              </a:rPr>
              <a:t>it do?</a:t>
            </a:r>
          </a:p>
        </p:txBody>
      </p:sp>
      <p:cxnSp>
        <p:nvCxnSpPr>
          <p:cNvPr id="15" name="Connector 14"/>
          <p:cNvCxnSpPr/>
          <p:nvPr/>
        </p:nvCxnSpPr>
        <p:spPr>
          <a:xfrm flipV="1">
            <a:off x="3383280" y="3703320"/>
            <a:ext cx="960120" cy="640080"/>
          </a:xfrm>
          <a:prstGeom prst="line">
            <a:avLst/>
          </a:prstGeom>
          <a:ln w="25400">
            <a:solidFill>
              <a:srgbClr val="4BA3C3"/>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732520" y="2331720"/>
            <a:ext cx="2880360" cy="164592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0" y="2578608"/>
            <a:ext cx="2423160" cy="1097280"/>
          </a:xfrm>
          <a:prstGeom prst="rect">
            <a:avLst/>
          </a:prstGeom>
          <a:noFill/>
        </p:spPr>
        <p:txBody>
          <a:bodyPr wrap="square" anchor="ctr" lIns="0" rIns="0" tIns="0" bIns="0">
            <a:spAutoFit/>
          </a:bodyPr>
          <a:lstStyle/>
          <a:p>
            <a:pPr algn="ctr"/>
            <a:r>
              <a:rPr sz="2100" b="1">
                <a:solidFill>
                  <a:srgbClr val="FFFFFF"/>
                </a:solidFill>
                <a:latin typeface="IBM Plex Sans"/>
              </a:rPr>
              <a:t>What does this have to do with AMD?</a:t>
            </a:r>
          </a:p>
        </p:txBody>
      </p:sp>
      <p:cxnSp>
        <p:nvCxnSpPr>
          <p:cNvPr id="18" name="Connector 17"/>
          <p:cNvCxnSpPr/>
          <p:nvPr/>
        </p:nvCxnSpPr>
        <p:spPr>
          <a:xfrm>
            <a:off x="7863840" y="3154680"/>
            <a:ext cx="868680" cy="0"/>
          </a:xfrm>
          <a:prstGeom prst="line">
            <a:avLst/>
          </a:prstGeom>
          <a:ln w="25400">
            <a:solidFill>
              <a:srgbClr val="4BA3C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94360" y="5650992"/>
            <a:ext cx="11018520" cy="502920"/>
          </a:xfrm>
          <a:prstGeom prst="rect">
            <a:avLst/>
          </a:prstGeom>
          <a:noFill/>
        </p:spPr>
        <p:txBody>
          <a:bodyPr wrap="square" anchor="t" lIns="0" rIns="0" tIns="0" bIns="0">
            <a:spAutoFit/>
          </a:bodyPr>
          <a:lstStyle/>
          <a:p>
            <a:pPr algn="ctr"/>
            <a:r>
              <a:rPr sz="2600" b="1">
                <a:solidFill>
                  <a:srgbClr val="FFFFFF"/>
                </a:solidFill>
                <a:latin typeface="IBM Plex Sans"/>
              </a:rPr>
              <a:t>What is the point of the demo?</a:t>
            </a:r>
          </a:p>
        </p:txBody>
      </p:sp>
      <p:sp>
        <p:nvSpPr>
          <p:cNvPr id="20" name="TextBox 19"/>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5BFD2"/>
                </a:solidFill>
                <a:latin typeface="IBM Plex Sans"/>
              </a:rPr>
              <a:t>AMD on Wheels NZ  ·  together we advance</a:t>
            </a:r>
          </a:p>
        </p:txBody>
      </p:sp>
      <p:sp>
        <p:nvSpPr>
          <p:cNvPr id="21" name="TextBox 20"/>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5BFD2"/>
                </a:solidFill>
                <a:latin typeface="IBM Plex San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4BA3C3"/>
                </a:solidFill>
                <a:latin typeface="IBM Plex Sans"/>
              </a:rPr>
              <a:t>WHAT IT ACTUALLY IS</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000" b="1">
                <a:solidFill>
                  <a:srgbClr val="FFFFFF"/>
                </a:solidFill>
                <a:latin typeface="IBM Plex Sans"/>
              </a:rPr>
              <a:t>The keyboard makes no sound at all</a:t>
            </a:r>
          </a:p>
        </p:txBody>
      </p:sp>
      <p:sp>
        <p:nvSpPr>
          <p:cNvPr id="6" name="Rounded Rectangle 5"/>
          <p:cNvSpPr/>
          <p:nvPr/>
        </p:nvSpPr>
        <p:spPr>
          <a:xfrm>
            <a:off x="594360" y="1920240"/>
            <a:ext cx="2926080" cy="297180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148840"/>
            <a:ext cx="2468880" cy="457200"/>
          </a:xfrm>
          <a:prstGeom prst="rect">
            <a:avLst/>
          </a:prstGeom>
          <a:noFill/>
        </p:spPr>
        <p:txBody>
          <a:bodyPr wrap="square" anchor="t" lIns="0" rIns="0" tIns="0" bIns="0">
            <a:spAutoFit/>
          </a:bodyPr>
          <a:lstStyle/>
          <a:p>
            <a:pPr algn="ctr"/>
            <a:r>
              <a:rPr sz="1800" b="1">
                <a:solidFill>
                  <a:srgbClr val="4BA3C3"/>
                </a:solidFill>
                <a:latin typeface="IBM Plex Sans"/>
              </a:rPr>
              <a:t>MIDI CONTROLLER</a:t>
            </a:r>
          </a:p>
        </p:txBody>
      </p:sp>
      <p:sp>
        <p:nvSpPr>
          <p:cNvPr id="8" name="Rectangle 7"/>
          <p:cNvSpPr/>
          <p:nvPr/>
        </p:nvSpPr>
        <p:spPr>
          <a:xfrm>
            <a:off x="914400" y="2907792"/>
            <a:ext cx="237744" cy="960120"/>
          </a:xfrm>
          <a:prstGeom prst="rect">
            <a:avLst/>
          </a:prstGeom>
          <a:solidFill>
            <a:srgbClr val="FFFFFF"/>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88720" y="2907792"/>
            <a:ext cx="237744" cy="960120"/>
          </a:xfrm>
          <a:prstGeom prst="rect">
            <a:avLst/>
          </a:prstGeom>
          <a:solidFill>
            <a:srgbClr val="FFFFFF"/>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63040" y="2907792"/>
            <a:ext cx="237744" cy="960120"/>
          </a:xfrm>
          <a:prstGeom prst="rect">
            <a:avLst/>
          </a:prstGeom>
          <a:solidFill>
            <a:srgbClr val="FFFFFF"/>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37360" y="2907792"/>
            <a:ext cx="237744" cy="960120"/>
          </a:xfrm>
          <a:prstGeom prst="rect">
            <a:avLst/>
          </a:prstGeom>
          <a:solidFill>
            <a:srgbClr val="FFFFFF"/>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11680" y="2907792"/>
            <a:ext cx="237744" cy="960120"/>
          </a:xfrm>
          <a:prstGeom prst="rect">
            <a:avLst/>
          </a:prstGeom>
          <a:solidFill>
            <a:srgbClr val="FFFFFF"/>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0" y="2907792"/>
            <a:ext cx="237744" cy="960120"/>
          </a:xfrm>
          <a:prstGeom prst="rect">
            <a:avLst/>
          </a:prstGeom>
          <a:solidFill>
            <a:srgbClr val="FFFFFF"/>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60320" y="2907792"/>
            <a:ext cx="237744" cy="960120"/>
          </a:xfrm>
          <a:prstGeom prst="rect">
            <a:avLst/>
          </a:prstGeom>
          <a:solidFill>
            <a:srgbClr val="FFFFFF"/>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07792"/>
            <a:ext cx="237744" cy="960120"/>
          </a:xfrm>
          <a:prstGeom prst="rect">
            <a:avLst/>
          </a:prstGeom>
          <a:solidFill>
            <a:srgbClr val="FFFFFF"/>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06424" y="2907792"/>
            <a:ext cx="155448" cy="566928"/>
          </a:xfrm>
          <a:prstGeom prst="rect">
            <a:avLst/>
          </a:prstGeom>
          <a:solidFill>
            <a:srgbClr val="071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380744" y="2907792"/>
            <a:ext cx="155448" cy="566928"/>
          </a:xfrm>
          <a:prstGeom prst="rect">
            <a:avLst/>
          </a:prstGeom>
          <a:solidFill>
            <a:srgbClr val="071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929384" y="2907792"/>
            <a:ext cx="155448" cy="566928"/>
          </a:xfrm>
          <a:prstGeom prst="rect">
            <a:avLst/>
          </a:prstGeom>
          <a:solidFill>
            <a:srgbClr val="071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203704" y="2907792"/>
            <a:ext cx="155448" cy="566928"/>
          </a:xfrm>
          <a:prstGeom prst="rect">
            <a:avLst/>
          </a:prstGeom>
          <a:solidFill>
            <a:srgbClr val="071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478024" y="2907792"/>
            <a:ext cx="155448" cy="566928"/>
          </a:xfrm>
          <a:prstGeom prst="rect">
            <a:avLst/>
          </a:prstGeom>
          <a:solidFill>
            <a:srgbClr val="071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187952"/>
            <a:ext cx="2377440" cy="347472"/>
          </a:xfrm>
          <a:prstGeom prst="rect">
            <a:avLst/>
          </a:prstGeom>
          <a:noFill/>
        </p:spPr>
        <p:txBody>
          <a:bodyPr wrap="square" anchor="t" lIns="0" rIns="0" tIns="0" bIns="0">
            <a:spAutoFit/>
          </a:bodyPr>
          <a:lstStyle/>
          <a:p>
            <a:pPr algn="ctr"/>
            <a:r>
              <a:rPr sz="1400" b="0">
                <a:solidFill>
                  <a:srgbClr val="B5BFD2"/>
                </a:solidFill>
                <a:latin typeface="IBM Plex Sans"/>
              </a:rPr>
              <a:t>keys and dials only</a:t>
            </a:r>
          </a:p>
        </p:txBody>
      </p:sp>
      <p:cxnSp>
        <p:nvCxnSpPr>
          <p:cNvPr id="22" name="Connector 21"/>
          <p:cNvCxnSpPr/>
          <p:nvPr/>
        </p:nvCxnSpPr>
        <p:spPr>
          <a:xfrm>
            <a:off x="3520440" y="3246120"/>
            <a:ext cx="1143000" cy="0"/>
          </a:xfrm>
          <a:prstGeom prst="line">
            <a:avLst/>
          </a:prstGeom>
          <a:ln w="25400">
            <a:solidFill>
              <a:srgbClr val="4BA3C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57600" y="2148840"/>
            <a:ext cx="914400" cy="256032"/>
          </a:xfrm>
          <a:prstGeom prst="rect">
            <a:avLst/>
          </a:prstGeom>
          <a:noFill/>
        </p:spPr>
        <p:txBody>
          <a:bodyPr wrap="square" anchor="t" lIns="0" rIns="0" tIns="0" bIns="0">
            <a:spAutoFit/>
          </a:bodyPr>
          <a:lstStyle/>
          <a:p>
            <a:pPr algn="ctr"/>
            <a:r>
              <a:rPr sz="1300" b="1">
                <a:solidFill>
                  <a:srgbClr val="4BA3C3"/>
                </a:solidFill>
                <a:latin typeface="IBM Plex Sans"/>
              </a:rPr>
              <a:t>MIDI</a:t>
            </a:r>
          </a:p>
        </p:txBody>
      </p:sp>
      <p:sp>
        <p:nvSpPr>
          <p:cNvPr id="24" name="TextBox 23"/>
          <p:cNvSpPr txBox="1"/>
          <p:nvPr/>
        </p:nvSpPr>
        <p:spPr>
          <a:xfrm>
            <a:off x="3657600" y="2487168"/>
            <a:ext cx="914400" cy="1234440"/>
          </a:xfrm>
          <a:prstGeom prst="rect">
            <a:avLst/>
          </a:prstGeom>
          <a:noFill/>
        </p:spPr>
        <p:txBody>
          <a:bodyPr wrap="square" anchor="t" lIns="0" rIns="0" tIns="0" bIns="0">
            <a:spAutoFit/>
          </a:bodyPr>
          <a:lstStyle/>
          <a:p>
            <a:pPr algn="ctr"/>
            <a:r>
              <a:rPr sz="1200" b="1">
                <a:solidFill>
                  <a:srgbClr val="FFFFFF"/>
                </a:solidFill>
                <a:latin typeface="IBM Plex Sans"/>
              </a:rPr>
              <a:t>KEY 60</a:t>
            </a:r>
          </a:p>
          <a:p>
            <a:pPr algn="ctr"/>
            <a:r>
              <a:rPr sz="1200" b="1">
                <a:solidFill>
                  <a:srgbClr val="FFFFFF"/>
                </a:solidFill>
                <a:latin typeface="IBM Plex Sans"/>
              </a:rPr>
              <a:t>ON</a:t>
            </a:r>
          </a:p>
          <a:p>
            <a:pPr algn="ctr"/>
            <a:r>
              <a:rPr sz="1200" b="1">
                <a:solidFill>
                  <a:srgbClr val="FFFFFF"/>
                </a:solidFill>
                <a:latin typeface="IBM Plex Sans"/>
              </a:rPr>
              <a:t/>
            </a:r>
          </a:p>
          <a:p>
            <a:pPr algn="ctr"/>
            <a:r>
              <a:rPr sz="1200" b="1">
                <a:solidFill>
                  <a:srgbClr val="FFFFFF"/>
                </a:solidFill>
                <a:latin typeface="IBM Plex Sans"/>
              </a:rPr>
              <a:t>DIAL 1</a:t>
            </a:r>
          </a:p>
          <a:p>
            <a:pPr algn="ctr"/>
            <a:r>
              <a:rPr sz="1200" b="1">
                <a:solidFill>
                  <a:srgbClr val="FFFFFF"/>
                </a:solidFill>
                <a:latin typeface="IBM Plex Sans"/>
              </a:rPr>
              <a:t>= 87</a:t>
            </a:r>
          </a:p>
        </p:txBody>
      </p:sp>
      <p:sp>
        <p:nvSpPr>
          <p:cNvPr id="25" name="TextBox 24"/>
          <p:cNvSpPr txBox="1"/>
          <p:nvPr/>
        </p:nvSpPr>
        <p:spPr>
          <a:xfrm>
            <a:off x="3657600" y="4005072"/>
            <a:ext cx="914400" cy="502920"/>
          </a:xfrm>
          <a:prstGeom prst="rect">
            <a:avLst/>
          </a:prstGeom>
          <a:noFill/>
        </p:spPr>
        <p:txBody>
          <a:bodyPr wrap="square" anchor="t" lIns="0" rIns="0" tIns="0" bIns="0">
            <a:spAutoFit/>
          </a:bodyPr>
          <a:lstStyle/>
          <a:p>
            <a:pPr algn="ctr"/>
            <a:r>
              <a:rPr sz="1300" b="0">
                <a:solidFill>
                  <a:srgbClr val="B5BFD2"/>
                </a:solidFill>
                <a:latin typeface="IBM Plex Sans"/>
              </a:rPr>
              <a:t>just bytes</a:t>
            </a:r>
          </a:p>
        </p:txBody>
      </p:sp>
      <p:sp>
        <p:nvSpPr>
          <p:cNvPr id="26" name="Rounded Rectangle 25"/>
          <p:cNvSpPr/>
          <p:nvPr/>
        </p:nvSpPr>
        <p:spPr>
          <a:xfrm>
            <a:off x="4663440" y="1828800"/>
            <a:ext cx="3703320" cy="315468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0" y="2057400"/>
            <a:ext cx="3154680" cy="384048"/>
          </a:xfrm>
          <a:prstGeom prst="rect">
            <a:avLst/>
          </a:prstGeom>
          <a:noFill/>
        </p:spPr>
        <p:txBody>
          <a:bodyPr wrap="square" anchor="t" lIns="0" rIns="0" tIns="0" bIns="0">
            <a:spAutoFit/>
          </a:bodyPr>
          <a:lstStyle/>
          <a:p>
            <a:pPr algn="ctr"/>
            <a:r>
              <a:rPr sz="1800" b="1">
                <a:solidFill>
                  <a:srgbClr val="4BA3C3"/>
                </a:solidFill>
                <a:latin typeface="IBM Plex Sans"/>
              </a:rPr>
              <a:t>THE AMD KRIA BOARD</a:t>
            </a:r>
          </a:p>
        </p:txBody>
      </p:sp>
      <p:sp>
        <p:nvSpPr>
          <p:cNvPr id="28" name="Rounded Rectangle 27"/>
          <p:cNvSpPr/>
          <p:nvPr/>
        </p:nvSpPr>
        <p:spPr>
          <a:xfrm>
            <a:off x="5120640" y="2761488"/>
            <a:ext cx="1188720" cy="1143000"/>
          </a:xfrm>
          <a:prstGeom prst="roundRect">
            <a:avLst>
              <a:gd name="adj" fmla="val 4000"/>
            </a:avLst>
          </a:prstGeom>
          <a:solidFill>
            <a:srgbClr val="07102A"/>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30368" y="3090672"/>
            <a:ext cx="969264" cy="292608"/>
          </a:xfrm>
          <a:prstGeom prst="rect">
            <a:avLst/>
          </a:prstGeom>
          <a:noFill/>
        </p:spPr>
        <p:txBody>
          <a:bodyPr wrap="square" anchor="t" lIns="0" rIns="0" tIns="0" bIns="0">
            <a:spAutoFit/>
          </a:bodyPr>
          <a:lstStyle/>
          <a:p>
            <a:pPr algn="ctr"/>
            <a:r>
              <a:rPr sz="1400" b="1">
                <a:solidFill>
                  <a:srgbClr val="FFFFFF"/>
                </a:solidFill>
                <a:latin typeface="IBM Plex Sans"/>
              </a:rPr>
              <a:t>K26 SOM</a:t>
            </a:r>
          </a:p>
        </p:txBody>
      </p:sp>
      <p:sp>
        <p:nvSpPr>
          <p:cNvPr id="30" name="Rounded Rectangle 29"/>
          <p:cNvSpPr/>
          <p:nvPr/>
        </p:nvSpPr>
        <p:spPr>
          <a:xfrm>
            <a:off x="6537960" y="2761488"/>
            <a:ext cx="1325880" cy="502920"/>
          </a:xfrm>
          <a:prstGeom prst="roundRect">
            <a:avLst>
              <a:gd name="adj" fmla="val 4000"/>
            </a:avLst>
          </a:prstGeom>
          <a:solidFill>
            <a:srgbClr val="07102A"/>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37960" y="3429000"/>
            <a:ext cx="1325880" cy="475488"/>
          </a:xfrm>
          <a:prstGeom prst="roundRect">
            <a:avLst>
              <a:gd name="adj" fmla="val 4000"/>
            </a:avLst>
          </a:prstGeom>
          <a:solidFill>
            <a:srgbClr val="07102A"/>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2898648"/>
            <a:ext cx="1325880" cy="201168"/>
          </a:xfrm>
          <a:prstGeom prst="rect">
            <a:avLst/>
          </a:prstGeom>
          <a:noFill/>
        </p:spPr>
        <p:txBody>
          <a:bodyPr wrap="square" anchor="t" lIns="0" rIns="0" tIns="0" bIns="0">
            <a:spAutoFit/>
          </a:bodyPr>
          <a:lstStyle/>
          <a:p>
            <a:pPr algn="ctr"/>
            <a:r>
              <a:rPr sz="1000" b="1">
                <a:solidFill>
                  <a:srgbClr val="FFFFFF"/>
                </a:solidFill>
                <a:latin typeface="IBM Plex Sans"/>
              </a:rPr>
              <a:t>ARM CORES</a:t>
            </a:r>
          </a:p>
        </p:txBody>
      </p:sp>
      <p:sp>
        <p:nvSpPr>
          <p:cNvPr id="33" name="TextBox 32"/>
          <p:cNvSpPr txBox="1"/>
          <p:nvPr/>
        </p:nvSpPr>
        <p:spPr>
          <a:xfrm>
            <a:off x="6537960" y="3557016"/>
            <a:ext cx="1325880" cy="201168"/>
          </a:xfrm>
          <a:prstGeom prst="rect">
            <a:avLst/>
          </a:prstGeom>
          <a:noFill/>
        </p:spPr>
        <p:txBody>
          <a:bodyPr wrap="square" anchor="t" lIns="0" rIns="0" tIns="0" bIns="0">
            <a:spAutoFit/>
          </a:bodyPr>
          <a:lstStyle/>
          <a:p>
            <a:pPr algn="ctr"/>
            <a:r>
              <a:rPr sz="1000" b="1">
                <a:solidFill>
                  <a:srgbClr val="FFFFFF"/>
                </a:solidFill>
                <a:latin typeface="IBM Plex Sans"/>
              </a:rPr>
              <a:t>FPGA LOGIC</a:t>
            </a:r>
          </a:p>
        </p:txBody>
      </p:sp>
      <p:sp>
        <p:nvSpPr>
          <p:cNvPr id="34" name="TextBox 33"/>
          <p:cNvSpPr txBox="1"/>
          <p:nvPr/>
        </p:nvSpPr>
        <p:spPr>
          <a:xfrm>
            <a:off x="5029200" y="4251960"/>
            <a:ext cx="3337560" cy="384048"/>
          </a:xfrm>
          <a:prstGeom prst="rect">
            <a:avLst/>
          </a:prstGeom>
          <a:noFill/>
        </p:spPr>
        <p:txBody>
          <a:bodyPr wrap="square" anchor="t" lIns="0" rIns="0" tIns="0" bIns="0">
            <a:spAutoFit/>
          </a:bodyPr>
          <a:lstStyle/>
          <a:p>
            <a:pPr algn="ctr"/>
            <a:r>
              <a:rPr sz="1400" b="1">
                <a:solidFill>
                  <a:srgbClr val="FFFFFF"/>
                </a:solidFill>
                <a:latin typeface="IBM Plex Sans"/>
              </a:rPr>
              <a:t>this is where the sound is made</a:t>
            </a:r>
          </a:p>
        </p:txBody>
      </p:sp>
      <p:cxnSp>
        <p:nvCxnSpPr>
          <p:cNvPr id="35" name="Connector 34"/>
          <p:cNvCxnSpPr/>
          <p:nvPr/>
        </p:nvCxnSpPr>
        <p:spPr>
          <a:xfrm>
            <a:off x="8366760" y="3246120"/>
            <a:ext cx="914400" cy="0"/>
          </a:xfrm>
          <a:prstGeom prst="line">
            <a:avLst/>
          </a:prstGeom>
          <a:ln w="25400">
            <a:solidFill>
              <a:srgbClr val="4BA3C3"/>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9281160" y="2148840"/>
            <a:ext cx="2331720" cy="214884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528048" y="2450592"/>
            <a:ext cx="1828800" cy="411480"/>
          </a:xfrm>
          <a:prstGeom prst="rect">
            <a:avLst/>
          </a:prstGeom>
          <a:noFill/>
        </p:spPr>
        <p:txBody>
          <a:bodyPr wrap="square" anchor="t" lIns="0" rIns="0" tIns="0" bIns="0">
            <a:spAutoFit/>
          </a:bodyPr>
          <a:lstStyle/>
          <a:p>
            <a:pPr algn="ctr"/>
            <a:r>
              <a:rPr sz="2200" b="1">
                <a:solidFill>
                  <a:srgbClr val="4BA3C3"/>
                </a:solidFill>
                <a:latin typeface="IBM Plex Sans"/>
              </a:rPr>
              <a:t>SOUND</a:t>
            </a:r>
          </a:p>
        </p:txBody>
      </p:sp>
      <p:sp>
        <p:nvSpPr>
          <p:cNvPr id="38" name="TextBox 37"/>
          <p:cNvSpPr txBox="1"/>
          <p:nvPr/>
        </p:nvSpPr>
        <p:spPr>
          <a:xfrm>
            <a:off x="9528048" y="3063240"/>
            <a:ext cx="1828800" cy="731520"/>
          </a:xfrm>
          <a:prstGeom prst="rect">
            <a:avLst/>
          </a:prstGeom>
          <a:noFill/>
        </p:spPr>
        <p:txBody>
          <a:bodyPr wrap="square" anchor="t" lIns="0" rIns="0" tIns="0" bIns="0">
            <a:spAutoFit/>
          </a:bodyPr>
          <a:lstStyle/>
          <a:p>
            <a:pPr algn="ctr"/>
            <a:r>
              <a:rPr sz="1600" b="1">
                <a:solidFill>
                  <a:srgbClr val="FFFFFF"/>
                </a:solidFill>
                <a:latin typeface="IBM Plex Sans"/>
              </a:rPr>
              <a:t>audio samples</a:t>
            </a:r>
          </a:p>
          <a:p>
            <a:pPr algn="ctr"/>
            <a:r>
              <a:rPr sz="1600" b="1">
                <a:solidFill>
                  <a:srgbClr val="FFFFFF"/>
                </a:solidFill>
                <a:latin typeface="IBM Plex Sans"/>
              </a:rPr>
              <a:t>to the speakers</a:t>
            </a:r>
          </a:p>
        </p:txBody>
      </p:sp>
      <p:sp>
        <p:nvSpPr>
          <p:cNvPr id="39" name="TextBox 38"/>
          <p:cNvSpPr txBox="1"/>
          <p:nvPr/>
        </p:nvSpPr>
        <p:spPr>
          <a:xfrm>
            <a:off x="594360" y="5559552"/>
            <a:ext cx="10972800" cy="502920"/>
          </a:xfrm>
          <a:prstGeom prst="rect">
            <a:avLst/>
          </a:prstGeom>
          <a:noFill/>
        </p:spPr>
        <p:txBody>
          <a:bodyPr wrap="square" anchor="t" lIns="0" rIns="0" tIns="0" bIns="0">
            <a:spAutoFit/>
          </a:bodyPr>
          <a:lstStyle/>
          <a:p>
            <a:pPr algn="ctr"/>
            <a:r>
              <a:rPr sz="2300" b="1">
                <a:solidFill>
                  <a:srgbClr val="FFFFFF"/>
                </a:solidFill>
                <a:latin typeface="IBM Plex Sans"/>
              </a:rPr>
              <a:t>The controller sends instructions. The AMD board creates the instrument.</a:t>
            </a:r>
          </a:p>
        </p:txBody>
      </p:sp>
      <p:sp>
        <p:nvSpPr>
          <p:cNvPr id="40" name="TextBox 39"/>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5BFD2"/>
                </a:solidFill>
                <a:latin typeface="IBM Plex Sans"/>
              </a:rPr>
              <a:t>AMD on Wheels NZ  ·  together we advance</a:t>
            </a:r>
          </a:p>
        </p:txBody>
      </p:sp>
      <p:sp>
        <p:nvSpPr>
          <p:cNvPr id="41" name="TextBox 40"/>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5BFD2"/>
                </a:solidFill>
                <a:latin typeface="IBM Plex San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kria-k26-overview.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6565392"/>
            <a:ext cx="594360" cy="292608"/>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01168" y="6601968"/>
            <a:ext cx="274320" cy="164592"/>
          </a:xfrm>
          <a:prstGeom prst="rect">
            <a:avLst/>
          </a:prstGeom>
          <a:noFill/>
        </p:spPr>
        <p:txBody>
          <a:bodyPr wrap="square" anchor="t" lIns="0" rIns="0" tIns="0" bIns="0">
            <a:spAutoFit/>
          </a:bodyPr>
          <a:lstStyle/>
          <a:p>
            <a:pPr algn="ctr"/>
            <a:r>
              <a:rPr sz="900" b="0">
                <a:solidFill>
                  <a:srgbClr val="B5BFD2"/>
                </a:solidFill>
                <a:latin typeface="IBM Plex San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4BA3C3"/>
                </a:solidFill>
                <a:latin typeface="IBM Plex Sans"/>
              </a:rPr>
              <a:t>INSIDE THE GREEN BOARD</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000" b="1">
                <a:solidFill>
                  <a:srgbClr val="FFFFFF"/>
                </a:solidFill>
                <a:latin typeface="IBM Plex Sans"/>
              </a:rPr>
              <a:t>K26 programmable logic becomes your machine</a:t>
            </a:r>
          </a:p>
        </p:txBody>
      </p:sp>
      <p:pic>
        <p:nvPicPr>
          <p:cNvPr id="6" name="Picture 5" descr="lego_col-799x521-07102a-4ba3c3.jpg"/>
          <p:cNvPicPr>
            <a:picLocks noChangeAspect="1"/>
          </p:cNvPicPr>
          <p:nvPr/>
        </p:nvPicPr>
        <p:blipFill>
          <a:blip r:embed="rId3"/>
          <a:stretch>
            <a:fillRect/>
          </a:stretch>
        </p:blipFill>
        <p:spPr>
          <a:xfrm>
            <a:off x="658368" y="1664208"/>
            <a:ext cx="5074920" cy="3310128"/>
          </a:xfrm>
          <a:prstGeom prst="rect">
            <a:avLst/>
          </a:prstGeom>
        </p:spPr>
      </p:pic>
      <p:sp>
        <p:nvSpPr>
          <p:cNvPr id="7" name="TextBox 6"/>
          <p:cNvSpPr txBox="1"/>
          <p:nvPr/>
        </p:nvSpPr>
        <p:spPr>
          <a:xfrm>
            <a:off x="658368" y="5138928"/>
            <a:ext cx="5074920" cy="310896"/>
          </a:xfrm>
          <a:prstGeom prst="rect">
            <a:avLst/>
          </a:prstGeom>
          <a:noFill/>
        </p:spPr>
        <p:txBody>
          <a:bodyPr wrap="square" anchor="t" lIns="0" rIns="0" tIns="0" bIns="0">
            <a:spAutoFit/>
          </a:bodyPr>
          <a:lstStyle/>
          <a:p>
            <a:pPr algn="l"/>
            <a:r>
              <a:rPr sz="1300" b="1">
                <a:solidFill>
                  <a:srgbClr val="4BA3C3"/>
                </a:solidFill>
                <a:latin typeface="IBM Plex Sans"/>
              </a:rPr>
              <a:t>CPU: A FINISHED MACHINE</a:t>
            </a:r>
          </a:p>
        </p:txBody>
      </p:sp>
      <p:sp>
        <p:nvSpPr>
          <p:cNvPr id="8" name="TextBox 7"/>
          <p:cNvSpPr txBox="1"/>
          <p:nvPr/>
        </p:nvSpPr>
        <p:spPr>
          <a:xfrm>
            <a:off x="5879592" y="2971800"/>
            <a:ext cx="438912" cy="548640"/>
          </a:xfrm>
          <a:prstGeom prst="rect">
            <a:avLst/>
          </a:prstGeom>
          <a:noFill/>
        </p:spPr>
        <p:txBody>
          <a:bodyPr wrap="square" anchor="t" lIns="0" rIns="0" tIns="0" bIns="0">
            <a:spAutoFit/>
          </a:bodyPr>
          <a:lstStyle/>
          <a:p>
            <a:pPr algn="ctr"/>
            <a:r>
              <a:rPr sz="2800" b="1">
                <a:solidFill>
                  <a:srgbClr val="FFFFFF"/>
                </a:solidFill>
                <a:latin typeface="IBM Plex Sans"/>
              </a:rPr>
              <a:t>→</a:t>
            </a:r>
          </a:p>
        </p:txBody>
      </p:sp>
      <p:pic>
        <p:nvPicPr>
          <p:cNvPr id="9" name="Picture 8" descr="lego_pile-799x521-07102a-4ba3c3.jpg"/>
          <p:cNvPicPr>
            <a:picLocks noChangeAspect="1"/>
          </p:cNvPicPr>
          <p:nvPr/>
        </p:nvPicPr>
        <p:blipFill>
          <a:blip r:embed="rId4"/>
          <a:stretch>
            <a:fillRect/>
          </a:stretch>
        </p:blipFill>
        <p:spPr>
          <a:xfrm>
            <a:off x="6446520" y="1664208"/>
            <a:ext cx="5074920" cy="3310128"/>
          </a:xfrm>
          <a:prstGeom prst="rect">
            <a:avLst/>
          </a:prstGeom>
        </p:spPr>
      </p:pic>
      <p:sp>
        <p:nvSpPr>
          <p:cNvPr id="10" name="TextBox 9"/>
          <p:cNvSpPr txBox="1"/>
          <p:nvPr/>
        </p:nvSpPr>
        <p:spPr>
          <a:xfrm>
            <a:off x="6446520" y="5138928"/>
            <a:ext cx="5074920" cy="310896"/>
          </a:xfrm>
          <a:prstGeom prst="rect">
            <a:avLst/>
          </a:prstGeom>
          <a:noFill/>
        </p:spPr>
        <p:txBody>
          <a:bodyPr wrap="square" anchor="t" lIns="0" rIns="0" tIns="0" bIns="0">
            <a:spAutoFit/>
          </a:bodyPr>
          <a:lstStyle/>
          <a:p>
            <a:pPr algn="l"/>
            <a:r>
              <a:rPr sz="1300" b="1">
                <a:solidFill>
                  <a:srgbClr val="4BA3C3"/>
                </a:solidFill>
                <a:latin typeface="IBM Plex Sans"/>
              </a:rPr>
              <a:t>K26 PL: BUILDING BLOCKS</a:t>
            </a:r>
          </a:p>
        </p:txBody>
      </p:sp>
      <p:sp>
        <p:nvSpPr>
          <p:cNvPr id="11" name="TextBox 10"/>
          <p:cNvSpPr txBox="1"/>
          <p:nvPr/>
        </p:nvSpPr>
        <p:spPr>
          <a:xfrm>
            <a:off x="658368" y="5486400"/>
            <a:ext cx="10863072" cy="475488"/>
          </a:xfrm>
          <a:prstGeom prst="rect">
            <a:avLst/>
          </a:prstGeom>
          <a:noFill/>
        </p:spPr>
        <p:txBody>
          <a:bodyPr wrap="square" anchor="t" lIns="0" rIns="0" tIns="0" bIns="0">
            <a:spAutoFit/>
          </a:bodyPr>
          <a:lstStyle/>
          <a:p>
            <a:pPr algn="l"/>
            <a:r>
              <a:rPr sz="2100" b="1">
                <a:solidFill>
                  <a:srgbClr val="FFFFFF"/>
                </a:solidFill>
                <a:latin typeface="IBM Plex Sans"/>
              </a:rPr>
              <a:t>Arm cores run instructions. K26 programmable logic becomes the circuit.</a:t>
            </a:r>
          </a:p>
        </p:txBody>
      </p:sp>
      <p:sp>
        <p:nvSpPr>
          <p:cNvPr id="12" name="TextBox 11"/>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5BFD2"/>
                </a:solidFill>
                <a:latin typeface="IBM Plex Sans"/>
              </a:rPr>
              <a:t>AMD on Wheels NZ  ·  together we advance</a:t>
            </a:r>
          </a:p>
        </p:txBody>
      </p:sp>
      <p:sp>
        <p:nvSpPr>
          <p:cNvPr id="13" name="TextBox 12"/>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5BFD2"/>
                </a:solidFill>
                <a:latin typeface="IBM Plex San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4BA3C3"/>
                </a:solidFill>
                <a:latin typeface="IBM Plex Sans"/>
              </a:rPr>
              <a:t>WHY WOULD YOU WANT THAT?</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100" b="1">
                <a:solidFill>
                  <a:srgbClr val="FFFFFF"/>
                </a:solidFill>
                <a:latin typeface="IBM Plex Sans"/>
              </a:rPr>
              <a:t>Configure exactly the hardware you need</a:t>
            </a:r>
          </a:p>
        </p:txBody>
      </p:sp>
      <p:pic>
        <p:nvPicPr>
          <p:cNvPr id="6" name="Picture 5" descr="lego_car-799x521-07102a-4ba3c3.jpg"/>
          <p:cNvPicPr>
            <a:picLocks noChangeAspect="1"/>
          </p:cNvPicPr>
          <p:nvPr/>
        </p:nvPicPr>
        <p:blipFill>
          <a:blip r:embed="rId3"/>
          <a:stretch>
            <a:fillRect/>
          </a:stretch>
        </p:blipFill>
        <p:spPr>
          <a:xfrm>
            <a:off x="658368" y="1664208"/>
            <a:ext cx="5074920" cy="3310128"/>
          </a:xfrm>
          <a:prstGeom prst="rect">
            <a:avLst/>
          </a:prstGeom>
        </p:spPr>
      </p:pic>
      <p:sp>
        <p:nvSpPr>
          <p:cNvPr id="7" name="TextBox 6"/>
          <p:cNvSpPr txBox="1"/>
          <p:nvPr/>
        </p:nvSpPr>
        <p:spPr>
          <a:xfrm>
            <a:off x="658368" y="5138928"/>
            <a:ext cx="5074920" cy="274320"/>
          </a:xfrm>
          <a:prstGeom prst="rect">
            <a:avLst/>
          </a:prstGeom>
          <a:noFill/>
        </p:spPr>
        <p:txBody>
          <a:bodyPr wrap="square" anchor="t" lIns="0" rIns="0" tIns="0" bIns="0">
            <a:spAutoFit/>
          </a:bodyPr>
          <a:lstStyle/>
          <a:p>
            <a:pPr algn="l"/>
            <a:r>
              <a:rPr sz="1300" b="1">
                <a:solidFill>
                  <a:srgbClr val="4BA3C3"/>
                </a:solidFill>
                <a:latin typeface="IBM Plex Sans"/>
              </a:rPr>
              <a:t>K26 PL BUILDS THE MACHINE</a:t>
            </a:r>
          </a:p>
        </p:txBody>
      </p:sp>
      <p:sp>
        <p:nvSpPr>
          <p:cNvPr id="8" name="TextBox 7"/>
          <p:cNvSpPr txBox="1"/>
          <p:nvPr/>
        </p:nvSpPr>
        <p:spPr>
          <a:xfrm>
            <a:off x="658368" y="5440680"/>
            <a:ext cx="5074920" cy="457200"/>
          </a:xfrm>
          <a:prstGeom prst="rect">
            <a:avLst/>
          </a:prstGeom>
          <a:noFill/>
        </p:spPr>
        <p:txBody>
          <a:bodyPr wrap="square" anchor="t" lIns="0" rIns="0" tIns="0" bIns="0">
            <a:spAutoFit/>
          </a:bodyPr>
          <a:lstStyle/>
          <a:p>
            <a:pPr algn="l"/>
            <a:r>
              <a:rPr sz="2300" b="1">
                <a:solidFill>
                  <a:srgbClr val="FFFFFF"/>
                </a:solidFill>
                <a:latin typeface="IBM Plex Sans"/>
              </a:rPr>
              <a:t>Purpose-built hardware</a:t>
            </a:r>
          </a:p>
        </p:txBody>
      </p:sp>
      <p:sp>
        <p:nvSpPr>
          <p:cNvPr id="9" name="Rectangle 8"/>
          <p:cNvSpPr/>
          <p:nvPr/>
        </p:nvSpPr>
        <p:spPr>
          <a:xfrm>
            <a:off x="6089904" y="1737360"/>
            <a:ext cx="13716" cy="4160520"/>
          </a:xfrm>
          <a:prstGeom prst="rect">
            <a:avLst/>
          </a:prstGeom>
          <a:solidFill>
            <a:srgbClr val="B5B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ego_patch-799x521-07102a-4ba3c3.jpg"/>
          <p:cNvPicPr>
            <a:picLocks noChangeAspect="1"/>
          </p:cNvPicPr>
          <p:nvPr/>
        </p:nvPicPr>
        <p:blipFill>
          <a:blip r:embed="rId4"/>
          <a:stretch>
            <a:fillRect/>
          </a:stretch>
        </p:blipFill>
        <p:spPr>
          <a:xfrm>
            <a:off x="6446520" y="1664208"/>
            <a:ext cx="5074920" cy="3310128"/>
          </a:xfrm>
          <a:prstGeom prst="rect">
            <a:avLst/>
          </a:prstGeom>
        </p:spPr>
      </p:pic>
      <p:sp>
        <p:nvSpPr>
          <p:cNvPr id="11" name="TextBox 10"/>
          <p:cNvSpPr txBox="1"/>
          <p:nvPr/>
        </p:nvSpPr>
        <p:spPr>
          <a:xfrm>
            <a:off x="6446520" y="5138928"/>
            <a:ext cx="5074920" cy="320040"/>
          </a:xfrm>
          <a:prstGeom prst="rect">
            <a:avLst/>
          </a:prstGeom>
          <a:noFill/>
        </p:spPr>
        <p:txBody>
          <a:bodyPr wrap="square" anchor="t" lIns="0" rIns="0" tIns="0" bIns="0">
            <a:spAutoFit/>
          </a:bodyPr>
          <a:lstStyle/>
          <a:p>
            <a:pPr algn="l"/>
            <a:r>
              <a:rPr sz="1300" b="1">
                <a:solidFill>
                  <a:srgbClr val="4BA3C3"/>
                </a:solidFill>
                <a:latin typeface="IBM Plex Sans"/>
              </a:rPr>
              <a:t>K26 PL ADDS THE MISSING CAPABILITY</a:t>
            </a:r>
          </a:p>
        </p:txBody>
      </p:sp>
      <p:sp>
        <p:nvSpPr>
          <p:cNvPr id="12" name="TextBox 11"/>
          <p:cNvSpPr txBox="1"/>
          <p:nvPr/>
        </p:nvSpPr>
        <p:spPr>
          <a:xfrm>
            <a:off x="6446520" y="5440680"/>
            <a:ext cx="5074920" cy="457200"/>
          </a:xfrm>
          <a:prstGeom prst="rect">
            <a:avLst/>
          </a:prstGeom>
          <a:noFill/>
        </p:spPr>
        <p:txBody>
          <a:bodyPr wrap="square" anchor="t" lIns="0" rIns="0" tIns="0" bIns="0">
            <a:spAutoFit/>
          </a:bodyPr>
          <a:lstStyle/>
          <a:p>
            <a:pPr algn="l"/>
            <a:r>
              <a:rPr sz="2300" b="1">
                <a:solidFill>
                  <a:srgbClr val="FFFFFF"/>
                </a:solidFill>
                <a:latin typeface="IBM Plex Sans"/>
              </a:rPr>
              <a:t>Complete an existing system</a:t>
            </a:r>
          </a:p>
        </p:txBody>
      </p:sp>
      <p:sp>
        <p:nvSpPr>
          <p:cNvPr id="13" name="TextBox 12"/>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5BFD2"/>
                </a:solidFill>
                <a:latin typeface="IBM Plex Sans"/>
              </a:rPr>
              <a:t>AMD on Wheels NZ  ·  together we advance</a:t>
            </a:r>
          </a:p>
        </p:txBody>
      </p:sp>
      <p:sp>
        <p:nvSpPr>
          <p:cNvPr id="14" name="TextBox 13"/>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5BFD2"/>
                </a:solidFill>
                <a:latin typeface="IBM Plex San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4BA3C3"/>
                </a:solidFill>
                <a:latin typeface="IBM Plex Sans"/>
              </a:rPr>
              <a:t>WHY THIS APPLICATION</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2900" b="1">
                <a:solidFill>
                  <a:srgbClr val="FFFFFF"/>
                </a:solidFill>
                <a:latin typeface="IBM Plex Sans"/>
              </a:rPr>
              <a:t>K26 programmable logic excels at real-time DSP</a:t>
            </a:r>
          </a:p>
        </p:txBody>
      </p:sp>
      <p:sp>
        <p:nvSpPr>
          <p:cNvPr id="6" name="Rounded Rectangle 5"/>
          <p:cNvSpPr/>
          <p:nvPr/>
        </p:nvSpPr>
        <p:spPr>
          <a:xfrm>
            <a:off x="548640" y="1572768"/>
            <a:ext cx="6903720" cy="4096512"/>
          </a:xfrm>
          <a:prstGeom prst="roundRect">
            <a:avLst>
              <a:gd name="adj" fmla="val 4000"/>
            </a:avLst>
          </a:prstGeom>
          <a:solidFill>
            <a:srgbClr val="05091C"/>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hasearray-300x162-05091c-none.gif"/>
          <p:cNvPicPr>
            <a:picLocks noChangeAspect="1"/>
          </p:cNvPicPr>
          <p:nvPr/>
        </p:nvPicPr>
        <p:blipFill>
          <a:blip r:embed="rId3"/>
          <a:stretch>
            <a:fillRect/>
          </a:stretch>
        </p:blipFill>
        <p:spPr>
          <a:xfrm>
            <a:off x="900043" y="1888236"/>
            <a:ext cx="6181526" cy="3331799"/>
          </a:xfrm>
          <a:prstGeom prst="rect">
            <a:avLst/>
          </a:prstGeom>
        </p:spPr>
      </p:pic>
      <p:sp>
        <p:nvSpPr>
          <p:cNvPr id="8" name="TextBox 7"/>
          <p:cNvSpPr txBox="1"/>
          <p:nvPr/>
        </p:nvSpPr>
        <p:spPr>
          <a:xfrm>
            <a:off x="822960" y="5285232"/>
            <a:ext cx="6355080" cy="256032"/>
          </a:xfrm>
          <a:prstGeom prst="rect">
            <a:avLst/>
          </a:prstGeom>
          <a:noFill/>
        </p:spPr>
        <p:txBody>
          <a:bodyPr wrap="square" anchor="t" lIns="0" rIns="0" tIns="0" bIns="0">
            <a:spAutoFit/>
          </a:bodyPr>
          <a:lstStyle/>
          <a:p>
            <a:pPr algn="ctr"/>
            <a:r>
              <a:rPr sz="1300" b="1">
                <a:solidFill>
                  <a:srgbClr val="4BA3C3"/>
                </a:solidFill>
                <a:latin typeface="IBM Plex Sans"/>
              </a:rPr>
              <a:t>RADIO: enormous streams of samples, processed as they arrive</a:t>
            </a:r>
          </a:p>
        </p:txBody>
      </p:sp>
      <p:cxnSp>
        <p:nvCxnSpPr>
          <p:cNvPr id="9" name="Connector 8"/>
          <p:cNvCxnSpPr/>
          <p:nvPr/>
        </p:nvCxnSpPr>
        <p:spPr>
          <a:xfrm>
            <a:off x="7452360" y="3611880"/>
            <a:ext cx="365760" cy="0"/>
          </a:xfrm>
          <a:prstGeom prst="line">
            <a:avLst/>
          </a:prstGeom>
          <a:ln w="25400">
            <a:solidFill>
              <a:srgbClr val="4BA3C3"/>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818120" y="1572768"/>
            <a:ext cx="3822191" cy="4096512"/>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847088"/>
            <a:ext cx="3273552" cy="347472"/>
          </a:xfrm>
          <a:prstGeom prst="rect">
            <a:avLst/>
          </a:prstGeom>
          <a:noFill/>
        </p:spPr>
        <p:txBody>
          <a:bodyPr wrap="square" anchor="t" lIns="0" rIns="0" tIns="0" bIns="0">
            <a:spAutoFit/>
          </a:bodyPr>
          <a:lstStyle/>
          <a:p>
            <a:pPr algn="ctr"/>
            <a:r>
              <a:rPr sz="1700" b="1">
                <a:solidFill>
                  <a:srgbClr val="4BA3C3"/>
                </a:solidFill>
                <a:latin typeface="IBM Plex Sans"/>
              </a:rPr>
              <a:t>WHY K26 PL?</a:t>
            </a:r>
          </a:p>
        </p:txBody>
      </p:sp>
      <p:sp>
        <p:nvSpPr>
          <p:cNvPr id="12" name="Rounded Rectangle 11"/>
          <p:cNvSpPr/>
          <p:nvPr/>
        </p:nvSpPr>
        <p:spPr>
          <a:xfrm>
            <a:off x="8165592" y="2578608"/>
            <a:ext cx="3127248" cy="566928"/>
          </a:xfrm>
          <a:prstGeom prst="roundRect">
            <a:avLst>
              <a:gd name="adj" fmla="val 4000"/>
            </a:avLst>
          </a:prstGeom>
          <a:solidFill>
            <a:srgbClr val="05091C"/>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02752" y="2715768"/>
            <a:ext cx="2852928" cy="274320"/>
          </a:xfrm>
          <a:prstGeom prst="rect">
            <a:avLst/>
          </a:prstGeom>
          <a:noFill/>
        </p:spPr>
        <p:txBody>
          <a:bodyPr wrap="square" anchor="t" lIns="0" rIns="0" tIns="0" bIns="0">
            <a:spAutoFit/>
          </a:bodyPr>
          <a:lstStyle/>
          <a:p>
            <a:pPr algn="ctr"/>
            <a:r>
              <a:rPr sz="1300" b="1">
                <a:solidFill>
                  <a:srgbClr val="FFFFFF"/>
                </a:solidFill>
                <a:latin typeface="IBM Plex Sans"/>
              </a:rPr>
              <a:t>PARALLEL ARITHMETIC</a:t>
            </a:r>
          </a:p>
        </p:txBody>
      </p:sp>
      <p:sp>
        <p:nvSpPr>
          <p:cNvPr id="14" name="Rounded Rectangle 13"/>
          <p:cNvSpPr/>
          <p:nvPr/>
        </p:nvSpPr>
        <p:spPr>
          <a:xfrm>
            <a:off x="8165592" y="3364991"/>
            <a:ext cx="3127248" cy="566928"/>
          </a:xfrm>
          <a:prstGeom prst="roundRect">
            <a:avLst>
              <a:gd name="adj" fmla="val 4000"/>
            </a:avLst>
          </a:prstGeom>
          <a:solidFill>
            <a:srgbClr val="05091C"/>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02752" y="3502151"/>
            <a:ext cx="2852928" cy="274320"/>
          </a:xfrm>
          <a:prstGeom prst="rect">
            <a:avLst/>
          </a:prstGeom>
          <a:noFill/>
        </p:spPr>
        <p:txBody>
          <a:bodyPr wrap="square" anchor="t" lIns="0" rIns="0" tIns="0" bIns="0">
            <a:spAutoFit/>
          </a:bodyPr>
          <a:lstStyle/>
          <a:p>
            <a:pPr algn="ctr"/>
            <a:r>
              <a:rPr sz="1300" b="1">
                <a:solidFill>
                  <a:srgbClr val="FFFFFF"/>
                </a:solidFill>
                <a:latin typeface="IBM Plex Sans"/>
              </a:rPr>
              <a:t>STREAMING DATAFLOW</a:t>
            </a:r>
          </a:p>
        </p:txBody>
      </p:sp>
      <p:sp>
        <p:nvSpPr>
          <p:cNvPr id="16" name="Rounded Rectangle 15"/>
          <p:cNvSpPr/>
          <p:nvPr/>
        </p:nvSpPr>
        <p:spPr>
          <a:xfrm>
            <a:off x="8165592" y="4151376"/>
            <a:ext cx="3127248" cy="566928"/>
          </a:xfrm>
          <a:prstGeom prst="roundRect">
            <a:avLst>
              <a:gd name="adj" fmla="val 4000"/>
            </a:avLst>
          </a:prstGeom>
          <a:solidFill>
            <a:srgbClr val="05091C"/>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02752" y="4288536"/>
            <a:ext cx="2852928" cy="274320"/>
          </a:xfrm>
          <a:prstGeom prst="rect">
            <a:avLst/>
          </a:prstGeom>
          <a:noFill/>
        </p:spPr>
        <p:txBody>
          <a:bodyPr wrap="square" anchor="t" lIns="0" rIns="0" tIns="0" bIns="0">
            <a:spAutoFit/>
          </a:bodyPr>
          <a:lstStyle/>
          <a:p>
            <a:pPr algn="ctr"/>
            <a:r>
              <a:rPr sz="1300" b="1">
                <a:solidFill>
                  <a:srgbClr val="FFFFFF"/>
                </a:solidFill>
                <a:latin typeface="IBM Plex Sans"/>
              </a:rPr>
              <a:t>FIXED THROUGHPUT</a:t>
            </a:r>
          </a:p>
        </p:txBody>
      </p:sp>
      <p:sp>
        <p:nvSpPr>
          <p:cNvPr id="18" name="TextBox 17"/>
          <p:cNvSpPr txBox="1"/>
          <p:nvPr/>
        </p:nvSpPr>
        <p:spPr>
          <a:xfrm>
            <a:off x="8138160" y="5010912"/>
            <a:ext cx="3182112" cy="347472"/>
          </a:xfrm>
          <a:prstGeom prst="rect">
            <a:avLst/>
          </a:prstGeom>
          <a:noFill/>
        </p:spPr>
        <p:txBody>
          <a:bodyPr wrap="square" anchor="t" lIns="0" rIns="0" tIns="0" bIns="0">
            <a:spAutoFit/>
          </a:bodyPr>
          <a:lstStyle/>
          <a:p>
            <a:pPr algn="ctr"/>
            <a:r>
              <a:rPr sz="1400" b="1">
                <a:solidFill>
                  <a:srgbClr val="B5BFD2"/>
                </a:solidFill>
                <a:latin typeface="IBM Plex Sans"/>
              </a:rPr>
              <a:t>work keeps pace with the samples</a:t>
            </a:r>
          </a:p>
        </p:txBody>
      </p:sp>
      <p:sp>
        <p:nvSpPr>
          <p:cNvPr id="19" name="TextBox 18"/>
          <p:cNvSpPr txBox="1"/>
          <p:nvPr/>
        </p:nvSpPr>
        <p:spPr>
          <a:xfrm>
            <a:off x="594360" y="5916168"/>
            <a:ext cx="10972800" cy="365760"/>
          </a:xfrm>
          <a:prstGeom prst="rect">
            <a:avLst/>
          </a:prstGeom>
          <a:noFill/>
        </p:spPr>
        <p:txBody>
          <a:bodyPr wrap="square" anchor="t" lIns="0" rIns="0" tIns="0" bIns="0">
            <a:spAutoFit/>
          </a:bodyPr>
          <a:lstStyle/>
          <a:p>
            <a:pPr algn="ctr"/>
            <a:r>
              <a:rPr sz="1900" b="1">
                <a:solidFill>
                  <a:srgbClr val="FFFFFF"/>
                </a:solidFill>
                <a:latin typeface="IBM Plex Sans"/>
              </a:rPr>
              <a:t>DSP turns a stream of numbers into information — or into a new signal.</a:t>
            </a:r>
          </a:p>
        </p:txBody>
      </p:sp>
      <p:sp>
        <p:nvSpPr>
          <p:cNvPr id="20" name="TextBox 19"/>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5BFD2"/>
                </a:solidFill>
                <a:latin typeface="IBM Plex Sans"/>
              </a:rPr>
              <a:t>AMD on Wheels NZ  ·  together we advance</a:t>
            </a:r>
          </a:p>
        </p:txBody>
      </p:sp>
      <p:sp>
        <p:nvSpPr>
          <p:cNvPr id="21" name="TextBox 20"/>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5BFD2"/>
                </a:solidFill>
                <a:latin typeface="IBM Plex San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4BA3C3"/>
                </a:solidFill>
                <a:latin typeface="IBM Plex Sans"/>
              </a:rPr>
              <a:t>WHY K26 AUDIO</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000" b="1">
                <a:solidFill>
                  <a:srgbClr val="FFFFFF"/>
                </a:solidFill>
                <a:latin typeface="IBM Plex Sans"/>
              </a:rPr>
              <a:t>A CPU is fast — when audio gets its turn</a:t>
            </a:r>
          </a:p>
        </p:txBody>
      </p:sp>
      <p:sp>
        <p:nvSpPr>
          <p:cNvPr id="6" name="Rounded Rectangle 5"/>
          <p:cNvSpPr/>
          <p:nvPr/>
        </p:nvSpPr>
        <p:spPr>
          <a:xfrm>
            <a:off x="548640" y="1627632"/>
            <a:ext cx="3657600" cy="4041648"/>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47088"/>
            <a:ext cx="3108960" cy="347472"/>
          </a:xfrm>
          <a:prstGeom prst="rect">
            <a:avLst/>
          </a:prstGeom>
          <a:noFill/>
        </p:spPr>
        <p:txBody>
          <a:bodyPr wrap="square" anchor="t" lIns="0" rIns="0" tIns="0" bIns="0">
            <a:spAutoFit/>
          </a:bodyPr>
          <a:lstStyle/>
          <a:p>
            <a:pPr algn="ctr"/>
            <a:r>
              <a:rPr sz="1800" b="1">
                <a:solidFill>
                  <a:srgbClr val="4BA3C3"/>
                </a:solidFill>
                <a:latin typeface="IBM Plex Sans"/>
              </a:rPr>
              <a:t>THE CPU'S DAY</a:t>
            </a:r>
          </a:p>
        </p:txBody>
      </p:sp>
      <p:sp>
        <p:nvSpPr>
          <p:cNvPr id="8" name="Rounded Rectangle 7"/>
          <p:cNvSpPr/>
          <p:nvPr/>
        </p:nvSpPr>
        <p:spPr>
          <a:xfrm>
            <a:off x="914400" y="2423160"/>
            <a:ext cx="2926080" cy="283464"/>
          </a:xfrm>
          <a:prstGeom prst="roundRect">
            <a:avLst>
              <a:gd name="adj" fmla="val 4000"/>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2468879"/>
            <a:ext cx="2706624" cy="210311"/>
          </a:xfrm>
          <a:prstGeom prst="rect">
            <a:avLst/>
          </a:prstGeom>
          <a:noFill/>
        </p:spPr>
        <p:txBody>
          <a:bodyPr wrap="square" anchor="ctr" lIns="0" rIns="0" tIns="0" bIns="0">
            <a:spAutoFit/>
          </a:bodyPr>
          <a:lstStyle/>
          <a:p>
            <a:pPr algn="ctr"/>
            <a:r>
              <a:rPr sz="1000" b="1">
                <a:solidFill>
                  <a:srgbClr val="07102A"/>
                </a:solidFill>
                <a:latin typeface="IBM Plex Sans"/>
              </a:rPr>
              <a:t>AUDIO</a:t>
            </a:r>
          </a:p>
        </p:txBody>
      </p:sp>
      <p:sp>
        <p:nvSpPr>
          <p:cNvPr id="10" name="Rounded Rectangle 9"/>
          <p:cNvSpPr/>
          <p:nvPr/>
        </p:nvSpPr>
        <p:spPr>
          <a:xfrm>
            <a:off x="914400" y="2756915"/>
            <a:ext cx="2926080" cy="347472"/>
          </a:xfrm>
          <a:prstGeom prst="roundRect">
            <a:avLst>
              <a:gd name="adj" fmla="val 4000"/>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802635"/>
            <a:ext cx="2706624" cy="274320"/>
          </a:xfrm>
          <a:prstGeom prst="rect">
            <a:avLst/>
          </a:prstGeom>
          <a:noFill/>
        </p:spPr>
        <p:txBody>
          <a:bodyPr wrap="square" anchor="ctr" lIns="0" rIns="0" tIns="0" bIns="0">
            <a:spAutoFit/>
          </a:bodyPr>
          <a:lstStyle/>
          <a:p>
            <a:pPr algn="ctr"/>
            <a:r>
              <a:rPr sz="1000" b="1">
                <a:solidFill>
                  <a:srgbClr val="07102A"/>
                </a:solidFill>
                <a:latin typeface="IBM Plex Sans"/>
              </a:rPr>
              <a:t>INTERRUPT</a:t>
            </a:r>
          </a:p>
        </p:txBody>
      </p:sp>
      <p:sp>
        <p:nvSpPr>
          <p:cNvPr id="12" name="Rounded Rectangle 11"/>
          <p:cNvSpPr/>
          <p:nvPr/>
        </p:nvSpPr>
        <p:spPr>
          <a:xfrm>
            <a:off x="914400" y="3154679"/>
            <a:ext cx="2926080" cy="320040"/>
          </a:xfrm>
          <a:prstGeom prst="roundRect">
            <a:avLst>
              <a:gd name="adj" fmla="val 4000"/>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3200399"/>
            <a:ext cx="2706624" cy="246887"/>
          </a:xfrm>
          <a:prstGeom prst="rect">
            <a:avLst/>
          </a:prstGeom>
          <a:noFill/>
        </p:spPr>
        <p:txBody>
          <a:bodyPr wrap="square" anchor="ctr" lIns="0" rIns="0" tIns="0" bIns="0">
            <a:spAutoFit/>
          </a:bodyPr>
          <a:lstStyle/>
          <a:p>
            <a:pPr algn="ctr"/>
            <a:r>
              <a:rPr sz="1000" b="1">
                <a:solidFill>
                  <a:srgbClr val="07102A"/>
                </a:solidFill>
                <a:latin typeface="IBM Plex Sans"/>
              </a:rPr>
              <a:t>KERNEL</a:t>
            </a:r>
          </a:p>
        </p:txBody>
      </p:sp>
      <p:sp>
        <p:nvSpPr>
          <p:cNvPr id="14" name="Rounded Rectangle 13"/>
          <p:cNvSpPr/>
          <p:nvPr/>
        </p:nvSpPr>
        <p:spPr>
          <a:xfrm>
            <a:off x="914400" y="3525011"/>
            <a:ext cx="2926080" cy="283464"/>
          </a:xfrm>
          <a:prstGeom prst="roundRect">
            <a:avLst>
              <a:gd name="adj" fmla="val 4000"/>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570731"/>
            <a:ext cx="2706624" cy="210311"/>
          </a:xfrm>
          <a:prstGeom prst="rect">
            <a:avLst/>
          </a:prstGeom>
          <a:noFill/>
        </p:spPr>
        <p:txBody>
          <a:bodyPr wrap="square" anchor="ctr" lIns="0" rIns="0" tIns="0" bIns="0">
            <a:spAutoFit/>
          </a:bodyPr>
          <a:lstStyle/>
          <a:p>
            <a:pPr algn="ctr"/>
            <a:r>
              <a:rPr sz="1000" b="1">
                <a:solidFill>
                  <a:srgbClr val="07102A"/>
                </a:solidFill>
                <a:latin typeface="IBM Plex Sans"/>
              </a:rPr>
              <a:t>AUDIO</a:t>
            </a:r>
          </a:p>
        </p:txBody>
      </p:sp>
      <p:sp>
        <p:nvSpPr>
          <p:cNvPr id="16" name="Rounded Rectangle 15"/>
          <p:cNvSpPr/>
          <p:nvPr/>
        </p:nvSpPr>
        <p:spPr>
          <a:xfrm>
            <a:off x="914400" y="3858768"/>
            <a:ext cx="2926080" cy="365760"/>
          </a:xfrm>
          <a:prstGeom prst="roundRect">
            <a:avLst>
              <a:gd name="adj" fmla="val 4000"/>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3904487"/>
            <a:ext cx="2706624" cy="292608"/>
          </a:xfrm>
          <a:prstGeom prst="rect">
            <a:avLst/>
          </a:prstGeom>
          <a:noFill/>
        </p:spPr>
        <p:txBody>
          <a:bodyPr wrap="square" anchor="ctr" lIns="0" rIns="0" tIns="0" bIns="0">
            <a:spAutoFit/>
          </a:bodyPr>
          <a:lstStyle/>
          <a:p>
            <a:pPr algn="ctr"/>
            <a:r>
              <a:rPr sz="1000" b="1">
                <a:solidFill>
                  <a:srgbClr val="07102A"/>
                </a:solidFill>
                <a:latin typeface="IBM Plex Sans"/>
              </a:rPr>
              <a:t>SYSTEM CALL</a:t>
            </a:r>
          </a:p>
        </p:txBody>
      </p:sp>
      <p:sp>
        <p:nvSpPr>
          <p:cNvPr id="18" name="Rounded Rectangle 17"/>
          <p:cNvSpPr/>
          <p:nvPr/>
        </p:nvSpPr>
        <p:spPr>
          <a:xfrm>
            <a:off x="914400" y="4274820"/>
            <a:ext cx="2926080" cy="365760"/>
          </a:xfrm>
          <a:prstGeom prst="roundRect">
            <a:avLst>
              <a:gd name="adj" fmla="val 4000"/>
            </a:avLst>
          </a:prstGeom>
          <a:solidFill>
            <a:srgbClr val="788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 y="4320540"/>
            <a:ext cx="2706624" cy="292608"/>
          </a:xfrm>
          <a:prstGeom prst="rect">
            <a:avLst/>
          </a:prstGeom>
          <a:noFill/>
        </p:spPr>
        <p:txBody>
          <a:bodyPr wrap="square" anchor="ctr" lIns="0" rIns="0" tIns="0" bIns="0">
            <a:spAutoFit/>
          </a:bodyPr>
          <a:lstStyle/>
          <a:p>
            <a:pPr algn="ctr"/>
            <a:r>
              <a:rPr sz="1000" b="1">
                <a:solidFill>
                  <a:srgbClr val="07102A"/>
                </a:solidFill>
                <a:latin typeface="IBM Plex Sans"/>
              </a:rPr>
              <a:t>OTHER TASK</a:t>
            </a:r>
          </a:p>
        </p:txBody>
      </p:sp>
      <p:sp>
        <p:nvSpPr>
          <p:cNvPr id="20" name="Rounded Rectangle 19"/>
          <p:cNvSpPr/>
          <p:nvPr/>
        </p:nvSpPr>
        <p:spPr>
          <a:xfrm>
            <a:off x="914400" y="4690872"/>
            <a:ext cx="2926080" cy="283464"/>
          </a:xfrm>
          <a:prstGeom prst="roundRect">
            <a:avLst>
              <a:gd name="adj" fmla="val 4000"/>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4736592"/>
            <a:ext cx="2706624" cy="210311"/>
          </a:xfrm>
          <a:prstGeom prst="rect">
            <a:avLst/>
          </a:prstGeom>
          <a:noFill/>
        </p:spPr>
        <p:txBody>
          <a:bodyPr wrap="square" anchor="ctr" lIns="0" rIns="0" tIns="0" bIns="0">
            <a:spAutoFit/>
          </a:bodyPr>
          <a:lstStyle/>
          <a:p>
            <a:pPr algn="ctr"/>
            <a:r>
              <a:rPr sz="1000" b="1">
                <a:solidFill>
                  <a:srgbClr val="07102A"/>
                </a:solidFill>
                <a:latin typeface="IBM Plex Sans"/>
              </a:rPr>
              <a:t>AUDIO</a:t>
            </a:r>
          </a:p>
        </p:txBody>
      </p:sp>
      <p:sp>
        <p:nvSpPr>
          <p:cNvPr id="22" name="TextBox 21"/>
          <p:cNvSpPr txBox="1"/>
          <p:nvPr/>
        </p:nvSpPr>
        <p:spPr>
          <a:xfrm>
            <a:off x="804672" y="5074920"/>
            <a:ext cx="3154680" cy="256032"/>
          </a:xfrm>
          <a:prstGeom prst="rect">
            <a:avLst/>
          </a:prstGeom>
          <a:noFill/>
        </p:spPr>
        <p:txBody>
          <a:bodyPr wrap="square" anchor="t" lIns="0" rIns="0" tIns="0" bIns="0">
            <a:spAutoFit/>
          </a:bodyPr>
          <a:lstStyle/>
          <a:p>
            <a:pPr algn="ctr"/>
            <a:r>
              <a:rPr sz="1400" b="1">
                <a:solidFill>
                  <a:srgbClr val="B5BFD2"/>
                </a:solidFill>
                <a:latin typeface="IBM Plex Sans"/>
              </a:rPr>
              <a:t>fast, but shared</a:t>
            </a:r>
          </a:p>
        </p:txBody>
      </p:sp>
      <p:cxnSp>
        <p:nvCxnSpPr>
          <p:cNvPr id="23" name="Connector 22"/>
          <p:cNvCxnSpPr/>
          <p:nvPr/>
        </p:nvCxnSpPr>
        <p:spPr>
          <a:xfrm>
            <a:off x="4206240" y="3584448"/>
            <a:ext cx="411480" cy="0"/>
          </a:xfrm>
          <a:prstGeom prst="line">
            <a:avLst/>
          </a:prstGeom>
          <a:ln w="25400">
            <a:solidFill>
              <a:srgbClr val="B5BFD2"/>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617720" y="1627632"/>
            <a:ext cx="3657600" cy="4041648"/>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92040" y="1847088"/>
            <a:ext cx="3108960" cy="347472"/>
          </a:xfrm>
          <a:prstGeom prst="rect">
            <a:avLst/>
          </a:prstGeom>
          <a:noFill/>
        </p:spPr>
        <p:txBody>
          <a:bodyPr wrap="square" anchor="t" lIns="0" rIns="0" tIns="0" bIns="0">
            <a:spAutoFit/>
          </a:bodyPr>
          <a:lstStyle/>
          <a:p>
            <a:pPr algn="ctr"/>
            <a:r>
              <a:rPr sz="1800" b="1">
                <a:solidFill>
                  <a:srgbClr val="4BA3C3"/>
                </a:solidFill>
                <a:latin typeface="IBM Plex Sans"/>
              </a:rPr>
              <a:t>AUDIO IN BATCHES</a:t>
            </a:r>
          </a:p>
        </p:txBody>
      </p:sp>
      <p:sp>
        <p:nvSpPr>
          <p:cNvPr id="26" name="Rectangle 25"/>
          <p:cNvSpPr/>
          <p:nvPr/>
        </p:nvSpPr>
        <p:spPr>
          <a:xfrm>
            <a:off x="4956048" y="2898648"/>
            <a:ext cx="68580" cy="438912"/>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52060" y="2745241"/>
            <a:ext cx="68580" cy="592318"/>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48072" y="2787472"/>
            <a:ext cx="68580" cy="550087"/>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44084" y="2971483"/>
            <a:ext cx="68580" cy="366076"/>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340096" y="3062608"/>
            <a:ext cx="68580" cy="274951"/>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36108" y="2944637"/>
            <a:ext cx="68580" cy="392922"/>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32120" y="2768016"/>
            <a:ext cx="68580" cy="569543"/>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628132" y="2757987"/>
            <a:ext cx="68580" cy="579572"/>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56048" y="3493008"/>
            <a:ext cx="804672" cy="219456"/>
          </a:xfrm>
          <a:prstGeom prst="rect">
            <a:avLst/>
          </a:prstGeom>
          <a:noFill/>
        </p:spPr>
        <p:txBody>
          <a:bodyPr wrap="square" anchor="t" lIns="0" rIns="0" tIns="0" bIns="0">
            <a:spAutoFit/>
          </a:bodyPr>
          <a:lstStyle/>
          <a:p>
            <a:pPr algn="ctr"/>
            <a:r>
              <a:rPr sz="1000" b="0">
                <a:solidFill>
                  <a:srgbClr val="B5BFD2"/>
                </a:solidFill>
                <a:latin typeface="IBM Plex Sans"/>
              </a:rPr>
              <a:t>batch 1</a:t>
            </a:r>
          </a:p>
        </p:txBody>
      </p:sp>
      <p:sp>
        <p:nvSpPr>
          <p:cNvPr id="35" name="Rectangle 34"/>
          <p:cNvSpPr/>
          <p:nvPr/>
        </p:nvSpPr>
        <p:spPr>
          <a:xfrm>
            <a:off x="5943600" y="2760148"/>
            <a:ext cx="68580" cy="577411"/>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039612" y="2765575"/>
            <a:ext cx="68580" cy="571984"/>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135624" y="2940708"/>
            <a:ext cx="68580" cy="396851"/>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31636" y="3062201"/>
            <a:ext cx="68580" cy="275358"/>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327648" y="2975117"/>
            <a:ext cx="68580" cy="362442"/>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23660" y="2790513"/>
            <a:ext cx="68580" cy="547046"/>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19672" y="2743811"/>
            <a:ext cx="68580" cy="593748"/>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15684" y="2894570"/>
            <a:ext cx="68580" cy="442989"/>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943600" y="3493008"/>
            <a:ext cx="804672" cy="219456"/>
          </a:xfrm>
          <a:prstGeom prst="rect">
            <a:avLst/>
          </a:prstGeom>
          <a:noFill/>
        </p:spPr>
        <p:txBody>
          <a:bodyPr wrap="square" anchor="t" lIns="0" rIns="0" tIns="0" bIns="0">
            <a:spAutoFit/>
          </a:bodyPr>
          <a:lstStyle/>
          <a:p>
            <a:pPr algn="ctr"/>
            <a:r>
              <a:rPr sz="1000" b="0">
                <a:solidFill>
                  <a:srgbClr val="B5BFD2"/>
                </a:solidFill>
                <a:latin typeface="IBM Plex Sans"/>
              </a:rPr>
              <a:t>batch 2</a:t>
            </a:r>
          </a:p>
        </p:txBody>
      </p:sp>
      <p:sp>
        <p:nvSpPr>
          <p:cNvPr id="44" name="Rectangle 43"/>
          <p:cNvSpPr/>
          <p:nvPr/>
        </p:nvSpPr>
        <p:spPr>
          <a:xfrm>
            <a:off x="6931152" y="2748984"/>
            <a:ext cx="68580" cy="588575"/>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027164" y="2908255"/>
            <a:ext cx="68580" cy="429304"/>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123176" y="3055274"/>
            <a:ext cx="68580" cy="282285"/>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219188" y="3002549"/>
            <a:ext cx="68580" cy="335010"/>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315200" y="2817320"/>
            <a:ext cx="68580" cy="520239"/>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411212" y="2735807"/>
            <a:ext cx="68580" cy="601752"/>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507224" y="2861962"/>
            <a:ext cx="68580" cy="475597"/>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603236" y="3034901"/>
            <a:ext cx="68580" cy="302658"/>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31152" y="3493008"/>
            <a:ext cx="804672" cy="219456"/>
          </a:xfrm>
          <a:prstGeom prst="rect">
            <a:avLst/>
          </a:prstGeom>
          <a:noFill/>
        </p:spPr>
        <p:txBody>
          <a:bodyPr wrap="square" anchor="t" lIns="0" rIns="0" tIns="0" bIns="0">
            <a:spAutoFit/>
          </a:bodyPr>
          <a:lstStyle/>
          <a:p>
            <a:pPr algn="ctr"/>
            <a:r>
              <a:rPr sz="1000" b="0">
                <a:solidFill>
                  <a:srgbClr val="B5BFD2"/>
                </a:solidFill>
                <a:latin typeface="IBM Plex Sans"/>
              </a:rPr>
              <a:t>batch 3</a:t>
            </a:r>
          </a:p>
        </p:txBody>
      </p:sp>
      <p:cxnSp>
        <p:nvCxnSpPr>
          <p:cNvPr id="53" name="Connector 52"/>
          <p:cNvCxnSpPr/>
          <p:nvPr/>
        </p:nvCxnSpPr>
        <p:spPr>
          <a:xfrm>
            <a:off x="5074920" y="4160520"/>
            <a:ext cx="2743200" cy="0"/>
          </a:xfrm>
          <a:prstGeom prst="line">
            <a:avLst/>
          </a:prstGeom>
          <a:ln w="25400">
            <a:solidFill>
              <a:srgbClr val="4BA3C3"/>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4919472" y="4352544"/>
            <a:ext cx="3035808" cy="658368"/>
          </a:xfrm>
          <a:prstGeom prst="rect">
            <a:avLst/>
          </a:prstGeom>
          <a:noFill/>
        </p:spPr>
        <p:txBody>
          <a:bodyPr wrap="square" anchor="t" lIns="0" rIns="0" tIns="0" bIns="0">
            <a:spAutoFit/>
          </a:bodyPr>
          <a:lstStyle/>
          <a:p>
            <a:pPr algn="ctr"/>
            <a:r>
              <a:rPr sz="1400" b="1">
                <a:solidFill>
                  <a:srgbClr val="FFFFFF"/>
                </a:solidFill>
                <a:latin typeface="IBM Plex Sans"/>
              </a:rPr>
              <a:t>collect samples</a:t>
            </a:r>
          </a:p>
          <a:p>
            <a:pPr algn="ctr"/>
            <a:r>
              <a:rPr sz="1400" b="1">
                <a:solidFill>
                  <a:srgbClr val="FFFFFF"/>
                </a:solidFill>
                <a:latin typeface="IBM Plex Sans"/>
              </a:rPr>
              <a:t>wait for CPU time</a:t>
            </a:r>
          </a:p>
          <a:p>
            <a:pPr algn="ctr"/>
            <a:r>
              <a:rPr sz="1400" b="1">
                <a:solidFill>
                  <a:srgbClr val="FFFFFF"/>
                </a:solidFill>
                <a:latin typeface="IBM Plex Sans"/>
              </a:rPr>
              <a:t>process the batch</a:t>
            </a:r>
          </a:p>
        </p:txBody>
      </p:sp>
      <p:sp>
        <p:nvSpPr>
          <p:cNvPr id="55" name="TextBox 54"/>
          <p:cNvSpPr txBox="1"/>
          <p:nvPr/>
        </p:nvSpPr>
        <p:spPr>
          <a:xfrm>
            <a:off x="4892040" y="5230368"/>
            <a:ext cx="3108960" cy="256032"/>
          </a:xfrm>
          <a:prstGeom prst="rect">
            <a:avLst/>
          </a:prstGeom>
          <a:noFill/>
        </p:spPr>
        <p:txBody>
          <a:bodyPr wrap="square" anchor="t" lIns="0" rIns="0" tIns="0" bIns="0">
            <a:spAutoFit/>
          </a:bodyPr>
          <a:lstStyle/>
          <a:p>
            <a:pPr algn="ctr"/>
            <a:r>
              <a:rPr sz="1400" b="1">
                <a:solidFill>
                  <a:srgbClr val="B5BFD2"/>
                </a:solidFill>
                <a:latin typeface="IBM Plex Sans"/>
              </a:rPr>
              <a:t>usually good enough</a:t>
            </a:r>
          </a:p>
        </p:txBody>
      </p:sp>
      <p:cxnSp>
        <p:nvCxnSpPr>
          <p:cNvPr id="56" name="Connector 55"/>
          <p:cNvCxnSpPr/>
          <p:nvPr/>
        </p:nvCxnSpPr>
        <p:spPr>
          <a:xfrm>
            <a:off x="8275320" y="3584448"/>
            <a:ext cx="411480" cy="0"/>
          </a:xfrm>
          <a:prstGeom prst="line">
            <a:avLst/>
          </a:prstGeom>
          <a:ln w="25400">
            <a:solidFill>
              <a:srgbClr val="4BA3C3"/>
            </a:solidFill>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686800" y="1627632"/>
            <a:ext cx="2953512" cy="4041648"/>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915400" y="1847088"/>
            <a:ext cx="2496312" cy="347472"/>
          </a:xfrm>
          <a:prstGeom prst="rect">
            <a:avLst/>
          </a:prstGeom>
          <a:noFill/>
        </p:spPr>
        <p:txBody>
          <a:bodyPr wrap="square" anchor="t" lIns="0" rIns="0" tIns="0" bIns="0">
            <a:spAutoFit/>
          </a:bodyPr>
          <a:lstStyle/>
          <a:p>
            <a:pPr algn="ctr"/>
            <a:r>
              <a:rPr sz="1700" b="1">
                <a:solidFill>
                  <a:srgbClr val="4BA3C3"/>
                </a:solidFill>
                <a:latin typeface="IBM Plex Sans"/>
              </a:rPr>
              <a:t>MISS ONE DEADLINE</a:t>
            </a:r>
          </a:p>
        </p:txBody>
      </p:sp>
      <p:pic>
        <p:nvPicPr>
          <p:cNvPr id="59" name="deadline-miss-128.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8979408" y="2395728"/>
            <a:ext cx="2359152" cy="1325880"/>
          </a:xfrm>
          <a:prstGeom prst="rect">
            <a:avLst/>
          </a:prstGeom>
        </p:spPr>
      </p:pic>
      <p:sp>
        <p:nvSpPr>
          <p:cNvPr id="60" name="TextBox 59"/>
          <p:cNvSpPr txBox="1"/>
          <p:nvPr/>
        </p:nvSpPr>
        <p:spPr>
          <a:xfrm>
            <a:off x="8979408" y="3794760"/>
            <a:ext cx="2359152" cy="256032"/>
          </a:xfrm>
          <a:prstGeom prst="rect">
            <a:avLst/>
          </a:prstGeom>
          <a:noFill/>
        </p:spPr>
        <p:txBody>
          <a:bodyPr wrap="square" anchor="t" lIns="0" rIns="0" tIns="0" bIns="0">
            <a:spAutoFit/>
          </a:bodyPr>
          <a:lstStyle/>
          <a:p>
            <a:pPr algn="ctr"/>
            <a:r>
              <a:rPr sz="1100" b="1">
                <a:solidFill>
                  <a:srgbClr val="4BA3C3"/>
                </a:solidFill>
                <a:latin typeface="IBM Plex Sans"/>
              </a:rPr>
              <a:t>CLICK TO HEAR IT</a:t>
            </a:r>
          </a:p>
        </p:txBody>
      </p:sp>
      <p:sp>
        <p:nvSpPr>
          <p:cNvPr id="61" name="TextBox 60"/>
          <p:cNvSpPr txBox="1"/>
          <p:nvPr/>
        </p:nvSpPr>
        <p:spPr>
          <a:xfrm>
            <a:off x="8961120" y="4224528"/>
            <a:ext cx="2404872" cy="594360"/>
          </a:xfrm>
          <a:prstGeom prst="rect">
            <a:avLst/>
          </a:prstGeom>
          <a:noFill/>
        </p:spPr>
        <p:txBody>
          <a:bodyPr wrap="square" anchor="t" lIns="0" rIns="0" tIns="0" bIns="0">
            <a:spAutoFit/>
          </a:bodyPr>
          <a:lstStyle/>
          <a:p>
            <a:pPr algn="ctr"/>
            <a:r>
              <a:rPr sz="1700" b="1">
                <a:solidFill>
                  <a:srgbClr val="FFFFFF"/>
                </a:solidFill>
                <a:latin typeface="IBM Plex Sans"/>
              </a:rPr>
              <a:t>CRACK</a:t>
            </a:r>
          </a:p>
          <a:p>
            <a:pPr algn="ctr"/>
            <a:r>
              <a:rPr sz="1700" b="1">
                <a:solidFill>
                  <a:srgbClr val="FFFFFF"/>
                </a:solidFill>
                <a:latin typeface="IBM Plex Sans"/>
              </a:rPr>
              <a:t>POP</a:t>
            </a:r>
          </a:p>
          <a:p>
            <a:pPr algn="ctr"/>
            <a:r>
              <a:rPr sz="1700" b="1">
                <a:solidFill>
                  <a:srgbClr val="FFFFFF"/>
                </a:solidFill>
                <a:latin typeface="IBM Plex Sans"/>
              </a:rPr>
              <a:t>DISCONTINUITY</a:t>
            </a:r>
          </a:p>
        </p:txBody>
      </p:sp>
      <p:sp>
        <p:nvSpPr>
          <p:cNvPr id="62" name="TextBox 61"/>
          <p:cNvSpPr txBox="1"/>
          <p:nvPr/>
        </p:nvSpPr>
        <p:spPr>
          <a:xfrm>
            <a:off x="8961120" y="5266944"/>
            <a:ext cx="2404872" cy="256032"/>
          </a:xfrm>
          <a:prstGeom prst="rect">
            <a:avLst/>
          </a:prstGeom>
          <a:noFill/>
        </p:spPr>
        <p:txBody>
          <a:bodyPr wrap="square" anchor="t" lIns="0" rIns="0" tIns="0" bIns="0">
            <a:spAutoFit/>
          </a:bodyPr>
          <a:lstStyle/>
          <a:p>
            <a:pPr algn="ctr"/>
            <a:r>
              <a:rPr sz="1400" b="1">
                <a:solidFill>
                  <a:srgbClr val="B5BFD2"/>
                </a:solidFill>
                <a:latin typeface="IBM Plex Sans"/>
              </a:rPr>
              <a:t>sounds awful</a:t>
            </a:r>
          </a:p>
        </p:txBody>
      </p:sp>
      <p:sp>
        <p:nvSpPr>
          <p:cNvPr id="63" name="TextBox 62"/>
          <p:cNvSpPr txBox="1"/>
          <p:nvPr/>
        </p:nvSpPr>
        <p:spPr>
          <a:xfrm>
            <a:off x="594360" y="5925312"/>
            <a:ext cx="10972800" cy="365760"/>
          </a:xfrm>
          <a:prstGeom prst="rect">
            <a:avLst/>
          </a:prstGeom>
          <a:noFill/>
        </p:spPr>
        <p:txBody>
          <a:bodyPr wrap="square" anchor="t" lIns="0" rIns="0" tIns="0" bIns="0">
            <a:spAutoFit/>
          </a:bodyPr>
          <a:lstStyle/>
          <a:p>
            <a:pPr algn="ctr"/>
            <a:r>
              <a:rPr sz="1900" b="1">
                <a:solidFill>
                  <a:srgbClr val="FFFFFF"/>
                </a:solidFill>
                <a:latin typeface="IBM Plex Sans"/>
              </a:rPr>
              <a:t>Buffered audio needs every batch finished before the next deadline.</a:t>
            </a:r>
          </a:p>
        </p:txBody>
      </p:sp>
      <p:sp>
        <p:nvSpPr>
          <p:cNvPr id="64" name="TextBox 63"/>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5BFD2"/>
                </a:solidFill>
                <a:latin typeface="IBM Plex Sans"/>
              </a:rPr>
              <a:t>AMD on Wheels NZ  ·  together we advance</a:t>
            </a:r>
          </a:p>
        </p:txBody>
      </p:sp>
      <p:sp>
        <p:nvSpPr>
          <p:cNvPr id="65" name="TextBox 64"/>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5BFD2"/>
                </a:solidFill>
                <a:latin typeface="IBM Plex Sans"/>
              </a:rPr>
              <a:t>10</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9"/>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4BA3C3"/>
                </a:solidFill>
                <a:latin typeface="IBM Plex Sans"/>
              </a:rPr>
              <a:t>THE PERSONAL PIVOT</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100" b="1">
                <a:solidFill>
                  <a:srgbClr val="FFFFFF"/>
                </a:solidFill>
                <a:latin typeface="IBM Plex Sans"/>
              </a:rPr>
              <a:t>When I think of DSP...</a:t>
            </a:r>
          </a:p>
        </p:txBody>
      </p:sp>
      <p:sp>
        <p:nvSpPr>
          <p:cNvPr id="6" name="Rounded Rectangle 5"/>
          <p:cNvSpPr/>
          <p:nvPr/>
        </p:nvSpPr>
        <p:spPr>
          <a:xfrm>
            <a:off x="685800" y="1572768"/>
            <a:ext cx="10817352" cy="4407408"/>
          </a:xfrm>
          <a:prstGeom prst="roundRect">
            <a:avLst>
              <a:gd name="adj" fmla="val 4000"/>
            </a:avLst>
          </a:prstGeom>
          <a:solidFill>
            <a:srgbClr val="05091C"/>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usician-1536x615-05091c-none.jpg"/>
          <p:cNvPicPr>
            <a:picLocks noChangeAspect="1"/>
          </p:cNvPicPr>
          <p:nvPr/>
        </p:nvPicPr>
        <p:blipFill>
          <a:blip r:embed="rId3"/>
          <a:stretch>
            <a:fillRect/>
          </a:stretch>
        </p:blipFill>
        <p:spPr>
          <a:xfrm>
            <a:off x="1225113" y="1799996"/>
            <a:ext cx="9754910" cy="3904945"/>
          </a:xfrm>
          <a:prstGeom prst="rect">
            <a:avLst/>
          </a:prstGeom>
        </p:spPr>
      </p:pic>
      <p:sp>
        <p:nvSpPr>
          <p:cNvPr id="8" name="Rounded Rectangle 7"/>
          <p:cNvSpPr/>
          <p:nvPr/>
        </p:nvSpPr>
        <p:spPr>
          <a:xfrm>
            <a:off x="6903720" y="4919472"/>
            <a:ext cx="4160520" cy="658368"/>
          </a:xfrm>
          <a:prstGeom prst="roundRect">
            <a:avLst>
              <a:gd name="adj" fmla="val 4000"/>
            </a:avLst>
          </a:prstGeom>
          <a:solidFill>
            <a:srgbClr val="07102A"/>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14032" y="5074920"/>
            <a:ext cx="3739896" cy="329184"/>
          </a:xfrm>
          <a:prstGeom prst="rect">
            <a:avLst/>
          </a:prstGeom>
          <a:noFill/>
        </p:spPr>
        <p:txBody>
          <a:bodyPr wrap="square" anchor="t" lIns="0" rIns="0" tIns="0" bIns="0">
            <a:spAutoFit/>
          </a:bodyPr>
          <a:lstStyle/>
          <a:p>
            <a:pPr algn="ctr"/>
            <a:r>
              <a:rPr sz="2000" b="1">
                <a:solidFill>
                  <a:srgbClr val="FFFFFF"/>
                </a:solidFill>
                <a:latin typeface="IBM Plex Sans"/>
              </a:rPr>
              <a:t>I think about sound waves</a:t>
            </a:r>
          </a:p>
        </p:txBody>
      </p:sp>
      <p:sp>
        <p:nvSpPr>
          <p:cNvPr id="10" name="TextBox 9"/>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5BFD2"/>
                </a:solidFill>
                <a:latin typeface="IBM Plex Sans"/>
              </a:rPr>
              <a:t>AMD on Wheels NZ  ·  together we advance</a:t>
            </a:r>
          </a:p>
        </p:txBody>
      </p:sp>
      <p:sp>
        <p:nvSpPr>
          <p:cNvPr id="11" name="TextBox 10"/>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5BFD2"/>
                </a:solidFill>
                <a:latin typeface="IBM Plex Sans"/>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4BA3C3"/>
                </a:solidFill>
                <a:latin typeface="IBM Plex Sans"/>
              </a:rPr>
              <a:t>DETERMINISTIC BY CONSTRUCTION</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2900" b="1">
                <a:solidFill>
                  <a:srgbClr val="FFFFFF"/>
                </a:solidFill>
                <a:latin typeface="IBM Plex Sans"/>
              </a:rPr>
              <a:t>K26 programmable logic gives every sample a hardware path</a:t>
            </a:r>
          </a:p>
        </p:txBody>
      </p:sp>
      <p:sp>
        <p:nvSpPr>
          <p:cNvPr id="6" name="Rounded Rectangle 5"/>
          <p:cNvSpPr/>
          <p:nvPr/>
        </p:nvSpPr>
        <p:spPr>
          <a:xfrm>
            <a:off x="658368" y="2057400"/>
            <a:ext cx="1874519" cy="1298448"/>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2432304"/>
            <a:ext cx="1600200" cy="457200"/>
          </a:xfrm>
          <a:prstGeom prst="rect">
            <a:avLst/>
          </a:prstGeom>
          <a:noFill/>
        </p:spPr>
        <p:txBody>
          <a:bodyPr wrap="square" anchor="ctr" lIns="0" rIns="0" tIns="0" bIns="0">
            <a:spAutoFit/>
          </a:bodyPr>
          <a:lstStyle/>
          <a:p>
            <a:pPr algn="ctr"/>
            <a:r>
              <a:rPr sz="1700" b="1">
                <a:solidFill>
                  <a:srgbClr val="4BA3C3"/>
                </a:solidFill>
                <a:latin typeface="IBM Plex Sans"/>
              </a:rPr>
              <a:t>SAMPLE IN</a:t>
            </a:r>
          </a:p>
        </p:txBody>
      </p:sp>
      <p:cxnSp>
        <p:nvCxnSpPr>
          <p:cNvPr id="8" name="Connector 7"/>
          <p:cNvCxnSpPr/>
          <p:nvPr/>
        </p:nvCxnSpPr>
        <p:spPr>
          <a:xfrm>
            <a:off x="2532887" y="2706624"/>
            <a:ext cx="384049"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962656" y="2057400"/>
            <a:ext cx="1874519" cy="1298448"/>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99816" y="2432304"/>
            <a:ext cx="1600200" cy="457200"/>
          </a:xfrm>
          <a:prstGeom prst="rect">
            <a:avLst/>
          </a:prstGeom>
          <a:noFill/>
        </p:spPr>
        <p:txBody>
          <a:bodyPr wrap="square" anchor="ctr" lIns="0" rIns="0" tIns="0" bIns="0">
            <a:spAutoFit/>
          </a:bodyPr>
          <a:lstStyle/>
          <a:p>
            <a:pPr algn="ctr"/>
            <a:r>
              <a:rPr sz="1700" b="1">
                <a:solidFill>
                  <a:srgbClr val="4BA3C3"/>
                </a:solidFill>
                <a:latin typeface="IBM Plex Sans"/>
              </a:rPr>
              <a:t>VOICES</a:t>
            </a:r>
          </a:p>
        </p:txBody>
      </p:sp>
      <p:cxnSp>
        <p:nvCxnSpPr>
          <p:cNvPr id="11" name="Connector 10"/>
          <p:cNvCxnSpPr/>
          <p:nvPr/>
        </p:nvCxnSpPr>
        <p:spPr>
          <a:xfrm>
            <a:off x="4837176" y="2706624"/>
            <a:ext cx="384048"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266944" y="2057400"/>
            <a:ext cx="1874519" cy="1298448"/>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04104" y="2432304"/>
            <a:ext cx="1600200" cy="457200"/>
          </a:xfrm>
          <a:prstGeom prst="rect">
            <a:avLst/>
          </a:prstGeom>
          <a:noFill/>
        </p:spPr>
        <p:txBody>
          <a:bodyPr wrap="square" anchor="ctr" lIns="0" rIns="0" tIns="0" bIns="0">
            <a:spAutoFit/>
          </a:bodyPr>
          <a:lstStyle/>
          <a:p>
            <a:pPr algn="ctr"/>
            <a:r>
              <a:rPr sz="1700" b="1">
                <a:solidFill>
                  <a:srgbClr val="4BA3C3"/>
                </a:solidFill>
                <a:latin typeface="IBM Plex Sans"/>
              </a:rPr>
              <a:t>MIX</a:t>
            </a:r>
          </a:p>
        </p:txBody>
      </p:sp>
      <p:cxnSp>
        <p:nvCxnSpPr>
          <p:cNvPr id="14" name="Connector 13"/>
          <p:cNvCxnSpPr/>
          <p:nvPr/>
        </p:nvCxnSpPr>
        <p:spPr>
          <a:xfrm>
            <a:off x="7141464" y="2706624"/>
            <a:ext cx="384048"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571231" y="2057400"/>
            <a:ext cx="1874519" cy="1298448"/>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2432304"/>
            <a:ext cx="1600200" cy="457200"/>
          </a:xfrm>
          <a:prstGeom prst="rect">
            <a:avLst/>
          </a:prstGeom>
          <a:noFill/>
        </p:spPr>
        <p:txBody>
          <a:bodyPr wrap="square" anchor="ctr" lIns="0" rIns="0" tIns="0" bIns="0">
            <a:spAutoFit/>
          </a:bodyPr>
          <a:lstStyle/>
          <a:p>
            <a:pPr algn="ctr"/>
            <a:r>
              <a:rPr sz="1700" b="1">
                <a:solidFill>
                  <a:srgbClr val="4BA3C3"/>
                </a:solidFill>
                <a:latin typeface="IBM Plex Sans"/>
              </a:rPr>
              <a:t>EFFECTS</a:t>
            </a:r>
          </a:p>
        </p:txBody>
      </p:sp>
      <p:cxnSp>
        <p:nvCxnSpPr>
          <p:cNvPr id="17" name="Connector 16"/>
          <p:cNvCxnSpPr/>
          <p:nvPr/>
        </p:nvCxnSpPr>
        <p:spPr>
          <a:xfrm>
            <a:off x="9445751" y="2706624"/>
            <a:ext cx="384049"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875519" y="2057400"/>
            <a:ext cx="1874519" cy="1298448"/>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12680" y="2432304"/>
            <a:ext cx="1600200" cy="457200"/>
          </a:xfrm>
          <a:prstGeom prst="rect">
            <a:avLst/>
          </a:prstGeom>
          <a:noFill/>
        </p:spPr>
        <p:txBody>
          <a:bodyPr wrap="square" anchor="ctr" lIns="0" rIns="0" tIns="0" bIns="0">
            <a:spAutoFit/>
          </a:bodyPr>
          <a:lstStyle/>
          <a:p>
            <a:pPr algn="ctr"/>
            <a:r>
              <a:rPr sz="1700" b="1">
                <a:solidFill>
                  <a:srgbClr val="4BA3C3"/>
                </a:solidFill>
                <a:latin typeface="IBM Plex Sans"/>
              </a:rPr>
              <a:t>SAMPLE OUT</a:t>
            </a:r>
          </a:p>
        </p:txBody>
      </p:sp>
      <p:sp>
        <p:nvSpPr>
          <p:cNvPr id="20" name="Oval 19"/>
          <p:cNvSpPr/>
          <p:nvPr/>
        </p:nvSpPr>
        <p:spPr>
          <a:xfrm>
            <a:off x="914400" y="3886200"/>
            <a:ext cx="164592" cy="164592"/>
          </a:xfrm>
          <a:prstGeom prst="ellipse">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572768" y="3886200"/>
            <a:ext cx="164592" cy="164592"/>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231136" y="3886200"/>
            <a:ext cx="164592" cy="164592"/>
          </a:xfrm>
          <a:prstGeom prst="ellipse">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889504" y="3886200"/>
            <a:ext cx="164592" cy="164592"/>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547872" y="3886200"/>
            <a:ext cx="164592" cy="164592"/>
          </a:xfrm>
          <a:prstGeom prst="ellipse">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206240" y="3886200"/>
            <a:ext cx="164592" cy="164592"/>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864608" y="3886200"/>
            <a:ext cx="164592" cy="164592"/>
          </a:xfrm>
          <a:prstGeom prst="ellipse">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522976" y="3886200"/>
            <a:ext cx="164592" cy="164592"/>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1344" y="3886200"/>
            <a:ext cx="164592" cy="164592"/>
          </a:xfrm>
          <a:prstGeom prst="ellipse">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839712" y="3886200"/>
            <a:ext cx="164592" cy="164592"/>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498079" y="3886200"/>
            <a:ext cx="164592" cy="164592"/>
          </a:xfrm>
          <a:prstGeom prst="ellipse">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156448" y="3886200"/>
            <a:ext cx="164592" cy="164592"/>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814816" y="3886200"/>
            <a:ext cx="164592" cy="164592"/>
          </a:xfrm>
          <a:prstGeom prst="ellipse">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473184" y="3886200"/>
            <a:ext cx="164592" cy="164592"/>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131552" y="3886200"/>
            <a:ext cx="164592" cy="164592"/>
          </a:xfrm>
          <a:prstGeom prst="ellipse">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789919" y="3886200"/>
            <a:ext cx="164592" cy="164592"/>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987552" y="3968496"/>
            <a:ext cx="9966960" cy="0"/>
          </a:xfrm>
          <a:prstGeom prst="line">
            <a:avLst/>
          </a:prstGeom>
          <a:ln w="25400">
            <a:solidFill>
              <a:srgbClr val="B5BFD2"/>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85800" y="4315968"/>
            <a:ext cx="10972800" cy="347472"/>
          </a:xfrm>
          <a:prstGeom prst="rect">
            <a:avLst/>
          </a:prstGeom>
          <a:noFill/>
        </p:spPr>
        <p:txBody>
          <a:bodyPr wrap="square" anchor="t" lIns="0" rIns="0" tIns="0" bIns="0">
            <a:spAutoFit/>
          </a:bodyPr>
          <a:lstStyle/>
          <a:p>
            <a:pPr algn="ctr"/>
            <a:r>
              <a:rPr sz="1800" b="1">
                <a:solidFill>
                  <a:srgbClr val="B5BFD2"/>
                </a:solidFill>
                <a:latin typeface="IBM Plex Sans"/>
              </a:rPr>
              <a:t>same path  ·  same schedule  ·  one result for every input sample</a:t>
            </a:r>
          </a:p>
        </p:txBody>
      </p:sp>
      <p:sp>
        <p:nvSpPr>
          <p:cNvPr id="38" name="Rounded Rectangle 37"/>
          <p:cNvSpPr/>
          <p:nvPr/>
        </p:nvSpPr>
        <p:spPr>
          <a:xfrm>
            <a:off x="1097280" y="4956048"/>
            <a:ext cx="4526280" cy="658368"/>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61872" y="5102352"/>
            <a:ext cx="4206240" cy="310896"/>
          </a:xfrm>
          <a:prstGeom prst="rect">
            <a:avLst/>
          </a:prstGeom>
          <a:noFill/>
        </p:spPr>
        <p:txBody>
          <a:bodyPr wrap="square" anchor="t" lIns="0" rIns="0" tIns="0" bIns="0">
            <a:spAutoFit/>
          </a:bodyPr>
          <a:lstStyle/>
          <a:p>
            <a:pPr algn="ctr"/>
            <a:r>
              <a:rPr sz="1600" b="1">
                <a:solidFill>
                  <a:srgbClr val="FFFFFF"/>
                </a:solidFill>
                <a:latin typeface="IBM Plex Sans"/>
              </a:rPr>
              <a:t>No scheduler in the audio path</a:t>
            </a:r>
          </a:p>
        </p:txBody>
      </p:sp>
      <p:sp>
        <p:nvSpPr>
          <p:cNvPr id="40" name="Rounded Rectangle 39"/>
          <p:cNvSpPr/>
          <p:nvPr/>
        </p:nvSpPr>
        <p:spPr>
          <a:xfrm>
            <a:off x="6565392" y="4956048"/>
            <a:ext cx="4526280" cy="658368"/>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29984" y="5102352"/>
            <a:ext cx="4206240" cy="310896"/>
          </a:xfrm>
          <a:prstGeom prst="rect">
            <a:avLst/>
          </a:prstGeom>
          <a:noFill/>
        </p:spPr>
        <p:txBody>
          <a:bodyPr wrap="square" anchor="t" lIns="0" rIns="0" tIns="0" bIns="0">
            <a:spAutoFit/>
          </a:bodyPr>
          <a:lstStyle/>
          <a:p>
            <a:pPr algn="ctr"/>
            <a:r>
              <a:rPr sz="1600" b="1">
                <a:solidFill>
                  <a:srgbClr val="FFFFFF"/>
                </a:solidFill>
                <a:latin typeface="IBM Plex Sans"/>
              </a:rPr>
              <a:t>No software process to crash</a:t>
            </a:r>
          </a:p>
        </p:txBody>
      </p:sp>
      <p:sp>
        <p:nvSpPr>
          <p:cNvPr id="42" name="TextBox 41"/>
          <p:cNvSpPr txBox="1"/>
          <p:nvPr/>
        </p:nvSpPr>
        <p:spPr>
          <a:xfrm>
            <a:off x="594360" y="5925312"/>
            <a:ext cx="10972800" cy="365760"/>
          </a:xfrm>
          <a:prstGeom prst="rect">
            <a:avLst/>
          </a:prstGeom>
          <a:noFill/>
        </p:spPr>
        <p:txBody>
          <a:bodyPr wrap="square" anchor="t" lIns="0" rIns="0" tIns="0" bIns="0">
            <a:spAutoFit/>
          </a:bodyPr>
          <a:lstStyle/>
          <a:p>
            <a:pPr algn="ctr"/>
            <a:r>
              <a:rPr sz="2000" b="1">
                <a:solidFill>
                  <a:srgbClr val="FFFFFF"/>
                </a:solidFill>
                <a:latin typeface="IBM Plex Sans"/>
              </a:rPr>
              <a:t>If the circuit meets timing, the stream keeps moving.</a:t>
            </a:r>
          </a:p>
        </p:txBody>
      </p:sp>
      <p:sp>
        <p:nvSpPr>
          <p:cNvPr id="43" name="TextBox 42"/>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5BFD2"/>
                </a:solidFill>
                <a:latin typeface="IBM Plex Sans"/>
              </a:rPr>
              <a:t>AMD on Wheels NZ  ·  together we advance</a:t>
            </a:r>
          </a:p>
        </p:txBody>
      </p:sp>
      <p:sp>
        <p:nvSpPr>
          <p:cNvPr id="44" name="TextBox 43"/>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5BFD2"/>
                </a:solidFill>
                <a:latin typeface="IBM Plex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4BA3C3"/>
                </a:solidFill>
                <a:latin typeface="IBM Plex Sans"/>
              </a:rPr>
              <a:t>THE CATCH</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2900" b="1">
                <a:solidFill>
                  <a:srgbClr val="FFFFFF"/>
                </a:solidFill>
                <a:latin typeface="IBM Plex Sans"/>
              </a:rPr>
              <a:t>Vitis HLS changes the iteration economics</a:t>
            </a:r>
          </a:p>
        </p:txBody>
      </p:sp>
      <p:sp>
        <p:nvSpPr>
          <p:cNvPr id="6" name="Rounded Rectangle 5"/>
          <p:cNvSpPr/>
          <p:nvPr/>
        </p:nvSpPr>
        <p:spPr>
          <a:xfrm>
            <a:off x="594360" y="1664208"/>
            <a:ext cx="5074920" cy="333756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01952"/>
            <a:ext cx="4526280" cy="365760"/>
          </a:xfrm>
          <a:prstGeom prst="rect">
            <a:avLst/>
          </a:prstGeom>
          <a:noFill/>
        </p:spPr>
        <p:txBody>
          <a:bodyPr wrap="square" anchor="t" lIns="0" rIns="0" tIns="0" bIns="0">
            <a:spAutoFit/>
          </a:bodyPr>
          <a:lstStyle/>
          <a:p>
            <a:pPr algn="ctr"/>
            <a:r>
              <a:rPr sz="1800" b="1">
                <a:solidFill>
                  <a:srgbClr val="4BA3C3"/>
                </a:solidFill>
                <a:latin typeface="IBM Plex Sans"/>
              </a:rPr>
              <a:t>TRADITIONAL RTL FLOW</a:t>
            </a:r>
          </a:p>
        </p:txBody>
      </p:sp>
      <p:sp>
        <p:nvSpPr>
          <p:cNvPr id="8" name="Rounded Rectangle 7"/>
          <p:cNvSpPr/>
          <p:nvPr/>
        </p:nvSpPr>
        <p:spPr>
          <a:xfrm>
            <a:off x="960120" y="2450592"/>
            <a:ext cx="4343400" cy="1481328"/>
          </a:xfrm>
          <a:prstGeom prst="roundRect">
            <a:avLst>
              <a:gd name="adj" fmla="val 4000"/>
            </a:avLst>
          </a:prstGeom>
          <a:solidFill>
            <a:srgbClr val="05091C"/>
          </a:solidFill>
          <a:ln w="19050">
            <a:solidFill>
              <a:srgbClr val="B5B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2724912"/>
            <a:ext cx="3886200" cy="914400"/>
          </a:xfrm>
          <a:prstGeom prst="rect">
            <a:avLst/>
          </a:prstGeom>
          <a:noFill/>
        </p:spPr>
        <p:txBody>
          <a:bodyPr wrap="square" anchor="ctr" lIns="0" rIns="0" tIns="0" bIns="0">
            <a:spAutoFit/>
          </a:bodyPr>
          <a:lstStyle/>
          <a:p>
            <a:pPr algn="ctr"/>
            <a:r>
              <a:rPr sz="1600" b="1">
                <a:solidFill>
                  <a:srgbClr val="FFFFFF"/>
                </a:solidFill>
                <a:latin typeface="IBM Plex Sans"/>
              </a:rPr>
              <a:t>WRITE RTL</a:t>
            </a:r>
          </a:p>
          <a:p>
            <a:pPr algn="ctr"/>
            <a:r>
              <a:rPr sz="1600" b="1">
                <a:solidFill>
                  <a:srgbClr val="FFFFFF"/>
                </a:solidFill>
                <a:latin typeface="IBM Plex Sans"/>
              </a:rPr>
              <a:t>RUN EVENT SIMULATION</a:t>
            </a:r>
          </a:p>
          <a:p>
            <a:pPr algn="ctr"/>
            <a:r>
              <a:rPr sz="1600" b="1">
                <a:solidFill>
                  <a:srgbClr val="FFFFFF"/>
                </a:solidFill>
                <a:latin typeface="IBM Plex Sans"/>
              </a:rPr>
              <a:t>REWORK THE ARCHITECTURE</a:t>
            </a:r>
          </a:p>
        </p:txBody>
      </p:sp>
      <p:sp>
        <p:nvSpPr>
          <p:cNvPr id="10" name="TextBox 9"/>
          <p:cNvSpPr txBox="1"/>
          <p:nvPr/>
        </p:nvSpPr>
        <p:spPr>
          <a:xfrm>
            <a:off x="914400" y="4224528"/>
            <a:ext cx="4434840" cy="457200"/>
          </a:xfrm>
          <a:prstGeom prst="rect">
            <a:avLst/>
          </a:prstGeom>
          <a:noFill/>
        </p:spPr>
        <p:txBody>
          <a:bodyPr wrap="square" anchor="t" lIns="0" rIns="0" tIns="0" bIns="0">
            <a:spAutoFit/>
          </a:bodyPr>
          <a:lstStyle/>
          <a:p>
            <a:pPr algn="ctr"/>
            <a:r>
              <a:rPr sz="1700" b="1">
                <a:solidFill>
                  <a:srgbClr val="B5BFD2"/>
                </a:solidFill>
                <a:latin typeface="IBM Plex Sans"/>
              </a:rPr>
              <a:t>Large test sets can take</a:t>
            </a:r>
          </a:p>
          <a:p>
            <a:pPr algn="ctr"/>
            <a:r>
              <a:rPr sz="1700" b="1">
                <a:solidFill>
                  <a:srgbClr val="B5BFD2"/>
                </a:solidFill>
                <a:latin typeface="IBM Plex Sans"/>
              </a:rPr>
              <a:t>hours or days</a:t>
            </a:r>
          </a:p>
        </p:txBody>
      </p:sp>
      <p:sp>
        <p:nvSpPr>
          <p:cNvPr id="11" name="Rounded Rectangle 10"/>
          <p:cNvSpPr/>
          <p:nvPr/>
        </p:nvSpPr>
        <p:spPr>
          <a:xfrm>
            <a:off x="6519672" y="1664208"/>
            <a:ext cx="5074920" cy="333756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93992" y="1901952"/>
            <a:ext cx="4526280" cy="365760"/>
          </a:xfrm>
          <a:prstGeom prst="rect">
            <a:avLst/>
          </a:prstGeom>
          <a:noFill/>
        </p:spPr>
        <p:txBody>
          <a:bodyPr wrap="square" anchor="t" lIns="0" rIns="0" tIns="0" bIns="0">
            <a:spAutoFit/>
          </a:bodyPr>
          <a:lstStyle/>
          <a:p>
            <a:pPr algn="ctr"/>
            <a:r>
              <a:rPr sz="1800" b="1">
                <a:solidFill>
                  <a:srgbClr val="4BA3C3"/>
                </a:solidFill>
                <a:latin typeface="IBM Plex Sans"/>
              </a:rPr>
              <a:t>WITH AMD VITIS HLS</a:t>
            </a:r>
          </a:p>
        </p:txBody>
      </p:sp>
      <p:sp>
        <p:nvSpPr>
          <p:cNvPr id="13" name="Rounded Rectangle 12"/>
          <p:cNvSpPr/>
          <p:nvPr/>
        </p:nvSpPr>
        <p:spPr>
          <a:xfrm>
            <a:off x="6967728" y="2450592"/>
            <a:ext cx="4178808" cy="493776"/>
          </a:xfrm>
          <a:prstGeom prst="roundRect">
            <a:avLst>
              <a:gd name="adj" fmla="val 4000"/>
            </a:avLst>
          </a:prstGeom>
          <a:solidFill>
            <a:srgbClr val="05091C"/>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14032" y="2569464"/>
            <a:ext cx="3886200" cy="228600"/>
          </a:xfrm>
          <a:prstGeom prst="rect">
            <a:avLst/>
          </a:prstGeom>
          <a:noFill/>
        </p:spPr>
        <p:txBody>
          <a:bodyPr wrap="square" anchor="t" lIns="0" rIns="0" tIns="0" bIns="0">
            <a:spAutoFit/>
          </a:bodyPr>
          <a:lstStyle/>
          <a:p>
            <a:pPr algn="ctr"/>
            <a:r>
              <a:rPr sz="1200" b="1">
                <a:solidFill>
                  <a:srgbClr val="FFFFFF"/>
                </a:solidFill>
                <a:latin typeface="IBM Plex Sans"/>
              </a:rPr>
              <a:t>C/C++ SIMULATION</a:t>
            </a:r>
          </a:p>
        </p:txBody>
      </p:sp>
      <p:sp>
        <p:nvSpPr>
          <p:cNvPr id="15" name="Rounded Rectangle 14"/>
          <p:cNvSpPr/>
          <p:nvPr/>
        </p:nvSpPr>
        <p:spPr>
          <a:xfrm>
            <a:off x="6967728" y="3108960"/>
            <a:ext cx="4178808" cy="493776"/>
          </a:xfrm>
          <a:prstGeom prst="roundRect">
            <a:avLst>
              <a:gd name="adj" fmla="val 4000"/>
            </a:avLst>
          </a:prstGeom>
          <a:solidFill>
            <a:srgbClr val="05091C"/>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14032" y="3227832"/>
            <a:ext cx="3886200" cy="228600"/>
          </a:xfrm>
          <a:prstGeom prst="rect">
            <a:avLst/>
          </a:prstGeom>
          <a:noFill/>
        </p:spPr>
        <p:txBody>
          <a:bodyPr wrap="square" anchor="t" lIns="0" rIns="0" tIns="0" bIns="0">
            <a:spAutoFit/>
          </a:bodyPr>
          <a:lstStyle/>
          <a:p>
            <a:pPr algn="ctr"/>
            <a:r>
              <a:rPr sz="1200" b="1">
                <a:solidFill>
                  <a:srgbClr val="FFFFFF"/>
                </a:solidFill>
                <a:latin typeface="IBM Plex Sans"/>
              </a:rPr>
              <a:t>HLS SYNTHESIS + REPORTS</a:t>
            </a:r>
          </a:p>
        </p:txBody>
      </p:sp>
      <p:sp>
        <p:nvSpPr>
          <p:cNvPr id="17" name="Rounded Rectangle 16"/>
          <p:cNvSpPr/>
          <p:nvPr/>
        </p:nvSpPr>
        <p:spPr>
          <a:xfrm>
            <a:off x="6967728" y="3767328"/>
            <a:ext cx="4178808" cy="493776"/>
          </a:xfrm>
          <a:prstGeom prst="roundRect">
            <a:avLst>
              <a:gd name="adj" fmla="val 4000"/>
            </a:avLst>
          </a:prstGeom>
          <a:solidFill>
            <a:srgbClr val="05091C"/>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14032" y="3886200"/>
            <a:ext cx="3886200" cy="228600"/>
          </a:xfrm>
          <a:prstGeom prst="rect">
            <a:avLst/>
          </a:prstGeom>
          <a:noFill/>
        </p:spPr>
        <p:txBody>
          <a:bodyPr wrap="square" anchor="t" lIns="0" rIns="0" tIns="0" bIns="0">
            <a:spAutoFit/>
          </a:bodyPr>
          <a:lstStyle/>
          <a:p>
            <a:pPr algn="ctr"/>
            <a:r>
              <a:rPr sz="1200" b="1">
                <a:solidFill>
                  <a:srgbClr val="FFFFFF"/>
                </a:solidFill>
                <a:latin typeface="IBM Plex Sans"/>
              </a:rPr>
              <a:t>EXPLORE WITH DIRECTIVES</a:t>
            </a:r>
          </a:p>
        </p:txBody>
      </p:sp>
      <p:sp>
        <p:nvSpPr>
          <p:cNvPr id="19" name="TextBox 18"/>
          <p:cNvSpPr txBox="1"/>
          <p:nvPr/>
        </p:nvSpPr>
        <p:spPr>
          <a:xfrm>
            <a:off x="6839712" y="4498848"/>
            <a:ext cx="4434840" cy="292608"/>
          </a:xfrm>
          <a:prstGeom prst="rect">
            <a:avLst/>
          </a:prstGeom>
          <a:noFill/>
        </p:spPr>
        <p:txBody>
          <a:bodyPr wrap="square" anchor="t" lIns="0" rIns="0" tIns="0" bIns="0">
            <a:spAutoFit/>
          </a:bodyPr>
          <a:lstStyle/>
          <a:p>
            <a:pPr algn="ctr"/>
            <a:r>
              <a:rPr sz="1500" b="1">
                <a:solidFill>
                  <a:srgbClr val="B5BFD2"/>
                </a:solidFill>
                <a:latin typeface="IBM Plex Sans"/>
              </a:rPr>
              <a:t>seconds or minutes for C simulation</a:t>
            </a:r>
          </a:p>
        </p:txBody>
      </p:sp>
      <p:sp>
        <p:nvSpPr>
          <p:cNvPr id="20" name="TextBox 19"/>
          <p:cNvSpPr txBox="1"/>
          <p:nvPr/>
        </p:nvSpPr>
        <p:spPr>
          <a:xfrm>
            <a:off x="594360" y="5321808"/>
            <a:ext cx="10972800" cy="310896"/>
          </a:xfrm>
          <a:prstGeom prst="rect">
            <a:avLst/>
          </a:prstGeom>
          <a:noFill/>
        </p:spPr>
        <p:txBody>
          <a:bodyPr wrap="square" anchor="t" lIns="0" rIns="0" tIns="0" bIns="0">
            <a:spAutoFit/>
          </a:bodyPr>
          <a:lstStyle/>
          <a:p>
            <a:pPr algn="ctr"/>
            <a:r>
              <a:rPr sz="1900" b="1">
                <a:solidFill>
                  <a:srgbClr val="4BA3C3"/>
                </a:solidFill>
                <a:latin typeface="IBM Plex Sans"/>
              </a:rPr>
              <a:t>AMD VITIS HLS: MORE DESIGN ITERATIONS PER DAY</a:t>
            </a:r>
          </a:p>
        </p:txBody>
      </p:sp>
      <p:sp>
        <p:nvSpPr>
          <p:cNvPr id="21" name="Rounded Rectangle 20"/>
          <p:cNvSpPr/>
          <p:nvPr/>
        </p:nvSpPr>
        <p:spPr>
          <a:xfrm>
            <a:off x="1965960" y="5705856"/>
            <a:ext cx="8257031" cy="621792"/>
          </a:xfrm>
          <a:prstGeom prst="roundRect">
            <a:avLst>
              <a:gd name="adj" fmla="val 4000"/>
            </a:avLst>
          </a:prstGeom>
          <a:solidFill>
            <a:srgbClr val="320835"/>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03120" y="5824728"/>
            <a:ext cx="7982712" cy="347472"/>
          </a:xfrm>
          <a:prstGeom prst="rect">
            <a:avLst/>
          </a:prstGeom>
          <a:noFill/>
        </p:spPr>
        <p:txBody>
          <a:bodyPr wrap="square" anchor="ctr" lIns="0" rIns="0" tIns="0" bIns="0">
            <a:spAutoFit/>
          </a:bodyPr>
          <a:lstStyle/>
          <a:p>
            <a:pPr algn="ctr"/>
            <a:r>
              <a:rPr sz="2100" b="1">
                <a:solidFill>
                  <a:srgbClr val="FFFFFF"/>
                </a:solidFill>
                <a:latin typeface="IBM Plex Sans"/>
              </a:rPr>
              <a:t>UP TO 10,000× FASTER C/C++ SIMULATION*</a:t>
            </a:r>
          </a:p>
        </p:txBody>
      </p:sp>
      <p:sp>
        <p:nvSpPr>
          <p:cNvPr id="23" name="TextBox 22"/>
          <p:cNvSpPr txBox="1"/>
          <p:nvPr/>
        </p:nvSpPr>
        <p:spPr>
          <a:xfrm>
            <a:off x="6400800" y="6345936"/>
            <a:ext cx="5166360" cy="146304"/>
          </a:xfrm>
          <a:prstGeom prst="rect">
            <a:avLst/>
          </a:prstGeom>
          <a:noFill/>
        </p:spPr>
        <p:txBody>
          <a:bodyPr wrap="square" anchor="t" lIns="0" rIns="0" tIns="0" bIns="0">
            <a:spAutoFit/>
          </a:bodyPr>
          <a:lstStyle/>
          <a:p>
            <a:pPr algn="r"/>
            <a:r>
              <a:rPr sz="700" b="0">
                <a:solidFill>
                  <a:srgbClr val="B5BFD2"/>
                </a:solidFill>
                <a:latin typeface="IBM Plex Sans"/>
              </a:rPr>
              <a:t>* AMD Vitis HLS tutorial: C/C++ vs event-based RTL simulation</a:t>
            </a:r>
          </a:p>
        </p:txBody>
      </p:sp>
      <p:sp>
        <p:nvSpPr>
          <p:cNvPr id="24" name="TextBox 23"/>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5BFD2"/>
                </a:solidFill>
                <a:latin typeface="IBM Plex Sans"/>
              </a:rPr>
              <a:t>AMD on Wheels NZ  ·  together we advance</a:t>
            </a:r>
          </a:p>
        </p:txBody>
      </p:sp>
      <p:sp>
        <p:nvSpPr>
          <p:cNvPr id="25" name="TextBox 24"/>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5BFD2"/>
                </a:solidFill>
                <a:latin typeface="IBM Plex Sans"/>
              </a:rPr>
              <a:t>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4572000" cy="274320"/>
          </a:xfrm>
          <a:prstGeom prst="rect">
            <a:avLst/>
          </a:prstGeom>
          <a:noFill/>
        </p:spPr>
        <p:txBody>
          <a:bodyPr wrap="square" anchor="t" lIns="0" rIns="0" tIns="0" bIns="0">
            <a:spAutoFit/>
          </a:bodyPr>
          <a:lstStyle/>
          <a:p>
            <a:pPr algn="l"/>
            <a:r>
              <a:rPr sz="1200" b="1">
                <a:solidFill>
                  <a:srgbClr val="4BA3C3"/>
                </a:solidFill>
                <a:latin typeface="IBM Plex Sans"/>
              </a:rPr>
              <a:t>AMD ON WHEELS NZ  ·  WORKSHOP</a:t>
            </a:r>
          </a:p>
        </p:txBody>
      </p:sp>
      <p:sp>
        <p:nvSpPr>
          <p:cNvPr id="5" name="Rectangle 4"/>
          <p:cNvSpPr/>
          <p:nvPr/>
        </p:nvSpPr>
        <p:spPr>
          <a:xfrm>
            <a:off x="640080" y="1828800"/>
            <a:ext cx="109728" cy="2926080"/>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9875520" cy="960120"/>
          </a:xfrm>
          <a:prstGeom prst="rect">
            <a:avLst/>
          </a:prstGeom>
          <a:noFill/>
        </p:spPr>
        <p:txBody>
          <a:bodyPr wrap="square" anchor="ctr" lIns="0" rIns="0" tIns="0" bIns="0">
            <a:spAutoFit/>
          </a:bodyPr>
          <a:lstStyle/>
          <a:p>
            <a:pPr algn="l"/>
            <a:r>
              <a:rPr sz="4200" b="1">
                <a:solidFill>
                  <a:srgbClr val="FFFFFF"/>
                </a:solidFill>
                <a:latin typeface="IBM Plex Sans"/>
              </a:rPr>
              <a:t>What I Used</a:t>
            </a:r>
          </a:p>
        </p:txBody>
      </p:sp>
      <p:sp>
        <p:nvSpPr>
          <p:cNvPr id="7" name="TextBox 6"/>
          <p:cNvSpPr txBox="1"/>
          <p:nvPr/>
        </p:nvSpPr>
        <p:spPr>
          <a:xfrm>
            <a:off x="1097280" y="3337560"/>
            <a:ext cx="8961120" cy="731520"/>
          </a:xfrm>
          <a:prstGeom prst="rect">
            <a:avLst/>
          </a:prstGeom>
          <a:noFill/>
        </p:spPr>
        <p:txBody>
          <a:bodyPr wrap="square" anchor="ctr" lIns="0" rIns="0" tIns="0" bIns="0">
            <a:spAutoFit/>
          </a:bodyPr>
          <a:lstStyle/>
          <a:p>
            <a:pPr algn="l"/>
            <a:r>
              <a:rPr sz="2000" b="0">
                <a:solidFill>
                  <a:srgbClr val="B5BFD2"/>
                </a:solidFill>
                <a:latin typeface="IBM Plex Sans"/>
              </a:rPr>
              <a:t>AMD Ross  ·  AMD Kria K26 SOM  ·  AMD Vitis HLS</a:t>
            </a:r>
          </a:p>
        </p:txBody>
      </p:sp>
      <p:sp>
        <p:nvSpPr>
          <p:cNvPr id="8" name="TextBox 7"/>
          <p:cNvSpPr txBox="1"/>
          <p:nvPr/>
        </p:nvSpPr>
        <p:spPr>
          <a:xfrm>
            <a:off x="640080" y="6236208"/>
            <a:ext cx="6400800" cy="201168"/>
          </a:xfrm>
          <a:prstGeom prst="rect">
            <a:avLst/>
          </a:prstGeom>
          <a:noFill/>
        </p:spPr>
        <p:txBody>
          <a:bodyPr wrap="square" anchor="t" lIns="0" rIns="0" tIns="0" bIns="0">
            <a:spAutoFit/>
          </a:bodyPr>
          <a:lstStyle/>
          <a:p>
            <a:pPr algn="l"/>
            <a:r>
              <a:rPr sz="900" b="0">
                <a:solidFill>
                  <a:srgbClr val="B5BFD2"/>
                </a:solidFill>
                <a:latin typeface="IBM Plex Sans"/>
              </a:rPr>
              <a:t>AMD on Wheels NZ  ·  together we advance</a:t>
            </a:r>
          </a:p>
        </p:txBody>
      </p:sp>
      <p:sp>
        <p:nvSpPr>
          <p:cNvPr id="9" name="TextBox 8"/>
          <p:cNvSpPr txBox="1"/>
          <p:nvPr/>
        </p:nvSpPr>
        <p:spPr>
          <a:xfrm>
            <a:off x="11155680" y="6236208"/>
            <a:ext cx="457200" cy="201168"/>
          </a:xfrm>
          <a:prstGeom prst="rect">
            <a:avLst/>
          </a:prstGeom>
          <a:noFill/>
        </p:spPr>
        <p:txBody>
          <a:bodyPr wrap="square" anchor="t" lIns="0" rIns="0" tIns="0" bIns="0">
            <a:spAutoFit/>
          </a:bodyPr>
          <a:lstStyle/>
          <a:p>
            <a:pPr algn="r"/>
            <a:r>
              <a:rPr sz="900" b="0">
                <a:solidFill>
                  <a:srgbClr val="B5BFD2"/>
                </a:solidFill>
                <a:latin typeface="IBM Plex Sans"/>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itis-hls-overview.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6565392"/>
            <a:ext cx="594360" cy="292608"/>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01168" y="6601968"/>
            <a:ext cx="274320" cy="164592"/>
          </a:xfrm>
          <a:prstGeom prst="rect">
            <a:avLst/>
          </a:prstGeom>
          <a:noFill/>
        </p:spPr>
        <p:txBody>
          <a:bodyPr wrap="square" anchor="t" lIns="0" rIns="0" tIns="0" bIns="0">
            <a:spAutoFit/>
          </a:bodyPr>
          <a:lstStyle/>
          <a:p>
            <a:pPr algn="ctr"/>
            <a:r>
              <a:rPr sz="900" b="0">
                <a:solidFill>
                  <a:srgbClr val="B5BFD2"/>
                </a:solidFill>
                <a:latin typeface="IBM Plex Sans"/>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md-ross-overview.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6565392"/>
            <a:ext cx="594360" cy="292608"/>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01168" y="6601968"/>
            <a:ext cx="274320" cy="164592"/>
          </a:xfrm>
          <a:prstGeom prst="rect">
            <a:avLst/>
          </a:prstGeom>
          <a:noFill/>
        </p:spPr>
        <p:txBody>
          <a:bodyPr wrap="square" anchor="t" lIns="0" rIns="0" tIns="0" bIns="0">
            <a:spAutoFit/>
          </a:bodyPr>
          <a:lstStyle/>
          <a:p>
            <a:pPr algn="ctr"/>
            <a:r>
              <a:rPr sz="900" b="0">
                <a:solidFill>
                  <a:srgbClr val="B5BFD2"/>
                </a:solidFill>
                <a:latin typeface="IBM Plex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4572000" cy="274320"/>
          </a:xfrm>
          <a:prstGeom prst="rect">
            <a:avLst/>
          </a:prstGeom>
          <a:noFill/>
        </p:spPr>
        <p:txBody>
          <a:bodyPr wrap="square" anchor="t" lIns="0" rIns="0" tIns="0" bIns="0">
            <a:spAutoFit/>
          </a:bodyPr>
          <a:lstStyle/>
          <a:p>
            <a:pPr algn="l"/>
            <a:r>
              <a:rPr sz="1200" b="1">
                <a:solidFill>
                  <a:srgbClr val="4BA3C3"/>
                </a:solidFill>
                <a:latin typeface="IBM Plex Sans"/>
              </a:rPr>
              <a:t>AMD ON WHEELS NZ  ·  WORKSHOP</a:t>
            </a:r>
          </a:p>
        </p:txBody>
      </p:sp>
      <p:sp>
        <p:nvSpPr>
          <p:cNvPr id="5" name="Rectangle 4"/>
          <p:cNvSpPr/>
          <p:nvPr/>
        </p:nvSpPr>
        <p:spPr>
          <a:xfrm>
            <a:off x="640080" y="1828800"/>
            <a:ext cx="109728" cy="2926080"/>
          </a:xfrm>
          <a:prstGeom prst="rect">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9875520" cy="960120"/>
          </a:xfrm>
          <a:prstGeom prst="rect">
            <a:avLst/>
          </a:prstGeom>
          <a:noFill/>
        </p:spPr>
        <p:txBody>
          <a:bodyPr wrap="square" anchor="ctr" lIns="0" rIns="0" tIns="0" bIns="0">
            <a:spAutoFit/>
          </a:bodyPr>
          <a:lstStyle/>
          <a:p>
            <a:pPr algn="l"/>
            <a:r>
              <a:rPr sz="4200" b="1">
                <a:solidFill>
                  <a:srgbClr val="FFFFFF"/>
                </a:solidFill>
                <a:latin typeface="IBM Plex Sans"/>
              </a:rPr>
              <a:t>How I Did It (and how you can too)</a:t>
            </a:r>
          </a:p>
        </p:txBody>
      </p:sp>
      <p:sp>
        <p:nvSpPr>
          <p:cNvPr id="7" name="TextBox 6"/>
          <p:cNvSpPr txBox="1"/>
          <p:nvPr/>
        </p:nvSpPr>
        <p:spPr>
          <a:xfrm>
            <a:off x="1097280" y="3337560"/>
            <a:ext cx="8961120" cy="731520"/>
          </a:xfrm>
          <a:prstGeom prst="rect">
            <a:avLst/>
          </a:prstGeom>
          <a:noFill/>
        </p:spPr>
        <p:txBody>
          <a:bodyPr wrap="square" anchor="ctr" lIns="0" rIns="0" tIns="0" bIns="0">
            <a:spAutoFit/>
          </a:bodyPr>
          <a:lstStyle/>
          <a:p>
            <a:pPr algn="l"/>
            <a:r>
              <a:rPr sz="2000" b="0">
                <a:solidFill>
                  <a:srgbClr val="B5BFD2"/>
                </a:solidFill>
                <a:latin typeface="IBM Plex Sans"/>
              </a:rPr>
              <a:t>Intent  ·  specification  ·  execution  ·  evidence  ·  judgment</a:t>
            </a:r>
          </a:p>
        </p:txBody>
      </p:sp>
      <p:sp>
        <p:nvSpPr>
          <p:cNvPr id="8" name="TextBox 7"/>
          <p:cNvSpPr txBox="1"/>
          <p:nvPr/>
        </p:nvSpPr>
        <p:spPr>
          <a:xfrm>
            <a:off x="640080" y="6236208"/>
            <a:ext cx="6400800" cy="201168"/>
          </a:xfrm>
          <a:prstGeom prst="rect">
            <a:avLst/>
          </a:prstGeom>
          <a:noFill/>
        </p:spPr>
        <p:txBody>
          <a:bodyPr wrap="square" anchor="t" lIns="0" rIns="0" tIns="0" bIns="0">
            <a:spAutoFit/>
          </a:bodyPr>
          <a:lstStyle/>
          <a:p>
            <a:pPr algn="l"/>
            <a:r>
              <a:rPr sz="900" b="0">
                <a:solidFill>
                  <a:srgbClr val="B5BFD2"/>
                </a:solidFill>
                <a:latin typeface="IBM Plex Sans"/>
              </a:rPr>
              <a:t>AMD on Wheels NZ  ·  together we advance</a:t>
            </a:r>
          </a:p>
        </p:txBody>
      </p:sp>
      <p:sp>
        <p:nvSpPr>
          <p:cNvPr id="9" name="TextBox 8"/>
          <p:cNvSpPr txBox="1"/>
          <p:nvPr/>
        </p:nvSpPr>
        <p:spPr>
          <a:xfrm>
            <a:off x="11155680" y="6236208"/>
            <a:ext cx="457200" cy="201168"/>
          </a:xfrm>
          <a:prstGeom prst="rect">
            <a:avLst/>
          </a:prstGeom>
          <a:noFill/>
        </p:spPr>
        <p:txBody>
          <a:bodyPr wrap="square" anchor="t" lIns="0" rIns="0" tIns="0" bIns="0">
            <a:spAutoFit/>
          </a:bodyPr>
          <a:lstStyle/>
          <a:p>
            <a:pPr algn="r"/>
            <a:r>
              <a:rPr sz="900" b="0">
                <a:solidFill>
                  <a:srgbClr val="B5BFD2"/>
                </a:solidFill>
                <a:latin typeface="IBM Plex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4BA3C3"/>
                </a:solidFill>
                <a:latin typeface="IBM Plex Sans"/>
              </a:rPr>
              <a:t>THE WORKFLOW</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2900" b="1">
                <a:solidFill>
                  <a:srgbClr val="FFFFFF"/>
                </a:solidFill>
                <a:latin typeface="IBM Plex Sans"/>
              </a:rPr>
              <a:t>Intent became a plan the agents could execute</a:t>
            </a:r>
          </a:p>
        </p:txBody>
      </p:sp>
      <p:sp>
        <p:nvSpPr>
          <p:cNvPr id="6" name="Rounded Rectangle 5"/>
          <p:cNvSpPr/>
          <p:nvPr/>
        </p:nvSpPr>
        <p:spPr>
          <a:xfrm>
            <a:off x="566928" y="1645920"/>
            <a:ext cx="2542032" cy="361188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426464" y="1938528"/>
            <a:ext cx="822960" cy="822960"/>
          </a:xfrm>
          <a:prstGeom prst="ellipse">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26464" y="2157984"/>
            <a:ext cx="822960" cy="274320"/>
          </a:xfrm>
          <a:prstGeom prst="rect">
            <a:avLst/>
          </a:prstGeom>
          <a:noFill/>
        </p:spPr>
        <p:txBody>
          <a:bodyPr wrap="square" anchor="ctr" lIns="0" rIns="0" tIns="0" bIns="0">
            <a:spAutoFit/>
          </a:bodyPr>
          <a:lstStyle/>
          <a:p>
            <a:pPr algn="ctr"/>
            <a:r>
              <a:rPr sz="1800" b="1">
                <a:solidFill>
                  <a:srgbClr val="07102A"/>
                </a:solidFill>
                <a:latin typeface="IBM Plex Sans"/>
              </a:rPr>
              <a:t>1</a:t>
            </a:r>
          </a:p>
        </p:txBody>
      </p:sp>
      <p:sp>
        <p:nvSpPr>
          <p:cNvPr id="9" name="TextBox 8"/>
          <p:cNvSpPr txBox="1"/>
          <p:nvPr/>
        </p:nvSpPr>
        <p:spPr>
          <a:xfrm>
            <a:off x="749808" y="3063240"/>
            <a:ext cx="2176272" cy="347472"/>
          </a:xfrm>
          <a:prstGeom prst="rect">
            <a:avLst/>
          </a:prstGeom>
          <a:noFill/>
        </p:spPr>
        <p:txBody>
          <a:bodyPr wrap="square" anchor="t" lIns="0" rIns="0" tIns="0" bIns="0">
            <a:spAutoFit/>
          </a:bodyPr>
          <a:lstStyle/>
          <a:p>
            <a:pPr algn="ctr"/>
            <a:r>
              <a:rPr sz="1500" b="1">
                <a:solidFill>
                  <a:srgbClr val="4BA3C3"/>
                </a:solidFill>
                <a:latin typeface="IBM Plex Sans"/>
              </a:rPr>
              <a:t>CONVERSATION</a:t>
            </a:r>
          </a:p>
        </p:txBody>
      </p:sp>
      <p:sp>
        <p:nvSpPr>
          <p:cNvPr id="10" name="TextBox 9"/>
          <p:cNvSpPr txBox="1"/>
          <p:nvPr/>
        </p:nvSpPr>
        <p:spPr>
          <a:xfrm>
            <a:off x="795528" y="3803904"/>
            <a:ext cx="2084831" cy="822960"/>
          </a:xfrm>
          <a:prstGeom prst="rect">
            <a:avLst/>
          </a:prstGeom>
          <a:noFill/>
        </p:spPr>
        <p:txBody>
          <a:bodyPr wrap="square" anchor="ctr" lIns="0" rIns="0" tIns="0" bIns="0">
            <a:spAutoFit/>
          </a:bodyPr>
          <a:lstStyle/>
          <a:p>
            <a:pPr algn="ctr"/>
            <a:r>
              <a:rPr sz="1500" b="1">
                <a:solidFill>
                  <a:srgbClr val="FFFFFF"/>
                </a:solidFill>
                <a:latin typeface="IBM Plex Sans"/>
              </a:rPr>
              <a:t>I want to create a</a:t>
            </a:r>
          </a:p>
          <a:p>
            <a:pPr algn="ctr"/>
            <a:r>
              <a:rPr sz="1500" b="1">
                <a:solidFill>
                  <a:srgbClr val="FFFFFF"/>
                </a:solidFill>
                <a:latin typeface="IBM Plex Sans"/>
              </a:rPr>
              <a:t>polyphonic synthesizer...</a:t>
            </a:r>
          </a:p>
        </p:txBody>
      </p:sp>
      <p:cxnSp>
        <p:nvCxnSpPr>
          <p:cNvPr id="11" name="Connector 10"/>
          <p:cNvCxnSpPr/>
          <p:nvPr/>
        </p:nvCxnSpPr>
        <p:spPr>
          <a:xfrm>
            <a:off x="3108960" y="3456432"/>
            <a:ext cx="365760"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74720" y="1645920"/>
            <a:ext cx="2542032" cy="361188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334256" y="1938528"/>
            <a:ext cx="822960" cy="822960"/>
          </a:xfrm>
          <a:prstGeom prst="ellipse">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6" y="2157984"/>
            <a:ext cx="822960" cy="274320"/>
          </a:xfrm>
          <a:prstGeom prst="rect">
            <a:avLst/>
          </a:prstGeom>
          <a:noFill/>
        </p:spPr>
        <p:txBody>
          <a:bodyPr wrap="square" anchor="ctr" lIns="0" rIns="0" tIns="0" bIns="0">
            <a:spAutoFit/>
          </a:bodyPr>
          <a:lstStyle/>
          <a:p>
            <a:pPr algn="ctr"/>
            <a:r>
              <a:rPr sz="1800" b="1">
                <a:solidFill>
                  <a:srgbClr val="07102A"/>
                </a:solidFill>
                <a:latin typeface="IBM Plex Sans"/>
              </a:rPr>
              <a:t>2</a:t>
            </a:r>
          </a:p>
        </p:txBody>
      </p:sp>
      <p:sp>
        <p:nvSpPr>
          <p:cNvPr id="15" name="TextBox 14"/>
          <p:cNvSpPr txBox="1"/>
          <p:nvPr/>
        </p:nvSpPr>
        <p:spPr>
          <a:xfrm>
            <a:off x="3657600" y="3063240"/>
            <a:ext cx="2176272" cy="347472"/>
          </a:xfrm>
          <a:prstGeom prst="rect">
            <a:avLst/>
          </a:prstGeom>
          <a:noFill/>
        </p:spPr>
        <p:txBody>
          <a:bodyPr wrap="square" anchor="t" lIns="0" rIns="0" tIns="0" bIns="0">
            <a:spAutoFit/>
          </a:bodyPr>
          <a:lstStyle/>
          <a:p>
            <a:pPr algn="ctr"/>
            <a:r>
              <a:rPr sz="1500" b="1">
                <a:solidFill>
                  <a:srgbClr val="4BA3C3"/>
                </a:solidFill>
                <a:latin typeface="IBM Plex Sans"/>
              </a:rPr>
              <a:t>SPECIFICATION</a:t>
            </a:r>
          </a:p>
        </p:txBody>
      </p:sp>
      <p:sp>
        <p:nvSpPr>
          <p:cNvPr id="16" name="TextBox 15"/>
          <p:cNvSpPr txBox="1"/>
          <p:nvPr/>
        </p:nvSpPr>
        <p:spPr>
          <a:xfrm>
            <a:off x="3703320" y="3803904"/>
            <a:ext cx="2084831" cy="822960"/>
          </a:xfrm>
          <a:prstGeom prst="rect">
            <a:avLst/>
          </a:prstGeom>
          <a:noFill/>
        </p:spPr>
        <p:txBody>
          <a:bodyPr wrap="square" anchor="ctr" lIns="0" rIns="0" tIns="0" bIns="0">
            <a:spAutoFit/>
          </a:bodyPr>
          <a:lstStyle/>
          <a:p>
            <a:pPr algn="ctr"/>
            <a:r>
              <a:rPr sz="1500" b="1">
                <a:solidFill>
                  <a:srgbClr val="FFFFFF"/>
                </a:solidFill>
                <a:latin typeface="IBM Plex Sans"/>
              </a:rPr>
              <a:t>Requirements, interfaces</a:t>
            </a:r>
          </a:p>
          <a:p>
            <a:pPr algn="ctr"/>
            <a:r>
              <a:rPr sz="1500" b="1">
                <a:solidFill>
                  <a:srgbClr val="FFFFFF"/>
                </a:solidFill>
                <a:latin typeface="IBM Plex Sans"/>
              </a:rPr>
              <a:t>and acceptance tests</a:t>
            </a:r>
          </a:p>
        </p:txBody>
      </p:sp>
      <p:cxnSp>
        <p:nvCxnSpPr>
          <p:cNvPr id="17" name="Connector 16"/>
          <p:cNvCxnSpPr/>
          <p:nvPr/>
        </p:nvCxnSpPr>
        <p:spPr>
          <a:xfrm>
            <a:off x="6016752" y="3456432"/>
            <a:ext cx="365760"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82512" y="1645920"/>
            <a:ext cx="2542032" cy="361188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242048" y="1938528"/>
            <a:ext cx="822960" cy="822960"/>
          </a:xfrm>
          <a:prstGeom prst="ellipse">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42048" y="2157984"/>
            <a:ext cx="822960" cy="274320"/>
          </a:xfrm>
          <a:prstGeom prst="rect">
            <a:avLst/>
          </a:prstGeom>
          <a:noFill/>
        </p:spPr>
        <p:txBody>
          <a:bodyPr wrap="square" anchor="ctr" lIns="0" rIns="0" tIns="0" bIns="0">
            <a:spAutoFit/>
          </a:bodyPr>
          <a:lstStyle/>
          <a:p>
            <a:pPr algn="ctr"/>
            <a:r>
              <a:rPr sz="1800" b="1">
                <a:solidFill>
                  <a:srgbClr val="07102A"/>
                </a:solidFill>
                <a:latin typeface="IBM Plex Sans"/>
              </a:rPr>
              <a:t>3</a:t>
            </a:r>
          </a:p>
        </p:txBody>
      </p:sp>
      <p:sp>
        <p:nvSpPr>
          <p:cNvPr id="21" name="TextBox 20"/>
          <p:cNvSpPr txBox="1"/>
          <p:nvPr/>
        </p:nvSpPr>
        <p:spPr>
          <a:xfrm>
            <a:off x="6565392" y="3063240"/>
            <a:ext cx="2176272" cy="347472"/>
          </a:xfrm>
          <a:prstGeom prst="rect">
            <a:avLst/>
          </a:prstGeom>
          <a:noFill/>
        </p:spPr>
        <p:txBody>
          <a:bodyPr wrap="square" anchor="t" lIns="0" rIns="0" tIns="0" bIns="0">
            <a:spAutoFit/>
          </a:bodyPr>
          <a:lstStyle/>
          <a:p>
            <a:pPr algn="ctr"/>
            <a:r>
              <a:rPr sz="1500" b="1">
                <a:solidFill>
                  <a:srgbClr val="4BA3C3"/>
                </a:solidFill>
                <a:latin typeface="IBM Plex Sans"/>
              </a:rPr>
              <a:t>GENERATED PLAN</a:t>
            </a:r>
          </a:p>
        </p:txBody>
      </p:sp>
      <p:sp>
        <p:nvSpPr>
          <p:cNvPr id="22" name="TextBox 21"/>
          <p:cNvSpPr txBox="1"/>
          <p:nvPr/>
        </p:nvSpPr>
        <p:spPr>
          <a:xfrm>
            <a:off x="6611112" y="3803904"/>
            <a:ext cx="2084831" cy="822960"/>
          </a:xfrm>
          <a:prstGeom prst="rect">
            <a:avLst/>
          </a:prstGeom>
          <a:noFill/>
        </p:spPr>
        <p:txBody>
          <a:bodyPr wrap="square" anchor="ctr" lIns="0" rIns="0" tIns="0" bIns="0">
            <a:spAutoFit/>
          </a:bodyPr>
          <a:lstStyle/>
          <a:p>
            <a:pPr algn="ctr"/>
            <a:r>
              <a:rPr sz="1500" b="1">
                <a:solidFill>
                  <a:srgbClr val="FFFFFF"/>
                </a:solidFill>
                <a:latin typeface="IBM Plex Sans"/>
              </a:rPr>
              <a:t>Ordered work, gates</a:t>
            </a:r>
          </a:p>
          <a:p>
            <a:pPr algn="ctr"/>
            <a:r>
              <a:rPr sz="1500" b="1">
                <a:solidFill>
                  <a:srgbClr val="FFFFFF"/>
                </a:solidFill>
                <a:latin typeface="IBM Plex Sans"/>
              </a:rPr>
              <a:t>and dependencies</a:t>
            </a:r>
          </a:p>
        </p:txBody>
      </p:sp>
      <p:cxnSp>
        <p:nvCxnSpPr>
          <p:cNvPr id="23" name="Connector 22"/>
          <p:cNvCxnSpPr/>
          <p:nvPr/>
        </p:nvCxnSpPr>
        <p:spPr>
          <a:xfrm>
            <a:off x="8924544" y="3456432"/>
            <a:ext cx="365760"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290304" y="1645920"/>
            <a:ext cx="2542032" cy="361188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149840" y="1938528"/>
            <a:ext cx="822960" cy="822960"/>
          </a:xfrm>
          <a:prstGeom prst="ellipse">
            <a:avLst/>
          </a:prstGeom>
          <a:solidFill>
            <a:srgbClr val="4BA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49840" y="2157984"/>
            <a:ext cx="822960" cy="274320"/>
          </a:xfrm>
          <a:prstGeom prst="rect">
            <a:avLst/>
          </a:prstGeom>
          <a:noFill/>
        </p:spPr>
        <p:txBody>
          <a:bodyPr wrap="square" anchor="ctr" lIns="0" rIns="0" tIns="0" bIns="0">
            <a:spAutoFit/>
          </a:bodyPr>
          <a:lstStyle/>
          <a:p>
            <a:pPr algn="ctr"/>
            <a:r>
              <a:rPr sz="1800" b="1">
                <a:solidFill>
                  <a:srgbClr val="07102A"/>
                </a:solidFill>
                <a:latin typeface="IBM Plex Sans"/>
              </a:rPr>
              <a:t>4</a:t>
            </a:r>
          </a:p>
        </p:txBody>
      </p:sp>
      <p:sp>
        <p:nvSpPr>
          <p:cNvPr id="27" name="TextBox 26"/>
          <p:cNvSpPr txBox="1"/>
          <p:nvPr/>
        </p:nvSpPr>
        <p:spPr>
          <a:xfrm>
            <a:off x="9473184" y="3063240"/>
            <a:ext cx="2176272" cy="347472"/>
          </a:xfrm>
          <a:prstGeom prst="rect">
            <a:avLst/>
          </a:prstGeom>
          <a:noFill/>
        </p:spPr>
        <p:txBody>
          <a:bodyPr wrap="square" anchor="t" lIns="0" rIns="0" tIns="0" bIns="0">
            <a:spAutoFit/>
          </a:bodyPr>
          <a:lstStyle/>
          <a:p>
            <a:pPr algn="ctr"/>
            <a:r>
              <a:rPr sz="1500" b="1">
                <a:solidFill>
                  <a:srgbClr val="4BA3C3"/>
                </a:solidFill>
                <a:latin typeface="IBM Plex Sans"/>
              </a:rPr>
              <a:t>SUBAGENTS</a:t>
            </a:r>
          </a:p>
        </p:txBody>
      </p:sp>
      <p:sp>
        <p:nvSpPr>
          <p:cNvPr id="28" name="TextBox 27"/>
          <p:cNvSpPr txBox="1"/>
          <p:nvPr/>
        </p:nvSpPr>
        <p:spPr>
          <a:xfrm>
            <a:off x="9518904" y="3803904"/>
            <a:ext cx="2084831" cy="822960"/>
          </a:xfrm>
          <a:prstGeom prst="rect">
            <a:avLst/>
          </a:prstGeom>
          <a:noFill/>
        </p:spPr>
        <p:txBody>
          <a:bodyPr wrap="square" anchor="ctr" lIns="0" rIns="0" tIns="0" bIns="0">
            <a:spAutoFit/>
          </a:bodyPr>
          <a:lstStyle/>
          <a:p>
            <a:pPr algn="ctr"/>
            <a:r>
              <a:rPr sz="1500" b="1">
                <a:solidFill>
                  <a:srgbClr val="FFFFFF"/>
                </a:solidFill>
                <a:latin typeface="IBM Plex Sans"/>
              </a:rPr>
              <a:t>Vivado + HLS skills</a:t>
            </a:r>
          </a:p>
          <a:p>
            <a:pPr algn="ctr"/>
            <a:r>
              <a:rPr sz="1500" b="1">
                <a:solidFill>
                  <a:srgbClr val="FFFFFF"/>
                </a:solidFill>
                <a:latin typeface="IBM Plex Sans"/>
              </a:rPr>
              <a:t>work the plan</a:t>
            </a:r>
          </a:p>
        </p:txBody>
      </p:sp>
      <p:sp>
        <p:nvSpPr>
          <p:cNvPr id="29" name="TextBox 28"/>
          <p:cNvSpPr txBox="1"/>
          <p:nvPr/>
        </p:nvSpPr>
        <p:spPr>
          <a:xfrm>
            <a:off x="640080" y="5715000"/>
            <a:ext cx="10927080" cy="457200"/>
          </a:xfrm>
          <a:prstGeom prst="rect">
            <a:avLst/>
          </a:prstGeom>
          <a:noFill/>
        </p:spPr>
        <p:txBody>
          <a:bodyPr wrap="square" anchor="t" lIns="0" rIns="0" tIns="0" bIns="0">
            <a:spAutoFit/>
          </a:bodyPr>
          <a:lstStyle/>
          <a:p>
            <a:pPr algn="ctr"/>
            <a:r>
              <a:rPr sz="2200" b="1">
                <a:solidFill>
                  <a:srgbClr val="FFFFFF"/>
                </a:solidFill>
                <a:latin typeface="IBM Plex Sans"/>
              </a:rPr>
              <a:t>A brief design conversation.  Then a few days of agentic execution.</a:t>
            </a:r>
          </a:p>
        </p:txBody>
      </p:sp>
      <p:sp>
        <p:nvSpPr>
          <p:cNvPr id="30" name="TextBox 29"/>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5BFD2"/>
                </a:solidFill>
                <a:latin typeface="IBM Plex Sans"/>
              </a:rPr>
              <a:t>AMD on Wheels NZ  ·  together we advance</a:t>
            </a:r>
          </a:p>
        </p:txBody>
      </p:sp>
      <p:sp>
        <p:nvSpPr>
          <p:cNvPr id="31" name="TextBox 30"/>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5BFD2"/>
                </a:solidFill>
                <a:latin typeface="IBM Plex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4BA3C3"/>
                </a:solidFill>
                <a:latin typeface="IBM Plex Sans"/>
              </a:rPr>
              <a:t>THE ENGINEERING TARGET</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100" b="1">
                <a:solidFill>
                  <a:srgbClr val="FFFFFF"/>
                </a:solidFill>
                <a:latin typeface="IBM Plex Sans"/>
              </a:rPr>
              <a:t>The target was never ambiguous</a:t>
            </a:r>
          </a:p>
        </p:txBody>
      </p:sp>
      <p:sp>
        <p:nvSpPr>
          <p:cNvPr id="6" name="Rounded Rectangle 5"/>
          <p:cNvSpPr/>
          <p:nvPr/>
        </p:nvSpPr>
        <p:spPr>
          <a:xfrm>
            <a:off x="658368" y="1664208"/>
            <a:ext cx="5230368" cy="3584448"/>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1938528"/>
            <a:ext cx="4681728" cy="347472"/>
          </a:xfrm>
          <a:prstGeom prst="rect">
            <a:avLst/>
          </a:prstGeom>
          <a:noFill/>
        </p:spPr>
        <p:txBody>
          <a:bodyPr wrap="square" anchor="t" lIns="0" rIns="0" tIns="0" bIns="0">
            <a:spAutoFit/>
          </a:bodyPr>
          <a:lstStyle/>
          <a:p>
            <a:pPr algn="ctr"/>
            <a:r>
              <a:rPr sz="1600" b="1">
                <a:solidFill>
                  <a:srgbClr val="4BA3C3"/>
                </a:solidFill>
                <a:latin typeface="IBM Plex Sans"/>
              </a:rPr>
              <a:t>AVAILABLE BUDGET</a:t>
            </a:r>
          </a:p>
        </p:txBody>
      </p:sp>
      <p:sp>
        <p:nvSpPr>
          <p:cNvPr id="8" name="TextBox 7"/>
          <p:cNvSpPr txBox="1"/>
          <p:nvPr/>
        </p:nvSpPr>
        <p:spPr>
          <a:xfrm>
            <a:off x="914400" y="2578608"/>
            <a:ext cx="4718304" cy="914400"/>
          </a:xfrm>
          <a:prstGeom prst="rect">
            <a:avLst/>
          </a:prstGeom>
          <a:noFill/>
        </p:spPr>
        <p:txBody>
          <a:bodyPr wrap="square" anchor="t" lIns="0" rIns="0" tIns="0" bIns="0">
            <a:spAutoFit/>
          </a:bodyPr>
          <a:lstStyle/>
          <a:p>
            <a:pPr algn="ctr"/>
            <a:r>
              <a:rPr sz="4800" b="1">
                <a:solidFill>
                  <a:srgbClr val="FFFFFF"/>
                </a:solidFill>
                <a:latin typeface="IBM Plex Sans"/>
              </a:rPr>
              <a:t>~2,000</a:t>
            </a:r>
          </a:p>
        </p:txBody>
      </p:sp>
      <p:sp>
        <p:nvSpPr>
          <p:cNvPr id="9" name="TextBox 8"/>
          <p:cNvSpPr txBox="1"/>
          <p:nvPr/>
        </p:nvSpPr>
        <p:spPr>
          <a:xfrm>
            <a:off x="914400" y="3547872"/>
            <a:ext cx="4718304" cy="384048"/>
          </a:xfrm>
          <a:prstGeom prst="rect">
            <a:avLst/>
          </a:prstGeom>
          <a:noFill/>
        </p:spPr>
        <p:txBody>
          <a:bodyPr wrap="square" anchor="t" lIns="0" rIns="0" tIns="0" bIns="0">
            <a:spAutoFit/>
          </a:bodyPr>
          <a:lstStyle/>
          <a:p>
            <a:pPr algn="ctr"/>
            <a:r>
              <a:rPr sz="1900" b="1">
                <a:solidFill>
                  <a:srgbClr val="B5BFD2"/>
                </a:solidFill>
                <a:latin typeface="IBM Plex Sans"/>
              </a:rPr>
              <a:t>cycles per audio sample</a:t>
            </a:r>
          </a:p>
        </p:txBody>
      </p:sp>
      <p:sp>
        <p:nvSpPr>
          <p:cNvPr id="10" name="TextBox 9"/>
          <p:cNvSpPr txBox="1"/>
          <p:nvPr/>
        </p:nvSpPr>
        <p:spPr>
          <a:xfrm>
            <a:off x="960120" y="4315968"/>
            <a:ext cx="4626864" cy="457200"/>
          </a:xfrm>
          <a:prstGeom prst="rect">
            <a:avLst/>
          </a:prstGeom>
          <a:noFill/>
        </p:spPr>
        <p:txBody>
          <a:bodyPr wrap="square" anchor="t" lIns="0" rIns="0" tIns="0" bIns="0">
            <a:spAutoFit/>
          </a:bodyPr>
          <a:lstStyle/>
          <a:p>
            <a:pPr algn="ctr"/>
            <a:r>
              <a:rPr sz="1800" b="1">
                <a:solidFill>
                  <a:srgbClr val="FFFFFF"/>
                </a:solidFill>
                <a:latin typeface="IBM Plex Sans"/>
              </a:rPr>
              <a:t>Latency had room to grow</a:t>
            </a:r>
          </a:p>
        </p:txBody>
      </p:sp>
      <p:sp>
        <p:nvSpPr>
          <p:cNvPr id="11" name="Rounded Rectangle 10"/>
          <p:cNvSpPr/>
          <p:nvPr/>
        </p:nvSpPr>
        <p:spPr>
          <a:xfrm>
            <a:off x="6291072" y="1664208"/>
            <a:ext cx="5230368" cy="3584448"/>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392" y="1938528"/>
            <a:ext cx="4681728" cy="347472"/>
          </a:xfrm>
          <a:prstGeom prst="rect">
            <a:avLst/>
          </a:prstGeom>
          <a:noFill/>
        </p:spPr>
        <p:txBody>
          <a:bodyPr wrap="square" anchor="t" lIns="0" rIns="0" tIns="0" bIns="0">
            <a:spAutoFit/>
          </a:bodyPr>
          <a:lstStyle/>
          <a:p>
            <a:pPr algn="ctr"/>
            <a:r>
              <a:rPr sz="1600" b="1">
                <a:solidFill>
                  <a:srgbClr val="4BA3C3"/>
                </a:solidFill>
                <a:latin typeface="IBM Plex Sans"/>
              </a:rPr>
              <a:t>ACCEPTANCE CRITERION</a:t>
            </a:r>
          </a:p>
        </p:txBody>
      </p:sp>
      <p:sp>
        <p:nvSpPr>
          <p:cNvPr id="13" name="TextBox 12"/>
          <p:cNvSpPr txBox="1"/>
          <p:nvPr/>
        </p:nvSpPr>
        <p:spPr>
          <a:xfrm>
            <a:off x="6547104" y="2578608"/>
            <a:ext cx="4718304" cy="914400"/>
          </a:xfrm>
          <a:prstGeom prst="rect">
            <a:avLst/>
          </a:prstGeom>
          <a:noFill/>
        </p:spPr>
        <p:txBody>
          <a:bodyPr wrap="square" anchor="t" lIns="0" rIns="0" tIns="0" bIns="0">
            <a:spAutoFit/>
          </a:bodyPr>
          <a:lstStyle/>
          <a:p>
            <a:pPr algn="ctr"/>
            <a:r>
              <a:rPr sz="4800" b="1">
                <a:solidFill>
                  <a:srgbClr val="FFFFFF"/>
                </a:solidFill>
                <a:latin typeface="IBM Plex Sans"/>
              </a:rPr>
              <a:t>10 ns</a:t>
            </a:r>
          </a:p>
        </p:txBody>
      </p:sp>
      <p:sp>
        <p:nvSpPr>
          <p:cNvPr id="14" name="TextBox 13"/>
          <p:cNvSpPr txBox="1"/>
          <p:nvPr/>
        </p:nvSpPr>
        <p:spPr>
          <a:xfrm>
            <a:off x="6547104" y="3547872"/>
            <a:ext cx="4718304" cy="384048"/>
          </a:xfrm>
          <a:prstGeom prst="rect">
            <a:avLst/>
          </a:prstGeom>
          <a:noFill/>
        </p:spPr>
        <p:txBody>
          <a:bodyPr wrap="square" anchor="t" lIns="0" rIns="0" tIns="0" bIns="0">
            <a:spAutoFit/>
          </a:bodyPr>
          <a:lstStyle/>
          <a:p>
            <a:pPr algn="ctr"/>
            <a:r>
              <a:rPr sz="1900" b="1">
                <a:solidFill>
                  <a:srgbClr val="B5BFD2"/>
                </a:solidFill>
                <a:latin typeface="IBM Plex Sans"/>
              </a:rPr>
              <a:t>clock-period target</a:t>
            </a:r>
          </a:p>
        </p:txBody>
      </p:sp>
      <p:sp>
        <p:nvSpPr>
          <p:cNvPr id="15" name="TextBox 14"/>
          <p:cNvSpPr txBox="1"/>
          <p:nvPr/>
        </p:nvSpPr>
        <p:spPr>
          <a:xfrm>
            <a:off x="6583680" y="4315968"/>
            <a:ext cx="4626864" cy="457200"/>
          </a:xfrm>
          <a:prstGeom prst="rect">
            <a:avLst/>
          </a:prstGeom>
          <a:noFill/>
        </p:spPr>
        <p:txBody>
          <a:bodyPr wrap="square" anchor="t" lIns="0" rIns="0" tIns="0" bIns="0">
            <a:spAutoFit/>
          </a:bodyPr>
          <a:lstStyle/>
          <a:p>
            <a:pPr algn="ctr"/>
            <a:r>
              <a:rPr sz="1800" b="1">
                <a:solidFill>
                  <a:srgbClr val="FFFFFF"/>
                </a:solidFill>
                <a:latin typeface="IBM Plex Sans"/>
              </a:rPr>
              <a:t>The design had to close timing</a:t>
            </a:r>
          </a:p>
        </p:txBody>
      </p:sp>
      <p:sp>
        <p:nvSpPr>
          <p:cNvPr id="16" name="TextBox 15"/>
          <p:cNvSpPr txBox="1"/>
          <p:nvPr/>
        </p:nvSpPr>
        <p:spPr>
          <a:xfrm>
            <a:off x="640080" y="5715000"/>
            <a:ext cx="10927080" cy="457200"/>
          </a:xfrm>
          <a:prstGeom prst="rect">
            <a:avLst/>
          </a:prstGeom>
          <a:noFill/>
        </p:spPr>
        <p:txBody>
          <a:bodyPr wrap="square" anchor="t" lIns="0" rIns="0" tIns="0" bIns="0">
            <a:spAutoFit/>
          </a:bodyPr>
          <a:lstStyle/>
          <a:p>
            <a:pPr algn="ctr"/>
            <a:r>
              <a:rPr sz="2200" b="1">
                <a:solidFill>
                  <a:srgbClr val="FFFFFF"/>
                </a:solidFill>
                <a:latin typeface="IBM Plex Sans"/>
              </a:rPr>
              <a:t>Fewer cycles were nice.  A faster clock was necessary.</a:t>
            </a:r>
          </a:p>
        </p:txBody>
      </p:sp>
      <p:sp>
        <p:nvSpPr>
          <p:cNvPr id="17" name="TextBox 16"/>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5BFD2"/>
                </a:solidFill>
                <a:latin typeface="IBM Plex Sans"/>
              </a:rPr>
              <a:t>AMD on Wheels NZ  ·  together we advance</a:t>
            </a:r>
          </a:p>
        </p:txBody>
      </p:sp>
      <p:sp>
        <p:nvSpPr>
          <p:cNvPr id="18" name="TextBox 17"/>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5BFD2"/>
                </a:solidFill>
                <a:latin typeface="IBM Plex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4BA3C3"/>
                </a:solidFill>
                <a:latin typeface="IBM Plex Sans"/>
              </a:rPr>
              <a:t>AGENTIC TUNNEL VISION</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2900" b="1">
                <a:solidFill>
                  <a:srgbClr val="FFFFFF"/>
                </a:solidFill>
                <a:latin typeface="IBM Plex Sans"/>
              </a:rPr>
              <a:t>It improved everything except what mattered</a:t>
            </a:r>
          </a:p>
        </p:txBody>
      </p:sp>
      <p:sp>
        <p:nvSpPr>
          <p:cNvPr id="6" name="Rounded Rectangle 5"/>
          <p:cNvSpPr/>
          <p:nvPr/>
        </p:nvSpPr>
        <p:spPr>
          <a:xfrm>
            <a:off x="658368" y="1627632"/>
            <a:ext cx="5230368" cy="3520440"/>
          </a:xfrm>
          <a:prstGeom prst="roundRect">
            <a:avLst>
              <a:gd name="adj" fmla="val 4000"/>
            </a:avLst>
          </a:prstGeom>
          <a:solidFill>
            <a:srgbClr val="162243"/>
          </a:solidFill>
          <a:ln w="19050">
            <a:solidFill>
              <a:srgbClr val="B5B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1874519"/>
            <a:ext cx="4681728" cy="347472"/>
          </a:xfrm>
          <a:prstGeom prst="rect">
            <a:avLst/>
          </a:prstGeom>
          <a:noFill/>
        </p:spPr>
        <p:txBody>
          <a:bodyPr wrap="square" anchor="t" lIns="0" rIns="0" tIns="0" bIns="0">
            <a:spAutoFit/>
          </a:bodyPr>
          <a:lstStyle/>
          <a:p>
            <a:pPr algn="ctr"/>
            <a:r>
              <a:rPr sz="1700" b="1">
                <a:solidFill>
                  <a:srgbClr val="B5BFD2"/>
                </a:solidFill>
                <a:latin typeface="IBM Plex Sans"/>
              </a:rPr>
              <a:t>BEFORE</a:t>
            </a:r>
          </a:p>
        </p:txBody>
      </p:sp>
      <p:sp>
        <p:nvSpPr>
          <p:cNvPr id="8" name="TextBox 7"/>
          <p:cNvSpPr txBox="1"/>
          <p:nvPr/>
        </p:nvSpPr>
        <p:spPr>
          <a:xfrm>
            <a:off x="1024128" y="2487168"/>
            <a:ext cx="4498848" cy="585216"/>
          </a:xfrm>
          <a:prstGeom prst="rect">
            <a:avLst/>
          </a:prstGeom>
          <a:noFill/>
        </p:spPr>
        <p:txBody>
          <a:bodyPr wrap="square" anchor="t" lIns="0" rIns="0" tIns="0" bIns="0">
            <a:spAutoFit/>
          </a:bodyPr>
          <a:lstStyle/>
          <a:p>
            <a:pPr algn="ctr"/>
            <a:r>
              <a:rPr sz="3000" b="1">
                <a:solidFill>
                  <a:srgbClr val="FFFFFF"/>
                </a:solidFill>
                <a:latin typeface="IBM Plex Sans"/>
              </a:rPr>
              <a:t>114</a:t>
            </a:r>
          </a:p>
        </p:txBody>
      </p:sp>
      <p:sp>
        <p:nvSpPr>
          <p:cNvPr id="9" name="TextBox 8"/>
          <p:cNvSpPr txBox="1"/>
          <p:nvPr/>
        </p:nvSpPr>
        <p:spPr>
          <a:xfrm>
            <a:off x="1024128" y="3072384"/>
            <a:ext cx="4498848" cy="256032"/>
          </a:xfrm>
          <a:prstGeom prst="rect">
            <a:avLst/>
          </a:prstGeom>
          <a:noFill/>
        </p:spPr>
        <p:txBody>
          <a:bodyPr wrap="square" anchor="t" lIns="0" rIns="0" tIns="0" bIns="0">
            <a:spAutoFit/>
          </a:bodyPr>
          <a:lstStyle/>
          <a:p>
            <a:pPr algn="ctr"/>
            <a:r>
              <a:rPr sz="1300" b="1">
                <a:solidFill>
                  <a:srgbClr val="B5BFD2"/>
                </a:solidFill>
                <a:latin typeface="IBM Plex Sans"/>
              </a:rPr>
              <a:t>cycles</a:t>
            </a:r>
          </a:p>
        </p:txBody>
      </p:sp>
      <p:sp>
        <p:nvSpPr>
          <p:cNvPr id="10" name="TextBox 9"/>
          <p:cNvSpPr txBox="1"/>
          <p:nvPr/>
        </p:nvSpPr>
        <p:spPr>
          <a:xfrm>
            <a:off x="1024128" y="3712464"/>
            <a:ext cx="4498848" cy="585216"/>
          </a:xfrm>
          <a:prstGeom prst="rect">
            <a:avLst/>
          </a:prstGeom>
          <a:noFill/>
        </p:spPr>
        <p:txBody>
          <a:bodyPr wrap="square" anchor="t" lIns="0" rIns="0" tIns="0" bIns="0">
            <a:spAutoFit/>
          </a:bodyPr>
          <a:lstStyle/>
          <a:p>
            <a:pPr algn="ctr"/>
            <a:r>
              <a:rPr sz="3000" b="1">
                <a:solidFill>
                  <a:srgbClr val="FFFFFF"/>
                </a:solidFill>
                <a:latin typeface="IBM Plex Sans"/>
              </a:rPr>
              <a:t>13.301 ns</a:t>
            </a:r>
          </a:p>
        </p:txBody>
      </p:sp>
      <p:sp>
        <p:nvSpPr>
          <p:cNvPr id="11" name="TextBox 10"/>
          <p:cNvSpPr txBox="1"/>
          <p:nvPr/>
        </p:nvSpPr>
        <p:spPr>
          <a:xfrm>
            <a:off x="1024128" y="4297680"/>
            <a:ext cx="4498848" cy="256032"/>
          </a:xfrm>
          <a:prstGeom prst="rect">
            <a:avLst/>
          </a:prstGeom>
          <a:noFill/>
        </p:spPr>
        <p:txBody>
          <a:bodyPr wrap="square" anchor="t" lIns="0" rIns="0" tIns="0" bIns="0">
            <a:spAutoFit/>
          </a:bodyPr>
          <a:lstStyle/>
          <a:p>
            <a:pPr algn="ctr"/>
            <a:r>
              <a:rPr sz="1300" b="1">
                <a:solidFill>
                  <a:srgbClr val="B5BFD2"/>
                </a:solidFill>
                <a:latin typeface="IBM Plex Sans"/>
              </a:rPr>
              <a:t>clock estimate</a:t>
            </a:r>
          </a:p>
        </p:txBody>
      </p:sp>
      <p:sp>
        <p:nvSpPr>
          <p:cNvPr id="12" name="Rounded Rectangle 11"/>
          <p:cNvSpPr/>
          <p:nvPr/>
        </p:nvSpPr>
        <p:spPr>
          <a:xfrm>
            <a:off x="6309359" y="1627632"/>
            <a:ext cx="5230368" cy="352044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79" y="1874519"/>
            <a:ext cx="4681728" cy="347472"/>
          </a:xfrm>
          <a:prstGeom prst="rect">
            <a:avLst/>
          </a:prstGeom>
          <a:noFill/>
        </p:spPr>
        <p:txBody>
          <a:bodyPr wrap="square" anchor="t" lIns="0" rIns="0" tIns="0" bIns="0">
            <a:spAutoFit/>
          </a:bodyPr>
          <a:lstStyle/>
          <a:p>
            <a:pPr algn="ctr"/>
            <a:r>
              <a:rPr sz="1700" b="1">
                <a:solidFill>
                  <a:srgbClr val="4BA3C3"/>
                </a:solidFill>
                <a:latin typeface="IBM Plex Sans"/>
              </a:rPr>
              <a:t>EARLY AGENTIC PASS</a:t>
            </a:r>
          </a:p>
        </p:txBody>
      </p:sp>
      <p:sp>
        <p:nvSpPr>
          <p:cNvPr id="14" name="TextBox 13"/>
          <p:cNvSpPr txBox="1"/>
          <p:nvPr/>
        </p:nvSpPr>
        <p:spPr>
          <a:xfrm>
            <a:off x="6675120" y="2487168"/>
            <a:ext cx="4498848" cy="585216"/>
          </a:xfrm>
          <a:prstGeom prst="rect">
            <a:avLst/>
          </a:prstGeom>
          <a:noFill/>
        </p:spPr>
        <p:txBody>
          <a:bodyPr wrap="square" anchor="t" lIns="0" rIns="0" tIns="0" bIns="0">
            <a:spAutoFit/>
          </a:bodyPr>
          <a:lstStyle/>
          <a:p>
            <a:pPr algn="ctr"/>
            <a:r>
              <a:rPr sz="3000" b="1">
                <a:solidFill>
                  <a:srgbClr val="FFFFFF"/>
                </a:solidFill>
                <a:latin typeface="IBM Plex Sans"/>
              </a:rPr>
              <a:t>111</a:t>
            </a:r>
          </a:p>
        </p:txBody>
      </p:sp>
      <p:sp>
        <p:nvSpPr>
          <p:cNvPr id="15" name="TextBox 14"/>
          <p:cNvSpPr txBox="1"/>
          <p:nvPr/>
        </p:nvSpPr>
        <p:spPr>
          <a:xfrm>
            <a:off x="6675120" y="3072384"/>
            <a:ext cx="4498848" cy="256032"/>
          </a:xfrm>
          <a:prstGeom prst="rect">
            <a:avLst/>
          </a:prstGeom>
          <a:noFill/>
        </p:spPr>
        <p:txBody>
          <a:bodyPr wrap="square" anchor="t" lIns="0" rIns="0" tIns="0" bIns="0">
            <a:spAutoFit/>
          </a:bodyPr>
          <a:lstStyle/>
          <a:p>
            <a:pPr algn="ctr"/>
            <a:r>
              <a:rPr sz="1300" b="1">
                <a:solidFill>
                  <a:srgbClr val="B5BFD2"/>
                </a:solidFill>
                <a:latin typeface="IBM Plex Sans"/>
              </a:rPr>
              <a:t>cycles</a:t>
            </a:r>
          </a:p>
        </p:txBody>
      </p:sp>
      <p:sp>
        <p:nvSpPr>
          <p:cNvPr id="16" name="TextBox 15"/>
          <p:cNvSpPr txBox="1"/>
          <p:nvPr/>
        </p:nvSpPr>
        <p:spPr>
          <a:xfrm>
            <a:off x="6675120" y="3712464"/>
            <a:ext cx="4498848" cy="585216"/>
          </a:xfrm>
          <a:prstGeom prst="rect">
            <a:avLst/>
          </a:prstGeom>
          <a:noFill/>
        </p:spPr>
        <p:txBody>
          <a:bodyPr wrap="square" anchor="t" lIns="0" rIns="0" tIns="0" bIns="0">
            <a:spAutoFit/>
          </a:bodyPr>
          <a:lstStyle/>
          <a:p>
            <a:pPr algn="ctr"/>
            <a:r>
              <a:rPr sz="3000" b="1">
                <a:solidFill>
                  <a:srgbClr val="FFFFFF"/>
                </a:solidFill>
                <a:latin typeface="IBM Plex Sans"/>
              </a:rPr>
              <a:t>13.301 ns</a:t>
            </a:r>
          </a:p>
        </p:txBody>
      </p:sp>
      <p:sp>
        <p:nvSpPr>
          <p:cNvPr id="17" name="TextBox 16"/>
          <p:cNvSpPr txBox="1"/>
          <p:nvPr/>
        </p:nvSpPr>
        <p:spPr>
          <a:xfrm>
            <a:off x="6675120" y="4297680"/>
            <a:ext cx="4498848" cy="256032"/>
          </a:xfrm>
          <a:prstGeom prst="rect">
            <a:avLst/>
          </a:prstGeom>
          <a:noFill/>
        </p:spPr>
        <p:txBody>
          <a:bodyPr wrap="square" anchor="t" lIns="0" rIns="0" tIns="0" bIns="0">
            <a:spAutoFit/>
          </a:bodyPr>
          <a:lstStyle/>
          <a:p>
            <a:pPr algn="ctr"/>
            <a:r>
              <a:rPr sz="1300" b="1">
                <a:solidFill>
                  <a:srgbClr val="B5BFD2"/>
                </a:solidFill>
                <a:latin typeface="IBM Plex Sans"/>
              </a:rPr>
              <a:t>clock estimate</a:t>
            </a:r>
          </a:p>
        </p:txBody>
      </p:sp>
      <p:sp>
        <p:nvSpPr>
          <p:cNvPr id="18" name="Rounded Rectangle 17"/>
          <p:cNvSpPr/>
          <p:nvPr/>
        </p:nvSpPr>
        <p:spPr>
          <a:xfrm>
            <a:off x="7571231" y="4663440"/>
            <a:ext cx="3429000" cy="566928"/>
          </a:xfrm>
          <a:prstGeom prst="roundRect">
            <a:avLst>
              <a:gd name="adj" fmla="val 4000"/>
            </a:avLst>
          </a:prstGeom>
          <a:solidFill>
            <a:srgbClr val="2F230A"/>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26679" y="4800600"/>
            <a:ext cx="3108960" cy="274320"/>
          </a:xfrm>
          <a:prstGeom prst="rect">
            <a:avLst/>
          </a:prstGeom>
          <a:noFill/>
        </p:spPr>
        <p:txBody>
          <a:bodyPr wrap="square" anchor="t" lIns="0" rIns="0" tIns="0" bIns="0">
            <a:spAutoFit/>
          </a:bodyPr>
          <a:lstStyle/>
          <a:p>
            <a:pPr algn="ctr"/>
            <a:r>
              <a:rPr sz="1500" b="1">
                <a:solidFill>
                  <a:srgbClr val="FFFFFF"/>
                </a:solidFill>
                <a:latin typeface="IBM Plex Sans"/>
              </a:rPr>
              <a:t>1,588 LUTs saved</a:t>
            </a:r>
          </a:p>
        </p:txBody>
      </p:sp>
      <p:sp>
        <p:nvSpPr>
          <p:cNvPr id="20" name="TextBox 19"/>
          <p:cNvSpPr txBox="1"/>
          <p:nvPr/>
        </p:nvSpPr>
        <p:spPr>
          <a:xfrm>
            <a:off x="658368" y="5596128"/>
            <a:ext cx="10863072" cy="594360"/>
          </a:xfrm>
          <a:prstGeom prst="rect">
            <a:avLst/>
          </a:prstGeom>
          <a:noFill/>
        </p:spPr>
        <p:txBody>
          <a:bodyPr wrap="square" anchor="t" lIns="0" rIns="0" tIns="0" bIns="0">
            <a:spAutoFit/>
          </a:bodyPr>
          <a:lstStyle/>
          <a:p>
            <a:pPr algn="ctr"/>
            <a:r>
              <a:rPr sz="2200" b="1">
                <a:solidFill>
                  <a:srgbClr val="4BA3C3"/>
                </a:solidFill>
                <a:latin typeface="IBM Plex Sans"/>
              </a:rPr>
              <a:t>A better design on paper.  Still 3.301 ns away from acceptance.</a:t>
            </a:r>
          </a:p>
        </p:txBody>
      </p:sp>
      <p:sp>
        <p:nvSpPr>
          <p:cNvPr id="21" name="TextBox 20"/>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5BFD2"/>
                </a:solidFill>
                <a:latin typeface="IBM Plex Sans"/>
              </a:rPr>
              <a:t>AMD on Wheels NZ  ·  together we advance</a:t>
            </a:r>
          </a:p>
        </p:txBody>
      </p:sp>
      <p:sp>
        <p:nvSpPr>
          <p:cNvPr id="22" name="TextBox 21"/>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5BFD2"/>
                </a:solidFill>
                <a:latin typeface="IBM Plex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4BA3C3"/>
                </a:solidFill>
                <a:latin typeface="IBM Plex Sans"/>
              </a:rPr>
              <a:t>CORRECT THE TRAJECTORY</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100" b="1">
                <a:solidFill>
                  <a:srgbClr val="FFFFFF"/>
                </a:solidFill>
                <a:latin typeface="IBM Plex Sans"/>
              </a:rPr>
              <a:t>The right trade-off closed timing</a:t>
            </a:r>
          </a:p>
        </p:txBody>
      </p:sp>
      <p:sp>
        <p:nvSpPr>
          <p:cNvPr id="6" name="Rounded Rectangle 5"/>
          <p:cNvSpPr/>
          <p:nvPr/>
        </p:nvSpPr>
        <p:spPr>
          <a:xfrm>
            <a:off x="658368" y="1609344"/>
            <a:ext cx="3657600" cy="361188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1856231"/>
            <a:ext cx="3108960" cy="347472"/>
          </a:xfrm>
          <a:prstGeom prst="rect">
            <a:avLst/>
          </a:prstGeom>
          <a:noFill/>
        </p:spPr>
        <p:txBody>
          <a:bodyPr wrap="square" anchor="t" lIns="0" rIns="0" tIns="0" bIns="0">
            <a:spAutoFit/>
          </a:bodyPr>
          <a:lstStyle/>
          <a:p>
            <a:pPr algn="ctr"/>
            <a:r>
              <a:rPr sz="1600" b="1">
                <a:solidFill>
                  <a:srgbClr val="4BA3C3"/>
                </a:solidFill>
                <a:latin typeface="IBM Plex Sans"/>
              </a:rPr>
              <a:t>HUMAN DIRECTION</a:t>
            </a:r>
          </a:p>
        </p:txBody>
      </p:sp>
      <p:sp>
        <p:nvSpPr>
          <p:cNvPr id="8" name="TextBox 7"/>
          <p:cNvSpPr txBox="1"/>
          <p:nvPr/>
        </p:nvSpPr>
        <p:spPr>
          <a:xfrm>
            <a:off x="987552" y="2578608"/>
            <a:ext cx="2999232" cy="1371600"/>
          </a:xfrm>
          <a:prstGeom prst="rect">
            <a:avLst/>
          </a:prstGeom>
          <a:noFill/>
        </p:spPr>
        <p:txBody>
          <a:bodyPr wrap="square" anchor="ctr" lIns="0" rIns="0" tIns="0" bIns="0">
            <a:spAutoFit/>
          </a:bodyPr>
          <a:lstStyle/>
          <a:p>
            <a:pPr algn="ctr"/>
            <a:r>
              <a:rPr sz="2200" b="1">
                <a:solidFill>
                  <a:srgbClr val="FFFFFF"/>
                </a:solidFill>
                <a:latin typeface="IBM Plex Sans"/>
              </a:rPr>
              <a:t>STOP OPTIMIZING</a:t>
            </a:r>
          </a:p>
          <a:p>
            <a:pPr algn="ctr"/>
            <a:r>
              <a:rPr sz="2200" b="1">
                <a:solidFill>
                  <a:srgbClr val="FFFFFF"/>
                </a:solidFill>
                <a:latin typeface="IBM Plex Sans"/>
              </a:rPr>
              <a:t>LATENCY</a:t>
            </a:r>
          </a:p>
          <a:p>
            <a:pPr algn="ctr"/>
            <a:r>
              <a:rPr sz="2200" b="1">
                <a:solidFill>
                  <a:srgbClr val="FFFFFF"/>
                </a:solidFill>
                <a:latin typeface="IBM Plex Sans"/>
              </a:rPr>
              <a:t/>
            </a:r>
          </a:p>
          <a:p>
            <a:pPr algn="ctr"/>
            <a:r>
              <a:rPr sz="2200" b="1">
                <a:solidFill>
                  <a:srgbClr val="FFFFFF"/>
                </a:solidFill>
                <a:latin typeface="IBM Plex Sans"/>
              </a:rPr>
              <a:t>OPTIMIZE FOR Fmax</a:t>
            </a:r>
          </a:p>
        </p:txBody>
      </p:sp>
      <p:sp>
        <p:nvSpPr>
          <p:cNvPr id="9" name="TextBox 8"/>
          <p:cNvSpPr txBox="1"/>
          <p:nvPr/>
        </p:nvSpPr>
        <p:spPr>
          <a:xfrm>
            <a:off x="950976" y="4407408"/>
            <a:ext cx="3072384" cy="402336"/>
          </a:xfrm>
          <a:prstGeom prst="rect">
            <a:avLst/>
          </a:prstGeom>
          <a:noFill/>
        </p:spPr>
        <p:txBody>
          <a:bodyPr wrap="square" anchor="t" lIns="0" rIns="0" tIns="0" bIns="0">
            <a:spAutoFit/>
          </a:bodyPr>
          <a:lstStyle/>
          <a:p>
            <a:pPr algn="ctr"/>
            <a:r>
              <a:rPr sz="1500" b="1">
                <a:solidFill>
                  <a:srgbClr val="B5BFD2"/>
                </a:solidFill>
                <a:latin typeface="IBM Plex Sans"/>
              </a:rPr>
              <a:t>Use the cycle budget</a:t>
            </a:r>
          </a:p>
        </p:txBody>
      </p:sp>
      <p:cxnSp>
        <p:nvCxnSpPr>
          <p:cNvPr id="10" name="Connector 9"/>
          <p:cNvCxnSpPr/>
          <p:nvPr/>
        </p:nvCxnSpPr>
        <p:spPr>
          <a:xfrm>
            <a:off x="4315968" y="3401568"/>
            <a:ext cx="438912"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754880" y="1609344"/>
            <a:ext cx="2926080" cy="361188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83480" y="1856231"/>
            <a:ext cx="2468880" cy="347472"/>
          </a:xfrm>
          <a:prstGeom prst="rect">
            <a:avLst/>
          </a:prstGeom>
          <a:noFill/>
        </p:spPr>
        <p:txBody>
          <a:bodyPr wrap="square" anchor="t" lIns="0" rIns="0" tIns="0" bIns="0">
            <a:spAutoFit/>
          </a:bodyPr>
          <a:lstStyle/>
          <a:p>
            <a:pPr algn="ctr"/>
            <a:r>
              <a:rPr sz="1600" b="1">
                <a:solidFill>
                  <a:srgbClr val="4BA3C3"/>
                </a:solidFill>
                <a:latin typeface="IBM Plex Sans"/>
              </a:rPr>
              <a:t>AMD HLS FLOW</a:t>
            </a:r>
          </a:p>
        </p:txBody>
      </p:sp>
      <p:sp>
        <p:nvSpPr>
          <p:cNvPr id="13" name="Rounded Rectangle 12"/>
          <p:cNvSpPr/>
          <p:nvPr/>
        </p:nvSpPr>
        <p:spPr>
          <a:xfrm>
            <a:off x="5102352" y="2487168"/>
            <a:ext cx="2231136" cy="530352"/>
          </a:xfrm>
          <a:prstGeom prst="roundRect">
            <a:avLst>
              <a:gd name="adj" fmla="val 4000"/>
            </a:avLst>
          </a:prstGeom>
          <a:solidFill>
            <a:srgbClr val="05091C"/>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30368" y="2615184"/>
            <a:ext cx="1975104" cy="256032"/>
          </a:xfrm>
          <a:prstGeom prst="rect">
            <a:avLst/>
          </a:prstGeom>
          <a:noFill/>
        </p:spPr>
        <p:txBody>
          <a:bodyPr wrap="square" anchor="t" lIns="0" rIns="0" tIns="0" bIns="0">
            <a:spAutoFit/>
          </a:bodyPr>
          <a:lstStyle/>
          <a:p>
            <a:pPr algn="ctr"/>
            <a:r>
              <a:rPr sz="1200" b="1">
                <a:solidFill>
                  <a:srgbClr val="FFFFFF"/>
                </a:solidFill>
                <a:latin typeface="IBM Plex Sans"/>
              </a:rPr>
              <a:t>4 partial sums</a:t>
            </a:r>
          </a:p>
        </p:txBody>
      </p:sp>
      <p:sp>
        <p:nvSpPr>
          <p:cNvPr id="15" name="Rounded Rectangle 14"/>
          <p:cNvSpPr/>
          <p:nvPr/>
        </p:nvSpPr>
        <p:spPr>
          <a:xfrm>
            <a:off x="5102352" y="3246120"/>
            <a:ext cx="2231136" cy="530352"/>
          </a:xfrm>
          <a:prstGeom prst="roundRect">
            <a:avLst>
              <a:gd name="adj" fmla="val 4000"/>
            </a:avLst>
          </a:prstGeom>
          <a:solidFill>
            <a:srgbClr val="05091C"/>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30368" y="3374136"/>
            <a:ext cx="1975104" cy="256032"/>
          </a:xfrm>
          <a:prstGeom prst="rect">
            <a:avLst/>
          </a:prstGeom>
          <a:noFill/>
        </p:spPr>
        <p:txBody>
          <a:bodyPr wrap="square" anchor="t" lIns="0" rIns="0" tIns="0" bIns="0">
            <a:spAutoFit/>
          </a:bodyPr>
          <a:lstStyle/>
          <a:p>
            <a:pPr algn="ctr"/>
            <a:r>
              <a:rPr sz="1200" b="1">
                <a:solidFill>
                  <a:srgbClr val="FFFFFF"/>
                </a:solidFill>
                <a:latin typeface="IBM Plex Sans"/>
              </a:rPr>
              <a:t>2-level combine</a:t>
            </a:r>
          </a:p>
        </p:txBody>
      </p:sp>
      <p:sp>
        <p:nvSpPr>
          <p:cNvPr id="17" name="Rounded Rectangle 16"/>
          <p:cNvSpPr/>
          <p:nvPr/>
        </p:nvSpPr>
        <p:spPr>
          <a:xfrm>
            <a:off x="5102352" y="4005072"/>
            <a:ext cx="2231136" cy="530352"/>
          </a:xfrm>
          <a:prstGeom prst="roundRect">
            <a:avLst>
              <a:gd name="adj" fmla="val 4000"/>
            </a:avLst>
          </a:prstGeom>
          <a:solidFill>
            <a:srgbClr val="05091C"/>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0368" y="4133087"/>
            <a:ext cx="1975104" cy="256032"/>
          </a:xfrm>
          <a:prstGeom prst="rect">
            <a:avLst/>
          </a:prstGeom>
          <a:noFill/>
        </p:spPr>
        <p:txBody>
          <a:bodyPr wrap="square" anchor="t" lIns="0" rIns="0" tIns="0" bIns="0">
            <a:spAutoFit/>
          </a:bodyPr>
          <a:lstStyle/>
          <a:p>
            <a:pPr algn="ctr"/>
            <a:r>
              <a:rPr sz="1200" b="1">
                <a:solidFill>
                  <a:srgbClr val="FFFFFF"/>
                </a:solidFill>
                <a:latin typeface="IBM Plex Sans"/>
              </a:rPr>
              <a:t>Vitis HLS evidence</a:t>
            </a:r>
          </a:p>
        </p:txBody>
      </p:sp>
      <p:cxnSp>
        <p:nvCxnSpPr>
          <p:cNvPr id="19" name="Connector 18"/>
          <p:cNvCxnSpPr/>
          <p:nvPr/>
        </p:nvCxnSpPr>
        <p:spPr>
          <a:xfrm>
            <a:off x="7680960" y="3401568"/>
            <a:ext cx="438912"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119872" y="1609344"/>
            <a:ext cx="3401568" cy="361188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94192" y="1856231"/>
            <a:ext cx="2852928" cy="347472"/>
          </a:xfrm>
          <a:prstGeom prst="rect">
            <a:avLst/>
          </a:prstGeom>
          <a:noFill/>
        </p:spPr>
        <p:txBody>
          <a:bodyPr wrap="square" anchor="t" lIns="0" rIns="0" tIns="0" bIns="0">
            <a:spAutoFit/>
          </a:bodyPr>
          <a:lstStyle/>
          <a:p>
            <a:pPr algn="ctr"/>
            <a:r>
              <a:rPr sz="1600" b="1">
                <a:solidFill>
                  <a:srgbClr val="4BA3C3"/>
                </a:solidFill>
                <a:latin typeface="IBM Plex Sans"/>
              </a:rPr>
              <a:t>MEASURED RESULT</a:t>
            </a:r>
          </a:p>
        </p:txBody>
      </p:sp>
      <p:sp>
        <p:nvSpPr>
          <p:cNvPr id="22" name="TextBox 21"/>
          <p:cNvSpPr txBox="1"/>
          <p:nvPr/>
        </p:nvSpPr>
        <p:spPr>
          <a:xfrm>
            <a:off x="8394192" y="2487168"/>
            <a:ext cx="2852928" cy="658368"/>
          </a:xfrm>
          <a:prstGeom prst="rect">
            <a:avLst/>
          </a:prstGeom>
          <a:noFill/>
        </p:spPr>
        <p:txBody>
          <a:bodyPr wrap="square" anchor="t" lIns="0" rIns="0" tIns="0" bIns="0">
            <a:spAutoFit/>
          </a:bodyPr>
          <a:lstStyle/>
          <a:p>
            <a:pPr algn="ctr"/>
            <a:r>
              <a:rPr sz="3400" b="1">
                <a:solidFill>
                  <a:srgbClr val="FFFFFF"/>
                </a:solidFill>
                <a:latin typeface="IBM Plex Sans"/>
              </a:rPr>
              <a:t>7.230 ns</a:t>
            </a:r>
          </a:p>
        </p:txBody>
      </p:sp>
      <p:sp>
        <p:nvSpPr>
          <p:cNvPr id="23" name="TextBox 22"/>
          <p:cNvSpPr txBox="1"/>
          <p:nvPr/>
        </p:nvSpPr>
        <p:spPr>
          <a:xfrm>
            <a:off x="8394192" y="3127248"/>
            <a:ext cx="2852928" cy="256032"/>
          </a:xfrm>
          <a:prstGeom prst="rect">
            <a:avLst/>
          </a:prstGeom>
          <a:noFill/>
        </p:spPr>
        <p:txBody>
          <a:bodyPr wrap="square" anchor="t" lIns="0" rIns="0" tIns="0" bIns="0">
            <a:spAutoFit/>
          </a:bodyPr>
          <a:lstStyle/>
          <a:p>
            <a:pPr algn="ctr"/>
            <a:r>
              <a:rPr sz="1300" b="1">
                <a:solidFill>
                  <a:srgbClr val="B5BFD2"/>
                </a:solidFill>
                <a:latin typeface="IBM Plex Sans"/>
              </a:rPr>
              <a:t>clock estimate</a:t>
            </a:r>
          </a:p>
        </p:txBody>
      </p:sp>
      <p:sp>
        <p:nvSpPr>
          <p:cNvPr id="24" name="TextBox 23"/>
          <p:cNvSpPr txBox="1"/>
          <p:nvPr/>
        </p:nvSpPr>
        <p:spPr>
          <a:xfrm>
            <a:off x="8394192" y="3749039"/>
            <a:ext cx="2852928" cy="512064"/>
          </a:xfrm>
          <a:prstGeom prst="rect">
            <a:avLst/>
          </a:prstGeom>
          <a:noFill/>
        </p:spPr>
        <p:txBody>
          <a:bodyPr wrap="square" anchor="t" lIns="0" rIns="0" tIns="0" bIns="0">
            <a:spAutoFit/>
          </a:bodyPr>
          <a:lstStyle/>
          <a:p>
            <a:pPr algn="ctr"/>
            <a:r>
              <a:rPr sz="2600" b="1">
                <a:solidFill>
                  <a:srgbClr val="FFFFFF"/>
                </a:solidFill>
                <a:latin typeface="IBM Plex Sans"/>
              </a:rPr>
              <a:t>136 cycles</a:t>
            </a:r>
          </a:p>
        </p:txBody>
      </p:sp>
      <p:sp>
        <p:nvSpPr>
          <p:cNvPr id="25" name="TextBox 24"/>
          <p:cNvSpPr txBox="1"/>
          <p:nvPr/>
        </p:nvSpPr>
        <p:spPr>
          <a:xfrm>
            <a:off x="8394192" y="4297680"/>
            <a:ext cx="2852928" cy="292608"/>
          </a:xfrm>
          <a:prstGeom prst="rect">
            <a:avLst/>
          </a:prstGeom>
          <a:noFill/>
        </p:spPr>
        <p:txBody>
          <a:bodyPr wrap="square" anchor="t" lIns="0" rIns="0" tIns="0" bIns="0">
            <a:spAutoFit/>
          </a:bodyPr>
          <a:lstStyle/>
          <a:p>
            <a:pPr algn="ctr"/>
            <a:r>
              <a:rPr sz="1300" b="1">
                <a:solidFill>
                  <a:srgbClr val="B5BFD2"/>
                </a:solidFill>
                <a:latin typeface="IBM Plex Sans"/>
              </a:rPr>
              <a:t>more latency — on purpose</a:t>
            </a:r>
          </a:p>
        </p:txBody>
      </p:sp>
      <p:sp>
        <p:nvSpPr>
          <p:cNvPr id="26" name="TextBox 25"/>
          <p:cNvSpPr txBox="1"/>
          <p:nvPr/>
        </p:nvSpPr>
        <p:spPr>
          <a:xfrm>
            <a:off x="658368" y="5632704"/>
            <a:ext cx="10863072" cy="548640"/>
          </a:xfrm>
          <a:prstGeom prst="rect">
            <a:avLst/>
          </a:prstGeom>
          <a:noFill/>
        </p:spPr>
        <p:txBody>
          <a:bodyPr wrap="square" anchor="t" lIns="0" rIns="0" tIns="0" bIns="0">
            <a:spAutoFit/>
          </a:bodyPr>
          <a:lstStyle/>
          <a:p>
            <a:pPr algn="ctr"/>
            <a:r>
              <a:rPr sz="2200" b="1">
                <a:solidFill>
                  <a:srgbClr val="FFFFFF"/>
                </a:solidFill>
                <a:latin typeface="IBM Plex Sans"/>
              </a:rPr>
              <a:t>The engineer defines ‘better’.  The tools provide evidence.</a:t>
            </a:r>
          </a:p>
        </p:txBody>
      </p:sp>
      <p:sp>
        <p:nvSpPr>
          <p:cNvPr id="27" name="TextBox 26"/>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5BFD2"/>
                </a:solidFill>
                <a:latin typeface="IBM Plex Sans"/>
              </a:rPr>
              <a:t>AMD on Wheels NZ  ·  together we advance</a:t>
            </a:r>
          </a:p>
        </p:txBody>
      </p:sp>
      <p:sp>
        <p:nvSpPr>
          <p:cNvPr id="28" name="TextBox 27"/>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5BFD2"/>
                </a:solidFill>
                <a:latin typeface="IBM Plex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4BA3C3"/>
                </a:solidFill>
                <a:latin typeface="IBM Plex Sans"/>
              </a:rPr>
              <a:t>HARDWARE IN THE LOOP</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100" b="1">
                <a:solidFill>
                  <a:srgbClr val="FFFFFF"/>
                </a:solidFill>
                <a:latin typeface="IBM Plex Sans"/>
              </a:rPr>
              <a:t>The real KV260 had the final vote</a:t>
            </a:r>
          </a:p>
        </p:txBody>
      </p:sp>
      <p:sp>
        <p:nvSpPr>
          <p:cNvPr id="6" name="Rounded Rectangle 5"/>
          <p:cNvSpPr/>
          <p:nvPr/>
        </p:nvSpPr>
        <p:spPr>
          <a:xfrm>
            <a:off x="566928" y="1664208"/>
            <a:ext cx="2542032" cy="356616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975104"/>
            <a:ext cx="2176272" cy="384048"/>
          </a:xfrm>
          <a:prstGeom prst="rect">
            <a:avLst/>
          </a:prstGeom>
          <a:noFill/>
        </p:spPr>
        <p:txBody>
          <a:bodyPr wrap="square" anchor="t" lIns="0" rIns="0" tIns="0" bIns="0">
            <a:spAutoFit/>
          </a:bodyPr>
          <a:lstStyle/>
          <a:p>
            <a:pPr algn="ctr"/>
            <a:r>
              <a:rPr sz="1500" b="1">
                <a:solidFill>
                  <a:srgbClr val="4BA3C3"/>
                </a:solidFill>
                <a:latin typeface="IBM Plex Sans"/>
              </a:rPr>
              <a:t>CONTROL PLANE</a:t>
            </a:r>
          </a:p>
        </p:txBody>
      </p:sp>
      <p:sp>
        <p:nvSpPr>
          <p:cNvPr id="8" name="TextBox 7"/>
          <p:cNvSpPr txBox="1"/>
          <p:nvPr/>
        </p:nvSpPr>
        <p:spPr>
          <a:xfrm>
            <a:off x="841247" y="2761488"/>
            <a:ext cx="1993392" cy="1417320"/>
          </a:xfrm>
          <a:prstGeom prst="rect">
            <a:avLst/>
          </a:prstGeom>
          <a:noFill/>
        </p:spPr>
        <p:txBody>
          <a:bodyPr wrap="square" anchor="ctr" lIns="0" rIns="0" tIns="0" bIns="0">
            <a:spAutoFit/>
          </a:bodyPr>
          <a:lstStyle/>
          <a:p>
            <a:pPr algn="ctr"/>
            <a:r>
              <a:rPr sz="1700" b="1">
                <a:solidFill>
                  <a:srgbClr val="FFFFFF"/>
                </a:solidFill>
                <a:latin typeface="IBM Plex Sans"/>
              </a:rPr>
              <a:t>Identity + ABI</a:t>
            </a:r>
          </a:p>
          <a:p>
            <a:pPr algn="ctr"/>
            <a:r>
              <a:rPr sz="1700" b="1">
                <a:solidFill>
                  <a:srgbClr val="FFFFFF"/>
                </a:solidFill>
                <a:latin typeface="IBM Plex Sans"/>
              </a:rPr>
              <a:t>clock lock</a:t>
            </a:r>
          </a:p>
          <a:p>
            <a:pPr algn="ctr"/>
            <a:r>
              <a:rPr sz="1700" b="1">
                <a:solidFill>
                  <a:srgbClr val="FFFFFF"/>
                </a:solidFill>
                <a:latin typeface="IBM Plex Sans"/>
              </a:rPr>
              <a:t>coherent updates</a:t>
            </a:r>
          </a:p>
        </p:txBody>
      </p:sp>
      <p:cxnSp>
        <p:nvCxnSpPr>
          <p:cNvPr id="9" name="Connector 8"/>
          <p:cNvCxnSpPr/>
          <p:nvPr/>
        </p:nvCxnSpPr>
        <p:spPr>
          <a:xfrm>
            <a:off x="3108960" y="3493008"/>
            <a:ext cx="365760"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74720" y="1664208"/>
            <a:ext cx="2542032" cy="356616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975104"/>
            <a:ext cx="2176272" cy="384048"/>
          </a:xfrm>
          <a:prstGeom prst="rect">
            <a:avLst/>
          </a:prstGeom>
          <a:noFill/>
        </p:spPr>
        <p:txBody>
          <a:bodyPr wrap="square" anchor="t" lIns="0" rIns="0" tIns="0" bIns="0">
            <a:spAutoFit/>
          </a:bodyPr>
          <a:lstStyle/>
          <a:p>
            <a:pPr algn="ctr"/>
            <a:r>
              <a:rPr sz="1500" b="1">
                <a:solidFill>
                  <a:srgbClr val="4BA3C3"/>
                </a:solidFill>
                <a:latin typeface="IBM Plex Sans"/>
              </a:rPr>
              <a:t>AUDIO PATH</a:t>
            </a:r>
          </a:p>
        </p:txBody>
      </p:sp>
      <p:sp>
        <p:nvSpPr>
          <p:cNvPr id="12" name="TextBox 11"/>
          <p:cNvSpPr txBox="1"/>
          <p:nvPr/>
        </p:nvSpPr>
        <p:spPr>
          <a:xfrm>
            <a:off x="3749040" y="2761488"/>
            <a:ext cx="1993392" cy="1417320"/>
          </a:xfrm>
          <a:prstGeom prst="rect">
            <a:avLst/>
          </a:prstGeom>
          <a:noFill/>
        </p:spPr>
        <p:txBody>
          <a:bodyPr wrap="square" anchor="ctr" lIns="0" rIns="0" tIns="0" bIns="0">
            <a:spAutoFit/>
          </a:bodyPr>
          <a:lstStyle/>
          <a:p>
            <a:pPr algn="ctr"/>
            <a:r>
              <a:rPr sz="1700" b="1">
                <a:solidFill>
                  <a:srgbClr val="FFFFFF"/>
                </a:solidFill>
                <a:latin typeface="IBM Plex Sans"/>
              </a:rPr>
              <a:t>Diagnostic tone</a:t>
            </a:r>
          </a:p>
          <a:p>
            <a:pPr algn="ctr"/>
            <a:r>
              <a:rPr sz="1700" b="1">
                <a:solidFill>
                  <a:srgbClr val="FFFFFF"/>
                </a:solidFill>
                <a:latin typeface="IBM Plex Sans"/>
              </a:rPr>
              <a:t>HLS A4 voice</a:t>
            </a:r>
          </a:p>
          <a:p>
            <a:pPr algn="ctr"/>
            <a:r>
              <a:rPr sz="1700" b="1">
                <a:solidFill>
                  <a:srgbClr val="FFFFFF"/>
                </a:solidFill>
                <a:latin typeface="IBM Plex Sans"/>
              </a:rPr>
              <a:t>physical I2S output</a:t>
            </a:r>
          </a:p>
        </p:txBody>
      </p:sp>
      <p:cxnSp>
        <p:nvCxnSpPr>
          <p:cNvPr id="13" name="Connector 12"/>
          <p:cNvCxnSpPr/>
          <p:nvPr/>
        </p:nvCxnSpPr>
        <p:spPr>
          <a:xfrm>
            <a:off x="6016752" y="3493008"/>
            <a:ext cx="365760"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382512" y="1664208"/>
            <a:ext cx="2542032" cy="356616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65392" y="1975104"/>
            <a:ext cx="2176272" cy="384048"/>
          </a:xfrm>
          <a:prstGeom prst="rect">
            <a:avLst/>
          </a:prstGeom>
          <a:noFill/>
        </p:spPr>
        <p:txBody>
          <a:bodyPr wrap="square" anchor="t" lIns="0" rIns="0" tIns="0" bIns="0">
            <a:spAutoFit/>
          </a:bodyPr>
          <a:lstStyle/>
          <a:p>
            <a:pPr algn="ctr"/>
            <a:r>
              <a:rPr sz="1500" b="1">
                <a:solidFill>
                  <a:srgbClr val="4BA3C3"/>
                </a:solidFill>
                <a:latin typeface="IBM Plex Sans"/>
              </a:rPr>
              <a:t>LIVE MIDI</a:t>
            </a:r>
          </a:p>
        </p:txBody>
      </p:sp>
      <p:sp>
        <p:nvSpPr>
          <p:cNvPr id="16" name="TextBox 15"/>
          <p:cNvSpPr txBox="1"/>
          <p:nvPr/>
        </p:nvSpPr>
        <p:spPr>
          <a:xfrm>
            <a:off x="6656832" y="2761488"/>
            <a:ext cx="1993392" cy="1417320"/>
          </a:xfrm>
          <a:prstGeom prst="rect">
            <a:avLst/>
          </a:prstGeom>
          <a:noFill/>
        </p:spPr>
        <p:txBody>
          <a:bodyPr wrap="square" anchor="ctr" lIns="0" rIns="0" tIns="0" bIns="0">
            <a:spAutoFit/>
          </a:bodyPr>
          <a:lstStyle/>
          <a:p>
            <a:pPr algn="ctr"/>
            <a:r>
              <a:rPr sz="1700" b="1">
                <a:solidFill>
                  <a:srgbClr val="FFFFFF"/>
                </a:solidFill>
                <a:latin typeface="IBM Plex Sans"/>
              </a:rPr>
              <a:t>Notes + velocity</a:t>
            </a:r>
          </a:p>
          <a:p>
            <a:pPr algn="ctr"/>
            <a:r>
              <a:rPr sz="1700" b="1">
                <a:solidFill>
                  <a:srgbClr val="FFFFFF"/>
                </a:solidFill>
                <a:latin typeface="IBM Plex Sans"/>
              </a:rPr>
              <a:t>four controls</a:t>
            </a:r>
          </a:p>
          <a:p>
            <a:pPr algn="ctr"/>
            <a:r>
              <a:rPr sz="1700" b="1">
                <a:solidFill>
                  <a:srgbClr val="FFFFFF"/>
                </a:solidFill>
                <a:latin typeface="IBM Plex Sans"/>
              </a:rPr>
              <a:t>releases</a:t>
            </a:r>
          </a:p>
        </p:txBody>
      </p:sp>
      <p:cxnSp>
        <p:nvCxnSpPr>
          <p:cNvPr id="17" name="Connector 16"/>
          <p:cNvCxnSpPr/>
          <p:nvPr/>
        </p:nvCxnSpPr>
        <p:spPr>
          <a:xfrm>
            <a:off x="8924544" y="3493008"/>
            <a:ext cx="365760"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290304" y="1664208"/>
            <a:ext cx="2542032" cy="356616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3184" y="1975104"/>
            <a:ext cx="2176272" cy="384048"/>
          </a:xfrm>
          <a:prstGeom prst="rect">
            <a:avLst/>
          </a:prstGeom>
          <a:noFill/>
        </p:spPr>
        <p:txBody>
          <a:bodyPr wrap="square" anchor="t" lIns="0" rIns="0" tIns="0" bIns="0">
            <a:spAutoFit/>
          </a:bodyPr>
          <a:lstStyle/>
          <a:p>
            <a:pPr algn="ctr"/>
            <a:r>
              <a:rPr sz="1500" b="1">
                <a:solidFill>
                  <a:srgbClr val="4BA3C3"/>
                </a:solidFill>
                <a:latin typeface="IBM Plex Sans"/>
              </a:rPr>
              <a:t>ACCEPTANCE</a:t>
            </a:r>
          </a:p>
        </p:txBody>
      </p:sp>
      <p:sp>
        <p:nvSpPr>
          <p:cNvPr id="20" name="TextBox 19"/>
          <p:cNvSpPr txBox="1"/>
          <p:nvPr/>
        </p:nvSpPr>
        <p:spPr>
          <a:xfrm>
            <a:off x="9564624" y="2761488"/>
            <a:ext cx="1993392" cy="1417320"/>
          </a:xfrm>
          <a:prstGeom prst="rect">
            <a:avLst/>
          </a:prstGeom>
          <a:noFill/>
        </p:spPr>
        <p:txBody>
          <a:bodyPr wrap="square" anchor="ctr" lIns="0" rIns="0" tIns="0" bIns="0">
            <a:spAutoFit/>
          </a:bodyPr>
          <a:lstStyle/>
          <a:p>
            <a:pPr algn="ctr"/>
            <a:r>
              <a:rPr sz="1700" b="1">
                <a:solidFill>
                  <a:srgbClr val="FFFFFF"/>
                </a:solidFill>
                <a:latin typeface="IBM Plex Sans"/>
              </a:rPr>
              <a:t>10-note chord</a:t>
            </a:r>
          </a:p>
          <a:p>
            <a:pPr algn="ctr"/>
            <a:r>
              <a:rPr sz="1700" b="1">
                <a:solidFill>
                  <a:srgbClr val="FFFFFF"/>
                </a:solidFill>
                <a:latin typeface="IBM Plex Sans"/>
              </a:rPr>
              <a:t>matched readback</a:t>
            </a:r>
          </a:p>
          <a:p>
            <a:pPr algn="ctr"/>
            <a:r>
              <a:rPr sz="1700" b="1">
                <a:solidFill>
                  <a:srgbClr val="FFFFFF"/>
                </a:solidFill>
                <a:latin typeface="IBM Plex Sans"/>
              </a:rPr>
              <a:t>zero overruns</a:t>
            </a:r>
          </a:p>
        </p:txBody>
      </p:sp>
      <p:sp>
        <p:nvSpPr>
          <p:cNvPr id="21" name="TextBox 20"/>
          <p:cNvSpPr txBox="1"/>
          <p:nvPr/>
        </p:nvSpPr>
        <p:spPr>
          <a:xfrm>
            <a:off x="9518904" y="4590288"/>
            <a:ext cx="2084831" cy="292608"/>
          </a:xfrm>
          <a:prstGeom prst="rect">
            <a:avLst/>
          </a:prstGeom>
          <a:noFill/>
        </p:spPr>
        <p:txBody>
          <a:bodyPr wrap="square" anchor="t" lIns="0" rIns="0" tIns="0" bIns="0">
            <a:spAutoFit/>
          </a:bodyPr>
          <a:lstStyle/>
          <a:p>
            <a:pPr algn="ctr"/>
            <a:r>
              <a:rPr sz="1800" b="1">
                <a:solidFill>
                  <a:srgbClr val="4BA3C3"/>
                </a:solidFill>
                <a:latin typeface="IBM Plex Sans"/>
              </a:rPr>
              <a:t>PASS</a:t>
            </a:r>
          </a:p>
        </p:txBody>
      </p:sp>
      <p:sp>
        <p:nvSpPr>
          <p:cNvPr id="22" name="TextBox 21"/>
          <p:cNvSpPr txBox="1"/>
          <p:nvPr/>
        </p:nvSpPr>
        <p:spPr>
          <a:xfrm>
            <a:off x="658368" y="5669280"/>
            <a:ext cx="10863072" cy="502920"/>
          </a:xfrm>
          <a:prstGeom prst="rect">
            <a:avLst/>
          </a:prstGeom>
          <a:noFill/>
        </p:spPr>
        <p:txBody>
          <a:bodyPr wrap="square" anchor="t" lIns="0" rIns="0" tIns="0" bIns="0">
            <a:spAutoFit/>
          </a:bodyPr>
          <a:lstStyle/>
          <a:p>
            <a:pPr algn="ctr"/>
            <a:r>
              <a:rPr sz="2200" b="1">
                <a:solidFill>
                  <a:srgbClr val="FFFFFF"/>
                </a:solidFill>
                <a:latin typeface="IBM Plex Sans"/>
              </a:rPr>
              <a:t>Simulation said it should work.  HIL proved that the instrument did.</a:t>
            </a:r>
          </a:p>
        </p:txBody>
      </p:sp>
      <p:sp>
        <p:nvSpPr>
          <p:cNvPr id="23" name="TextBox 22"/>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5BFD2"/>
                </a:solidFill>
                <a:latin typeface="IBM Plex Sans"/>
              </a:rPr>
              <a:t>AMD on Wheels NZ  ·  together we advance</a:t>
            </a:r>
          </a:p>
        </p:txBody>
      </p:sp>
      <p:sp>
        <p:nvSpPr>
          <p:cNvPr id="24" name="TextBox 23"/>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5BFD2"/>
                </a:solidFill>
                <a:latin typeface="IBM Plex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4BA3C3"/>
                </a:solidFill>
                <a:latin typeface="IBM Plex Sans"/>
              </a:rPr>
              <a:t>WHAT CHANGES</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2900" b="1">
                <a:solidFill>
                  <a:srgbClr val="FFFFFF"/>
                </a:solidFill>
                <a:latin typeface="IBM Plex Sans"/>
              </a:rPr>
              <a:t>Cheaper engineering creates more engineering</a:t>
            </a:r>
          </a:p>
        </p:txBody>
      </p:sp>
      <p:sp>
        <p:nvSpPr>
          <p:cNvPr id="6" name="Rounded Rectangle 5"/>
          <p:cNvSpPr/>
          <p:nvPr/>
        </p:nvSpPr>
        <p:spPr>
          <a:xfrm>
            <a:off x="658368" y="1627632"/>
            <a:ext cx="4251960" cy="370332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1874519"/>
            <a:ext cx="3703320" cy="347472"/>
          </a:xfrm>
          <a:prstGeom prst="rect">
            <a:avLst/>
          </a:prstGeom>
          <a:noFill/>
        </p:spPr>
        <p:txBody>
          <a:bodyPr wrap="square" anchor="t" lIns="0" rIns="0" tIns="0" bIns="0">
            <a:spAutoFit/>
          </a:bodyPr>
          <a:lstStyle/>
          <a:p>
            <a:pPr algn="ctr"/>
            <a:r>
              <a:rPr sz="1700" b="1">
                <a:solidFill>
                  <a:srgbClr val="4BA3C3"/>
                </a:solidFill>
                <a:latin typeface="IBM Plex Sans"/>
              </a:rPr>
              <a:t>BEFORE</a:t>
            </a:r>
          </a:p>
        </p:txBody>
      </p:sp>
      <p:sp>
        <p:nvSpPr>
          <p:cNvPr id="8" name="TextBox 7"/>
          <p:cNvSpPr txBox="1"/>
          <p:nvPr/>
        </p:nvSpPr>
        <p:spPr>
          <a:xfrm>
            <a:off x="1024128" y="2578608"/>
            <a:ext cx="3520440" cy="1024128"/>
          </a:xfrm>
          <a:prstGeom prst="rect">
            <a:avLst/>
          </a:prstGeom>
          <a:noFill/>
        </p:spPr>
        <p:txBody>
          <a:bodyPr wrap="square" anchor="t" lIns="0" rIns="0" tIns="0" bIns="0">
            <a:spAutoFit/>
          </a:bodyPr>
          <a:lstStyle/>
          <a:p>
            <a:pPr algn="ctr"/>
            <a:r>
              <a:rPr sz="2300" b="1">
                <a:solidFill>
                  <a:srgbClr val="FFFFFF"/>
                </a:solidFill>
                <a:latin typeface="IBM Plex Sans"/>
              </a:rPr>
              <a:t>I always wanted to</a:t>
            </a:r>
          </a:p>
          <a:p>
            <a:pPr algn="ctr"/>
            <a:r>
              <a:rPr sz="2300" b="1">
                <a:solidFill>
                  <a:srgbClr val="FFFFFF"/>
                </a:solidFill>
                <a:latin typeface="IBM Plex Sans"/>
              </a:rPr>
              <a:t>build a K26 synthesizer</a:t>
            </a:r>
          </a:p>
        </p:txBody>
      </p:sp>
      <p:sp>
        <p:nvSpPr>
          <p:cNvPr id="9" name="Rounded Rectangle 8"/>
          <p:cNvSpPr/>
          <p:nvPr/>
        </p:nvSpPr>
        <p:spPr>
          <a:xfrm>
            <a:off x="1234440" y="4069080"/>
            <a:ext cx="3063240" cy="640080"/>
          </a:xfrm>
          <a:prstGeom prst="roundRect">
            <a:avLst>
              <a:gd name="adj" fmla="val 4000"/>
            </a:avLst>
          </a:prstGeom>
          <a:solidFill>
            <a:srgbClr val="2F230A"/>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17320" y="4233672"/>
            <a:ext cx="2697480" cy="310896"/>
          </a:xfrm>
          <a:prstGeom prst="rect">
            <a:avLst/>
          </a:prstGeom>
          <a:noFill/>
        </p:spPr>
        <p:txBody>
          <a:bodyPr wrap="square" anchor="t" lIns="0" rIns="0" tIns="0" bIns="0">
            <a:spAutoFit/>
          </a:bodyPr>
          <a:lstStyle/>
          <a:p>
            <a:pPr algn="ctr"/>
            <a:r>
              <a:rPr sz="1400" b="1">
                <a:solidFill>
                  <a:srgbClr val="FFFFFF"/>
                </a:solidFill>
                <a:latin typeface="IBM Plex Sans"/>
              </a:rPr>
              <a:t>TOO EXPENSIVE IN TIME</a:t>
            </a:r>
          </a:p>
        </p:txBody>
      </p:sp>
      <p:cxnSp>
        <p:nvCxnSpPr>
          <p:cNvPr id="11" name="Connector 10"/>
          <p:cNvCxnSpPr/>
          <p:nvPr/>
        </p:nvCxnSpPr>
        <p:spPr>
          <a:xfrm>
            <a:off x="4910328" y="3493008"/>
            <a:ext cx="740664"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065776" y="2852928"/>
            <a:ext cx="438912" cy="1005840"/>
          </a:xfrm>
          <a:prstGeom prst="rect">
            <a:avLst/>
          </a:prstGeom>
          <a:noFill/>
        </p:spPr>
        <p:txBody>
          <a:bodyPr wrap="square" anchor="ctr" lIns="0" rIns="0" tIns="0" bIns="0">
            <a:spAutoFit/>
          </a:bodyPr>
          <a:lstStyle/>
          <a:p>
            <a:pPr algn="ctr"/>
            <a:r>
              <a:rPr sz="3000" b="1">
                <a:solidFill>
                  <a:srgbClr val="4BA3C3"/>
                </a:solidFill>
                <a:latin typeface="IBM Plex Sans"/>
              </a:rPr>
              <a:t>→</a:t>
            </a:r>
          </a:p>
        </p:txBody>
      </p:sp>
      <p:sp>
        <p:nvSpPr>
          <p:cNvPr id="13" name="Rounded Rectangle 12"/>
          <p:cNvSpPr/>
          <p:nvPr/>
        </p:nvSpPr>
        <p:spPr>
          <a:xfrm>
            <a:off x="5650992" y="1627632"/>
            <a:ext cx="5870448" cy="370332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25312" y="1874519"/>
            <a:ext cx="5321808" cy="347472"/>
          </a:xfrm>
          <a:prstGeom prst="rect">
            <a:avLst/>
          </a:prstGeom>
          <a:noFill/>
        </p:spPr>
        <p:txBody>
          <a:bodyPr wrap="square" anchor="t" lIns="0" rIns="0" tIns="0" bIns="0">
            <a:spAutoFit/>
          </a:bodyPr>
          <a:lstStyle/>
          <a:p>
            <a:pPr algn="ctr"/>
            <a:r>
              <a:rPr sz="1700" b="1">
                <a:solidFill>
                  <a:srgbClr val="4BA3C3"/>
                </a:solidFill>
                <a:latin typeface="IBM Plex Sans"/>
              </a:rPr>
              <a:t>NOW</a:t>
            </a:r>
          </a:p>
        </p:txBody>
      </p:sp>
      <p:sp>
        <p:nvSpPr>
          <p:cNvPr id="15" name="TextBox 14"/>
          <p:cNvSpPr txBox="1"/>
          <p:nvPr/>
        </p:nvSpPr>
        <p:spPr>
          <a:xfrm>
            <a:off x="6053328" y="2514600"/>
            <a:ext cx="5065776" cy="749808"/>
          </a:xfrm>
          <a:prstGeom prst="rect">
            <a:avLst/>
          </a:prstGeom>
          <a:noFill/>
        </p:spPr>
        <p:txBody>
          <a:bodyPr wrap="square" anchor="t" lIns="0" rIns="0" tIns="0" bIns="0">
            <a:spAutoFit/>
          </a:bodyPr>
          <a:lstStyle/>
          <a:p>
            <a:pPr algn="ctr"/>
            <a:r>
              <a:rPr sz="2600" b="1">
                <a:solidFill>
                  <a:srgbClr val="FFFFFF"/>
                </a:solidFill>
                <a:latin typeface="IBM Plex Sans"/>
              </a:rPr>
              <a:t>More ideas become</a:t>
            </a:r>
          </a:p>
          <a:p>
            <a:pPr algn="ctr"/>
            <a:r>
              <a:rPr sz="2600" b="1">
                <a:solidFill>
                  <a:srgbClr val="FFFFFF"/>
                </a:solidFill>
                <a:latin typeface="IBM Plex Sans"/>
              </a:rPr>
              <a:t>worth attempting</a:t>
            </a:r>
          </a:p>
        </p:txBody>
      </p:sp>
      <p:sp>
        <p:nvSpPr>
          <p:cNvPr id="16" name="Rounded Rectangle 15"/>
          <p:cNvSpPr/>
          <p:nvPr/>
        </p:nvSpPr>
        <p:spPr>
          <a:xfrm>
            <a:off x="6144768" y="3657600"/>
            <a:ext cx="2148840" cy="457200"/>
          </a:xfrm>
          <a:prstGeom prst="roundRect">
            <a:avLst>
              <a:gd name="adj" fmla="val 4000"/>
            </a:avLst>
          </a:prstGeom>
          <a:solidFill>
            <a:srgbClr val="05091C"/>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54496" y="3749039"/>
            <a:ext cx="1929384" cy="256032"/>
          </a:xfrm>
          <a:prstGeom prst="rect">
            <a:avLst/>
          </a:prstGeom>
          <a:noFill/>
        </p:spPr>
        <p:txBody>
          <a:bodyPr wrap="square" anchor="t" lIns="0" rIns="0" tIns="0" bIns="0">
            <a:spAutoFit/>
          </a:bodyPr>
          <a:lstStyle/>
          <a:p>
            <a:pPr algn="ctr"/>
            <a:r>
              <a:rPr sz="1300" b="1">
                <a:solidFill>
                  <a:srgbClr val="FFFFFF"/>
                </a:solidFill>
                <a:latin typeface="IBM Plex Sans"/>
              </a:rPr>
              <a:t>instruments</a:t>
            </a:r>
          </a:p>
        </p:txBody>
      </p:sp>
      <p:sp>
        <p:nvSpPr>
          <p:cNvPr id="18" name="Rounded Rectangle 17"/>
          <p:cNvSpPr/>
          <p:nvPr/>
        </p:nvSpPr>
        <p:spPr>
          <a:xfrm>
            <a:off x="8577072" y="3657600"/>
            <a:ext cx="2148840" cy="457200"/>
          </a:xfrm>
          <a:prstGeom prst="roundRect">
            <a:avLst>
              <a:gd name="adj" fmla="val 4000"/>
            </a:avLst>
          </a:prstGeom>
          <a:solidFill>
            <a:srgbClr val="05091C"/>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799" y="3749039"/>
            <a:ext cx="1929384" cy="256032"/>
          </a:xfrm>
          <a:prstGeom prst="rect">
            <a:avLst/>
          </a:prstGeom>
          <a:noFill/>
        </p:spPr>
        <p:txBody>
          <a:bodyPr wrap="square" anchor="t" lIns="0" rIns="0" tIns="0" bIns="0">
            <a:spAutoFit/>
          </a:bodyPr>
          <a:lstStyle/>
          <a:p>
            <a:pPr algn="ctr"/>
            <a:r>
              <a:rPr sz="1300" b="1">
                <a:solidFill>
                  <a:srgbClr val="FFFFFF"/>
                </a:solidFill>
                <a:latin typeface="IBM Plex Sans"/>
              </a:rPr>
              <a:t>robots</a:t>
            </a:r>
          </a:p>
        </p:txBody>
      </p:sp>
      <p:sp>
        <p:nvSpPr>
          <p:cNvPr id="20" name="Rounded Rectangle 19"/>
          <p:cNvSpPr/>
          <p:nvPr/>
        </p:nvSpPr>
        <p:spPr>
          <a:xfrm>
            <a:off x="6144768" y="4315968"/>
            <a:ext cx="2148840" cy="457200"/>
          </a:xfrm>
          <a:prstGeom prst="roundRect">
            <a:avLst>
              <a:gd name="adj" fmla="val 4000"/>
            </a:avLst>
          </a:prstGeom>
          <a:solidFill>
            <a:srgbClr val="05091C"/>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6" y="4407407"/>
            <a:ext cx="1929384" cy="256032"/>
          </a:xfrm>
          <a:prstGeom prst="rect">
            <a:avLst/>
          </a:prstGeom>
          <a:noFill/>
        </p:spPr>
        <p:txBody>
          <a:bodyPr wrap="square" anchor="t" lIns="0" rIns="0" tIns="0" bIns="0">
            <a:spAutoFit/>
          </a:bodyPr>
          <a:lstStyle/>
          <a:p>
            <a:pPr algn="ctr"/>
            <a:r>
              <a:rPr sz="1300" b="1">
                <a:solidFill>
                  <a:srgbClr val="FFFFFF"/>
                </a:solidFill>
                <a:latin typeface="IBM Plex Sans"/>
              </a:rPr>
              <a:t>sensors</a:t>
            </a:r>
          </a:p>
        </p:txBody>
      </p:sp>
      <p:sp>
        <p:nvSpPr>
          <p:cNvPr id="22" name="Rounded Rectangle 21"/>
          <p:cNvSpPr/>
          <p:nvPr/>
        </p:nvSpPr>
        <p:spPr>
          <a:xfrm>
            <a:off x="8577072" y="4315968"/>
            <a:ext cx="2148840" cy="457200"/>
          </a:xfrm>
          <a:prstGeom prst="roundRect">
            <a:avLst>
              <a:gd name="adj" fmla="val 4000"/>
            </a:avLst>
          </a:prstGeom>
          <a:solidFill>
            <a:srgbClr val="05091C"/>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799" y="4407407"/>
            <a:ext cx="1929384" cy="256032"/>
          </a:xfrm>
          <a:prstGeom prst="rect">
            <a:avLst/>
          </a:prstGeom>
          <a:noFill/>
        </p:spPr>
        <p:txBody>
          <a:bodyPr wrap="square" anchor="t" lIns="0" rIns="0" tIns="0" bIns="0">
            <a:spAutoFit/>
          </a:bodyPr>
          <a:lstStyle/>
          <a:p>
            <a:pPr algn="ctr"/>
            <a:r>
              <a:rPr sz="1300" b="1">
                <a:solidFill>
                  <a:srgbClr val="FFFFFF"/>
                </a:solidFill>
                <a:latin typeface="IBM Plex Sans"/>
              </a:rPr>
              <a:t>products</a:t>
            </a:r>
          </a:p>
        </p:txBody>
      </p:sp>
      <p:sp>
        <p:nvSpPr>
          <p:cNvPr id="24" name="TextBox 23"/>
          <p:cNvSpPr txBox="1"/>
          <p:nvPr/>
        </p:nvSpPr>
        <p:spPr>
          <a:xfrm>
            <a:off x="658368" y="5669280"/>
            <a:ext cx="10863072" cy="502920"/>
          </a:xfrm>
          <a:prstGeom prst="rect">
            <a:avLst/>
          </a:prstGeom>
          <a:noFill/>
        </p:spPr>
        <p:txBody>
          <a:bodyPr wrap="square" anchor="t" lIns="0" rIns="0" tIns="0" bIns="0">
            <a:spAutoFit/>
          </a:bodyPr>
          <a:lstStyle/>
          <a:p>
            <a:pPr algn="ctr"/>
            <a:r>
              <a:rPr sz="2100" b="1">
                <a:solidFill>
                  <a:srgbClr val="4BA3C3"/>
                </a:solidFill>
                <a:latin typeface="IBM Plex Sans"/>
              </a:rPr>
              <a:t>Writing code by hand was not job security.  It was a ball and chain.</a:t>
            </a:r>
          </a:p>
        </p:txBody>
      </p:sp>
      <p:sp>
        <p:nvSpPr>
          <p:cNvPr id="25" name="TextBox 24"/>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5BFD2"/>
                </a:solidFill>
                <a:latin typeface="IBM Plex Sans"/>
              </a:rPr>
              <a:t>AMD on Wheels NZ  ·  together we advance</a:t>
            </a:r>
          </a:p>
        </p:txBody>
      </p:sp>
      <p:sp>
        <p:nvSpPr>
          <p:cNvPr id="26" name="TextBox 25"/>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5BFD2"/>
                </a:solidFill>
                <a:latin typeface="IBM Plex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4BA3C3"/>
                </a:solidFill>
                <a:latin typeface="IBM Plex Sans"/>
              </a:rPr>
              <a:t>THE NEW SKILL</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100" b="1">
                <a:solidFill>
                  <a:srgbClr val="FFFFFF"/>
                </a:solidFill>
                <a:latin typeface="IBM Plex Sans"/>
              </a:rPr>
              <a:t>The scarce skill moves upward</a:t>
            </a:r>
          </a:p>
        </p:txBody>
      </p:sp>
      <p:sp>
        <p:nvSpPr>
          <p:cNvPr id="6" name="Rounded Rectangle 5"/>
          <p:cNvSpPr/>
          <p:nvPr/>
        </p:nvSpPr>
        <p:spPr>
          <a:xfrm>
            <a:off x="658368" y="1627632"/>
            <a:ext cx="4434840" cy="3520440"/>
          </a:xfrm>
          <a:prstGeom prst="roundRect">
            <a:avLst>
              <a:gd name="adj" fmla="val 4000"/>
            </a:avLst>
          </a:prstGeom>
          <a:solidFill>
            <a:srgbClr val="162243"/>
          </a:solidFill>
          <a:ln w="19050">
            <a:solidFill>
              <a:srgbClr val="B5B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1874519"/>
            <a:ext cx="3886200" cy="347472"/>
          </a:xfrm>
          <a:prstGeom prst="rect">
            <a:avLst/>
          </a:prstGeom>
          <a:noFill/>
        </p:spPr>
        <p:txBody>
          <a:bodyPr wrap="square" anchor="t" lIns="0" rIns="0" tIns="0" bIns="0">
            <a:spAutoFit/>
          </a:bodyPr>
          <a:lstStyle/>
          <a:p>
            <a:pPr algn="ctr"/>
            <a:r>
              <a:rPr sz="1600" b="1">
                <a:solidFill>
                  <a:srgbClr val="B5BFD2"/>
                </a:solidFill>
                <a:latin typeface="IBM Plex Sans"/>
              </a:rPr>
              <a:t>LESS TIME ON</a:t>
            </a:r>
          </a:p>
        </p:txBody>
      </p:sp>
      <p:sp>
        <p:nvSpPr>
          <p:cNvPr id="8" name="TextBox 7"/>
          <p:cNvSpPr txBox="1"/>
          <p:nvPr/>
        </p:nvSpPr>
        <p:spPr>
          <a:xfrm>
            <a:off x="1115568" y="2514600"/>
            <a:ext cx="3520440" cy="310896"/>
          </a:xfrm>
          <a:prstGeom prst="rect">
            <a:avLst/>
          </a:prstGeom>
          <a:noFill/>
        </p:spPr>
        <p:txBody>
          <a:bodyPr wrap="square" anchor="t" lIns="0" rIns="0" tIns="0" bIns="0">
            <a:spAutoFit/>
          </a:bodyPr>
          <a:lstStyle/>
          <a:p>
            <a:pPr algn="ctr"/>
            <a:r>
              <a:rPr sz="1700" b="0">
                <a:solidFill>
                  <a:srgbClr val="B5BFD2"/>
                </a:solidFill>
                <a:latin typeface="IBM Plex Sans"/>
              </a:rPr>
              <a:t>syntax</a:t>
            </a:r>
          </a:p>
        </p:txBody>
      </p:sp>
      <p:sp>
        <p:nvSpPr>
          <p:cNvPr id="9" name="TextBox 8"/>
          <p:cNvSpPr txBox="1"/>
          <p:nvPr/>
        </p:nvSpPr>
        <p:spPr>
          <a:xfrm>
            <a:off x="1115568" y="3081528"/>
            <a:ext cx="3520440" cy="310896"/>
          </a:xfrm>
          <a:prstGeom prst="rect">
            <a:avLst/>
          </a:prstGeom>
          <a:noFill/>
        </p:spPr>
        <p:txBody>
          <a:bodyPr wrap="square" anchor="t" lIns="0" rIns="0" tIns="0" bIns="0">
            <a:spAutoFit/>
          </a:bodyPr>
          <a:lstStyle/>
          <a:p>
            <a:pPr algn="ctr"/>
            <a:r>
              <a:rPr sz="1700" b="0">
                <a:solidFill>
                  <a:srgbClr val="B5BFD2"/>
                </a:solidFill>
                <a:latin typeface="IBM Plex Sans"/>
              </a:rPr>
              <a:t>boilerplate</a:t>
            </a:r>
          </a:p>
        </p:txBody>
      </p:sp>
      <p:sp>
        <p:nvSpPr>
          <p:cNvPr id="10" name="TextBox 9"/>
          <p:cNvSpPr txBox="1"/>
          <p:nvPr/>
        </p:nvSpPr>
        <p:spPr>
          <a:xfrm>
            <a:off x="1115568" y="3648456"/>
            <a:ext cx="3520440" cy="310896"/>
          </a:xfrm>
          <a:prstGeom prst="rect">
            <a:avLst/>
          </a:prstGeom>
          <a:noFill/>
        </p:spPr>
        <p:txBody>
          <a:bodyPr wrap="square" anchor="t" lIns="0" rIns="0" tIns="0" bIns="0">
            <a:spAutoFit/>
          </a:bodyPr>
          <a:lstStyle/>
          <a:p>
            <a:pPr algn="ctr"/>
            <a:r>
              <a:rPr sz="1700" b="0">
                <a:solidFill>
                  <a:srgbClr val="B5BFD2"/>
                </a:solidFill>
                <a:latin typeface="IBM Plex Sans"/>
              </a:rPr>
              <a:t>language traps</a:t>
            </a:r>
          </a:p>
        </p:txBody>
      </p:sp>
      <p:sp>
        <p:nvSpPr>
          <p:cNvPr id="11" name="TextBox 10"/>
          <p:cNvSpPr txBox="1"/>
          <p:nvPr/>
        </p:nvSpPr>
        <p:spPr>
          <a:xfrm>
            <a:off x="1115568" y="4215383"/>
            <a:ext cx="3520440" cy="310896"/>
          </a:xfrm>
          <a:prstGeom prst="rect">
            <a:avLst/>
          </a:prstGeom>
          <a:noFill/>
        </p:spPr>
        <p:txBody>
          <a:bodyPr wrap="square" anchor="t" lIns="0" rIns="0" tIns="0" bIns="0">
            <a:spAutoFit/>
          </a:bodyPr>
          <a:lstStyle/>
          <a:p>
            <a:pPr algn="ctr"/>
            <a:r>
              <a:rPr sz="1700" b="0">
                <a:solidFill>
                  <a:srgbClr val="B5BFD2"/>
                </a:solidFill>
                <a:latin typeface="IBM Plex Sans"/>
              </a:rPr>
              <a:t>typing every line</a:t>
            </a:r>
          </a:p>
        </p:txBody>
      </p:sp>
      <p:cxnSp>
        <p:nvCxnSpPr>
          <p:cNvPr id="12" name="Connector 11"/>
          <p:cNvCxnSpPr/>
          <p:nvPr/>
        </p:nvCxnSpPr>
        <p:spPr>
          <a:xfrm>
            <a:off x="5093208" y="3401568"/>
            <a:ext cx="713232" cy="0"/>
          </a:xfrm>
          <a:prstGeom prst="line">
            <a:avLst/>
          </a:prstGeom>
          <a:ln w="25400">
            <a:solidFill>
              <a:srgbClr val="4BA3C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230368" y="2788920"/>
            <a:ext cx="457200" cy="1005840"/>
          </a:xfrm>
          <a:prstGeom prst="rect">
            <a:avLst/>
          </a:prstGeom>
          <a:noFill/>
        </p:spPr>
        <p:txBody>
          <a:bodyPr wrap="square" anchor="ctr" lIns="0" rIns="0" tIns="0" bIns="0">
            <a:spAutoFit/>
          </a:bodyPr>
          <a:lstStyle/>
          <a:p>
            <a:pPr algn="ctr"/>
            <a:r>
              <a:rPr sz="3000" b="1">
                <a:solidFill>
                  <a:srgbClr val="4BA3C3"/>
                </a:solidFill>
                <a:latin typeface="IBM Plex Sans"/>
              </a:rPr>
              <a:t>→</a:t>
            </a:r>
          </a:p>
        </p:txBody>
      </p:sp>
      <p:sp>
        <p:nvSpPr>
          <p:cNvPr id="14" name="Rounded Rectangle 13"/>
          <p:cNvSpPr/>
          <p:nvPr/>
        </p:nvSpPr>
        <p:spPr>
          <a:xfrm>
            <a:off x="5806440" y="1627632"/>
            <a:ext cx="5715000" cy="3520440"/>
          </a:xfrm>
          <a:prstGeom prst="roundRect">
            <a:avLst>
              <a:gd name="adj" fmla="val 4000"/>
            </a:avLst>
          </a:prstGeom>
          <a:solidFill>
            <a:srgbClr val="162243"/>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80760" y="1874519"/>
            <a:ext cx="5166360" cy="347472"/>
          </a:xfrm>
          <a:prstGeom prst="rect">
            <a:avLst/>
          </a:prstGeom>
          <a:noFill/>
        </p:spPr>
        <p:txBody>
          <a:bodyPr wrap="square" anchor="t" lIns="0" rIns="0" tIns="0" bIns="0">
            <a:spAutoFit/>
          </a:bodyPr>
          <a:lstStyle/>
          <a:p>
            <a:pPr algn="ctr"/>
            <a:r>
              <a:rPr sz="1600" b="1">
                <a:solidFill>
                  <a:srgbClr val="4BA3C3"/>
                </a:solidFill>
                <a:latin typeface="IBM Plex Sans"/>
              </a:rPr>
              <a:t>MORE TIME ON</a:t>
            </a:r>
          </a:p>
        </p:txBody>
      </p:sp>
      <p:sp>
        <p:nvSpPr>
          <p:cNvPr id="16" name="Rounded Rectangle 15"/>
          <p:cNvSpPr/>
          <p:nvPr/>
        </p:nvSpPr>
        <p:spPr>
          <a:xfrm>
            <a:off x="6839712" y="2450592"/>
            <a:ext cx="3657600" cy="438912"/>
          </a:xfrm>
          <a:prstGeom prst="roundRect">
            <a:avLst>
              <a:gd name="adj" fmla="val 4000"/>
            </a:avLst>
          </a:prstGeom>
          <a:solidFill>
            <a:srgbClr val="320835"/>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22592" y="2542032"/>
            <a:ext cx="3291840" cy="256032"/>
          </a:xfrm>
          <a:prstGeom prst="rect">
            <a:avLst/>
          </a:prstGeom>
          <a:noFill/>
        </p:spPr>
        <p:txBody>
          <a:bodyPr wrap="square" anchor="t" lIns="0" rIns="0" tIns="0" bIns="0">
            <a:spAutoFit/>
          </a:bodyPr>
          <a:lstStyle/>
          <a:p>
            <a:pPr algn="ctr"/>
            <a:r>
              <a:rPr sz="1400" b="1">
                <a:solidFill>
                  <a:srgbClr val="FFFFFF"/>
                </a:solidFill>
                <a:latin typeface="IBM Plex Sans"/>
              </a:rPr>
              <a:t>INTENT</a:t>
            </a:r>
          </a:p>
        </p:txBody>
      </p:sp>
      <p:sp>
        <p:nvSpPr>
          <p:cNvPr id="18" name="Rounded Rectangle 17"/>
          <p:cNvSpPr/>
          <p:nvPr/>
        </p:nvSpPr>
        <p:spPr>
          <a:xfrm>
            <a:off x="6839712" y="3044952"/>
            <a:ext cx="3657600" cy="438912"/>
          </a:xfrm>
          <a:prstGeom prst="roundRect">
            <a:avLst>
              <a:gd name="adj" fmla="val 4000"/>
            </a:avLst>
          </a:prstGeom>
          <a:solidFill>
            <a:srgbClr val="320835"/>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2592" y="3136392"/>
            <a:ext cx="3291840" cy="256032"/>
          </a:xfrm>
          <a:prstGeom prst="rect">
            <a:avLst/>
          </a:prstGeom>
          <a:noFill/>
        </p:spPr>
        <p:txBody>
          <a:bodyPr wrap="square" anchor="t" lIns="0" rIns="0" tIns="0" bIns="0">
            <a:spAutoFit/>
          </a:bodyPr>
          <a:lstStyle/>
          <a:p>
            <a:pPr algn="ctr"/>
            <a:r>
              <a:rPr sz="1400" b="1">
                <a:solidFill>
                  <a:srgbClr val="FFFFFF"/>
                </a:solidFill>
                <a:latin typeface="IBM Plex Sans"/>
              </a:rPr>
              <a:t>ARCHITECTURE</a:t>
            </a:r>
          </a:p>
        </p:txBody>
      </p:sp>
      <p:sp>
        <p:nvSpPr>
          <p:cNvPr id="20" name="Rounded Rectangle 19"/>
          <p:cNvSpPr/>
          <p:nvPr/>
        </p:nvSpPr>
        <p:spPr>
          <a:xfrm>
            <a:off x="6839712" y="3639312"/>
            <a:ext cx="3657600" cy="438912"/>
          </a:xfrm>
          <a:prstGeom prst="roundRect">
            <a:avLst>
              <a:gd name="adj" fmla="val 4000"/>
            </a:avLst>
          </a:prstGeom>
          <a:solidFill>
            <a:srgbClr val="320835"/>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3730752"/>
            <a:ext cx="3291840" cy="256032"/>
          </a:xfrm>
          <a:prstGeom prst="rect">
            <a:avLst/>
          </a:prstGeom>
          <a:noFill/>
        </p:spPr>
        <p:txBody>
          <a:bodyPr wrap="square" anchor="t" lIns="0" rIns="0" tIns="0" bIns="0">
            <a:spAutoFit/>
          </a:bodyPr>
          <a:lstStyle/>
          <a:p>
            <a:pPr algn="ctr"/>
            <a:r>
              <a:rPr sz="1400" b="1">
                <a:solidFill>
                  <a:srgbClr val="FFFFFF"/>
                </a:solidFill>
                <a:latin typeface="IBM Plex Sans"/>
              </a:rPr>
              <a:t>EVIDENCE</a:t>
            </a:r>
          </a:p>
        </p:txBody>
      </p:sp>
      <p:sp>
        <p:nvSpPr>
          <p:cNvPr id="22" name="Rounded Rectangle 21"/>
          <p:cNvSpPr/>
          <p:nvPr/>
        </p:nvSpPr>
        <p:spPr>
          <a:xfrm>
            <a:off x="6839712" y="4233672"/>
            <a:ext cx="3657600" cy="438912"/>
          </a:xfrm>
          <a:prstGeom prst="roundRect">
            <a:avLst>
              <a:gd name="adj" fmla="val 4000"/>
            </a:avLst>
          </a:prstGeom>
          <a:solidFill>
            <a:srgbClr val="320835"/>
          </a:solidFill>
          <a:ln w="19050">
            <a:solidFill>
              <a:srgbClr val="4BA3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22592" y="4325112"/>
            <a:ext cx="3291840" cy="256032"/>
          </a:xfrm>
          <a:prstGeom prst="rect">
            <a:avLst/>
          </a:prstGeom>
          <a:noFill/>
        </p:spPr>
        <p:txBody>
          <a:bodyPr wrap="square" anchor="t" lIns="0" rIns="0" tIns="0" bIns="0">
            <a:spAutoFit/>
          </a:bodyPr>
          <a:lstStyle/>
          <a:p>
            <a:pPr algn="ctr"/>
            <a:r>
              <a:rPr sz="1400" b="1">
                <a:solidFill>
                  <a:srgbClr val="FFFFFF"/>
                </a:solidFill>
                <a:latin typeface="IBM Plex Sans"/>
              </a:rPr>
              <a:t>JUDGMENT</a:t>
            </a:r>
          </a:p>
        </p:txBody>
      </p:sp>
      <p:sp>
        <p:nvSpPr>
          <p:cNvPr id="24" name="TextBox 23"/>
          <p:cNvSpPr txBox="1"/>
          <p:nvPr/>
        </p:nvSpPr>
        <p:spPr>
          <a:xfrm>
            <a:off x="685800" y="5394960"/>
            <a:ext cx="10835640" cy="384048"/>
          </a:xfrm>
          <a:prstGeom prst="rect">
            <a:avLst/>
          </a:prstGeom>
          <a:noFill/>
        </p:spPr>
        <p:txBody>
          <a:bodyPr wrap="square" anchor="t" lIns="0" rIns="0" tIns="0" bIns="0">
            <a:spAutoFit/>
          </a:bodyPr>
          <a:lstStyle/>
          <a:p>
            <a:pPr algn="ctr"/>
            <a:r>
              <a:rPr sz="2000" b="1">
                <a:solidFill>
                  <a:srgbClr val="4BA3C3"/>
                </a:solidFill>
                <a:latin typeface="IBM Plex Sans"/>
              </a:rPr>
              <a:t>AMD ROSS  +  KRIA K26 SOM</a:t>
            </a:r>
          </a:p>
        </p:txBody>
      </p:sp>
      <p:sp>
        <p:nvSpPr>
          <p:cNvPr id="25" name="TextBox 24"/>
          <p:cNvSpPr txBox="1"/>
          <p:nvPr/>
        </p:nvSpPr>
        <p:spPr>
          <a:xfrm>
            <a:off x="685800" y="5806440"/>
            <a:ext cx="10835640" cy="502920"/>
          </a:xfrm>
          <a:prstGeom prst="rect">
            <a:avLst/>
          </a:prstGeom>
          <a:noFill/>
        </p:spPr>
        <p:txBody>
          <a:bodyPr wrap="square" anchor="t" lIns="0" rIns="0" tIns="0" bIns="0">
            <a:spAutoFit/>
          </a:bodyPr>
          <a:lstStyle/>
          <a:p>
            <a:pPr algn="ctr"/>
            <a:r>
              <a:rPr sz="2500" b="1">
                <a:solidFill>
                  <a:srgbClr val="FFFFFF"/>
                </a:solidFill>
                <a:latin typeface="IBM Plex Sans"/>
              </a:rPr>
              <a:t>More ambitious systems.  Faster.</a:t>
            </a:r>
          </a:p>
        </p:txBody>
      </p:sp>
      <p:sp>
        <p:nvSpPr>
          <p:cNvPr id="26" name="TextBox 25"/>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5BFD2"/>
                </a:solidFill>
                <a:latin typeface="IBM Plex Sans"/>
              </a:rPr>
              <a:t>AMD on Wheels NZ  ·  together we advance</a:t>
            </a:r>
          </a:p>
        </p:txBody>
      </p:sp>
      <p:sp>
        <p:nvSpPr>
          <p:cNvPr id="27" name="TextBox 26"/>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5BFD2"/>
                </a:solidFill>
                <a:latin typeface="IBM Plex Sans"/>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